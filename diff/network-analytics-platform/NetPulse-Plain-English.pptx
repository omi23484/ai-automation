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range-hi</c:v>
                </c:pt>
              </c:strCache>
            </c:strRef>
          </c:tx>
          <c:spPr>
            <a:solidFill>
              <a:srgbClr val="BFE0E4"/>
            </a:solidFill>
            <a:ln w="25400" cap="flat">
              <a:solidFill>
                <a:srgbClr val="BFE0E4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E0E4"/>
              </a:solidFill>
              <a:ln w="9525" cap="flat">
                <a:solidFill>
                  <a:srgbClr val="BFE0E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</c:v>
                </c:pt>
                <c:pt idx="1">
                  <c:v>0.362</c:v>
                </c:pt>
                <c:pt idx="2">
                  <c:v>0.42400000000000004</c:v>
                </c:pt>
                <c:pt idx="3">
                  <c:v>0.486</c:v>
                </c:pt>
                <c:pt idx="4">
                  <c:v>0.548</c:v>
                </c:pt>
                <c:pt idx="5">
                  <c:v>0.6100000000000001</c:v>
                </c:pt>
                <c:pt idx="6">
                  <c:v>0.6720000000000002</c:v>
                </c:pt>
                <c:pt idx="7">
                  <c:v>0.734</c:v>
                </c:pt>
                <c:pt idx="8">
                  <c:v>0.7959999999999999</c:v>
                </c:pt>
                <c:pt idx="9">
                  <c:v>0.858</c:v>
                </c:pt>
                <c:pt idx="10">
                  <c:v>0.92</c:v>
                </c:pt>
                <c:pt idx="11">
                  <c:v>0.9820000000000001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range-lo</c:v>
                </c:pt>
              </c:strCache>
            </c:strRef>
          </c:tx>
          <c:spPr>
            <a:solidFill>
              <a:srgbClr val="BFE0E4"/>
            </a:solidFill>
            <a:ln w="25400" cap="flat">
              <a:solidFill>
                <a:srgbClr val="BFE0E4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E0E4"/>
              </a:solidFill>
              <a:ln w="9525" cap="flat">
                <a:solidFill>
                  <a:srgbClr val="BFE0E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</c:v>
                </c:pt>
                <c:pt idx="1">
                  <c:v>0.33799999999999997</c:v>
                </c:pt>
                <c:pt idx="2">
                  <c:v>0.376</c:v>
                </c:pt>
                <c:pt idx="3">
                  <c:v>0.41400000000000003</c:v>
                </c:pt>
                <c:pt idx="4">
                  <c:v>0.452</c:v>
                </c:pt>
                <c:pt idx="5">
                  <c:v>0.49000000000000005</c:v>
                </c:pt>
                <c:pt idx="6">
                  <c:v>0.528</c:v>
                </c:pt>
                <c:pt idx="7">
                  <c:v>0.5660000000000001</c:v>
                </c:pt>
                <c:pt idx="8">
                  <c:v>0.604</c:v>
                </c:pt>
                <c:pt idx="9">
                  <c:v>0.642</c:v>
                </c:pt>
                <c:pt idx="10">
                  <c:v>0.68</c:v>
                </c:pt>
                <c:pt idx="11">
                  <c:v>0.7180000000000001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busy level</c:v>
                </c:pt>
              </c:strCache>
            </c:strRef>
          </c:tx>
          <c:spPr>
            <a:solidFill>
              <a:srgbClr val="0E7C86"/>
            </a:solidFill>
            <a:ln w="25400" cap="flat">
              <a:solidFill>
                <a:srgbClr val="0E7C86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</c:v>
                </c:pt>
                <c:pt idx="1">
                  <c:v>0.35</c:v>
                </c:pt>
                <c:pt idx="2">
                  <c:v>0.4</c:v>
                </c:pt>
                <c:pt idx="3">
                  <c:v>0.45</c:v>
                </c:pt>
                <c:pt idx="4">
                  <c:v>0.5</c:v>
                </c:pt>
                <c:pt idx="5">
                  <c:v>0.55</c:v>
                </c:pt>
                <c:pt idx="6">
                  <c:v>0.6000000000000001</c:v>
                </c:pt>
                <c:pt idx="7">
                  <c:v>0.65</c:v>
                </c:pt>
                <c:pt idx="8">
                  <c:v>0.7</c:v>
                </c:pt>
                <c:pt idx="9">
                  <c:v>0.75</c:v>
                </c:pt>
                <c:pt idx="10">
                  <c:v>0.8</c:v>
                </c:pt>
                <c:pt idx="11">
                  <c:v>0.8500000000000001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 line</c:v>
                </c:pt>
              </c:strCache>
            </c:strRef>
          </c:tx>
          <c:spPr>
            <a:solidFill>
              <a:srgbClr val="D14343"/>
            </a:solidFill>
            <a:ln w="25400" cap="flat">
              <a:solidFill>
                <a:srgbClr val="D14343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14343"/>
              </a:solidFill>
              <a:ln w="9525" cap="flat">
                <a:solidFill>
                  <a:srgbClr val="D143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0.75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  <c:pt idx="10">
                  <c:v>0.75</c:v>
                </c:pt>
                <c:pt idx="11">
                  <c:v>0.75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busy level</c:v>
                </c:pt>
              </c:strCache>
            </c:strRef>
          </c:tx>
          <c:spPr>
            <a:solidFill>
              <a:srgbClr val="0E7C86"/>
            </a:solidFill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0.23349089976514034</c:v>
                </c:pt>
                <c:pt idx="1">
                  <c:v>0.22296653313956077</c:v>
                </c:pt>
                <c:pt idx="2">
                  <c:v>0.21480779729564864</c:v>
                </c:pt>
                <c:pt idx="3">
                  <c:v>0.22956378893911397</c:v>
                </c:pt>
                <c:pt idx="4">
                  <c:v>0.21522800316224022</c:v>
                </c:pt>
                <c:pt idx="5">
                  <c:v>0.19310881697146445</c:v>
                </c:pt>
                <c:pt idx="6">
                  <c:v>0.19060663855297427</c:v>
                </c:pt>
                <c:pt idx="7">
                  <c:v>0.20328913790962344</c:v>
                </c:pt>
                <c:pt idx="8">
                  <c:v>0.92</c:v>
                </c:pt>
                <c:pt idx="9">
                  <c:v>0.23261891614501407</c:v>
                </c:pt>
                <c:pt idx="10">
                  <c:v>0.2048278778660797</c:v>
                </c:pt>
                <c:pt idx="11">
                  <c:v>0.21482423627687186</c:v>
                </c:pt>
                <c:pt idx="12">
                  <c:v>0.22941795720625371</c:v>
                </c:pt>
                <c:pt idx="13">
                  <c:v>0.22806958826245605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344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4023360" cy="4023360"/>
          </a:xfrm>
          <a:prstGeom prst="ellipse">
            <a:avLst/>
          </a:prstGeom>
          <a:solidFill>
            <a:srgbClr val="12405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600200"/>
            <a:ext cx="329184" cy="329184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network capacity,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plain English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114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tool that watches how full your network links are — and tells you, in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words, which ones need attention and when.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 in this deck — promise.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BIG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fuel gauge for every network link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between your sites and systems can only carry so much traffic. NetPulse reads how full each one gets, and lights up early — long before it runs out of room.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3566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plenty of room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E4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getting busy, plan ahead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act now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4023360" cy="2743200"/>
          </a:xfrm>
          <a:prstGeom prst="roundRect">
            <a:avLst>
              <a:gd name="adj" fmla="val 3667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full is this link?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0" y="32461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DDE8EF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3246120"/>
            <a:ext cx="2139696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0" y="3099816"/>
            <a:ext cx="0" cy="749808"/>
          </a:xfrm>
          <a:prstGeom prst="line">
            <a:avLst/>
          </a:prstGeom>
          <a:noFill/>
          <a:ln w="25400">
            <a:solidFill>
              <a:srgbClr val="D1434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69264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full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— but we’re watching the climb.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"BUSY" MEANS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rush hour, not 3 a.m.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is quiet at night and busy during the day. What matters is how full it gets when it’s genuinely busy — so that’s what we measure. And we ignore one freak spike, the same way you’d ignore a single odd traffic jam when judging a road.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4114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this the </a:t>
            </a:r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level</a:t>
            </a:r>
            <a:pPr indent="0" marL="0">
              <a:buNone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honest “how full at rush hour” number.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0"/>
            <a:ext cx="3931920" cy="3108960"/>
          </a:xfrm>
          <a:prstGeom prst="roundRect">
            <a:avLst>
              <a:gd name="adj" fmla="val 3235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42976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8A9AA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a.m.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92640" y="2834640"/>
            <a:ext cx="1005840" cy="192024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link, two times of day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run a link near full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important link comfortably below full — roughly two-thirds.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about 1.5× the busiest load you expect, so there’s always spare room.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link crosses ~75% full, that’s the signal to add capacity — not wait for it to break.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4480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habit that prevents outages: add road before the traffic jam, not after.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023360" cy="4206240"/>
          </a:xfrm>
          <a:prstGeom prst="roundRect">
            <a:avLst>
              <a:gd name="adj" fmla="val 2500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173736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EAF2F7"/>
          </a:solidFill>
          <a:ln w="12700">
            <a:solidFill>
              <a:srgbClr val="DB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049524"/>
            <a:ext cx="2011680" cy="2436876"/>
          </a:xfrm>
          <a:prstGeom prst="roundRect">
            <a:avLst>
              <a:gd name="adj" fmla="val 4545"/>
            </a:avLst>
          </a:prstGeom>
          <a:solidFill>
            <a:srgbClr val="0E7C86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2674620"/>
            <a:ext cx="2286000" cy="0"/>
          </a:xfrm>
          <a:prstGeom prst="line">
            <a:avLst/>
          </a:prstGeom>
          <a:noFill/>
          <a:ln w="31750">
            <a:solidFill>
              <a:srgbClr val="D1434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829800" y="25283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— act here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29800" y="29032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today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weather forecast for your links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looks at how each link has been trending and estimates when it will run low on room. Crucially, it gives a sensible range — “in about 6 to 10 weeks” — not a fake-exact day, because real traffic is bumpy.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5760720" cy="1371600"/>
          </a:xfrm>
          <a:prstGeom prst="roundRect">
            <a:avLst>
              <a:gd name="adj" fmla="val 7333"/>
            </a:avLst>
          </a:prstGeom>
          <a:solidFill>
            <a:srgbClr val="E7F1F7"/>
          </a:solidFill>
          <a:ln w="12700">
            <a:solidFill>
              <a:srgbClr val="1E9D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24528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this pace, this link reaches the act line in about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weeks</a:t>
            </a:r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plan the upgrade now.”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920240"/>
            <a:ext cx="4663440" cy="3291840"/>
          </a:xfrm>
          <a:prstGeom prst="roundRect">
            <a:avLst>
              <a:gd name="adj" fmla="val 3056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busy level, climbing toward the act line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86600" y="24688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178040" y="4828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the range · red dashes = the act line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link gets a traffic light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35661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9968" y="2377440"/>
            <a:ext cx="822960" cy="82296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4251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room. Nothing to 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2011680"/>
            <a:ext cx="35661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4728" y="2377440"/>
            <a:ext cx="822960" cy="822960"/>
          </a:xfrm>
          <a:prstGeom prst="ellipse">
            <a:avLst/>
          </a:prstGeom>
          <a:solidFill>
            <a:srgbClr val="E4890C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4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53128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27448" y="4251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busy or growing. Plan ahead.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47888" y="2011680"/>
            <a:ext cx="35661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19488" y="2377440"/>
            <a:ext cx="822960" cy="822960"/>
          </a:xfrm>
          <a:prstGeom prst="ellipse">
            <a:avLst/>
          </a:prstGeom>
          <a:solidFill>
            <a:srgbClr val="D14343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now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22208" y="4251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busy or about to fill — upgrade / investigate.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light comes with a plain reason and a suggested next step — no decoding required.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LOOKS 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flag the unusual — and say 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link behaves oddly — busy at a time it’s normally quiet, or traffic lopsided in one direction — NetPulse points it out and explains, in plain words, what looked wrong and why it counted as unusual.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5852160" cy="1417320"/>
          </a:xfrm>
          <a:prstGeom prst="roundRect">
            <a:avLst>
              <a:gd name="adj" fmla="val 7097"/>
            </a:avLst>
          </a:prstGeom>
          <a:solidFill>
            <a:srgbClr val="E7F1F7"/>
          </a:solidFill>
          <a:ln w="12700">
            <a:solidFill>
              <a:srgbClr val="E48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24528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link hit 92% on Sunday night — but it’s usually near 20% then. That’s well outside its normal pattern, so we flagged it.”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4572000" cy="2926080"/>
          </a:xfrm>
          <a:prstGeom prst="roundRect">
            <a:avLst>
              <a:gd name="adj" fmla="val 3438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Sunday-night spike vs the usual quiet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178040" y="256032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9235440" y="2615184"/>
            <a:ext cx="274320" cy="274320"/>
          </a:xfrm>
          <a:prstGeom prst="ellipse">
            <a:avLst/>
          </a:prstGeom>
          <a:solidFill>
            <a:srgbClr val="D14343"/>
          </a:solidFill>
          <a:ln/>
        </p:spPr>
      </p:sp>
      <p:sp>
        <p:nvSpPr>
          <p:cNvPr id="11" name="Text 8"/>
          <p:cNvSpPr/>
          <p:nvPr/>
        </p:nvSpPr>
        <p:spPr>
          <a:xfrm>
            <a:off x="9235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26948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for this time → flagged, with the reason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LINKS BUSY?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weekly rhythm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colour grid shows each link’s week: rows are days, columns are hours. Darker means busier. In one glance you can see the daily peaks — and whether the busy window is creeping wider.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= quiet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teal / red = busy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also shows its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919472" cy="3182112"/>
          </a:xfrm>
          <a:prstGeom prst="roundRect">
            <a:avLst>
              <a:gd name="adj" fmla="val 3161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8288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52360" y="182880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" name="Shape 7"/>
          <p:cNvSpPr/>
          <p:nvPr/>
        </p:nvSpPr>
        <p:spPr>
          <a:xfrm>
            <a:off x="7763256" y="182880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4152" y="182880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11" name="Shape 9"/>
          <p:cNvSpPr/>
          <p:nvPr/>
        </p:nvSpPr>
        <p:spPr>
          <a:xfrm>
            <a:off x="8385048" y="1828800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5944" y="1828800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1828800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7736" y="1828800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15" name="Shape 13"/>
          <p:cNvSpPr/>
          <p:nvPr/>
        </p:nvSpPr>
        <p:spPr>
          <a:xfrm>
            <a:off x="9628632" y="1828800"/>
            <a:ext cx="265176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39528" y="1828800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50424" y="1828800"/>
            <a:ext cx="265176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182880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182880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1396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52360" y="213969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22" name="Shape 20"/>
          <p:cNvSpPr/>
          <p:nvPr/>
        </p:nvSpPr>
        <p:spPr>
          <a:xfrm>
            <a:off x="7763256" y="213969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23" name="Shape 21"/>
          <p:cNvSpPr/>
          <p:nvPr/>
        </p:nvSpPr>
        <p:spPr>
          <a:xfrm>
            <a:off x="8074152" y="213969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5048" y="2139696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25" name="Shape 23"/>
          <p:cNvSpPr/>
          <p:nvPr/>
        </p:nvSpPr>
        <p:spPr>
          <a:xfrm>
            <a:off x="8695944" y="2139696"/>
            <a:ext cx="265176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2139696"/>
            <a:ext cx="265176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7736" y="2139696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28" name="Shape 26"/>
          <p:cNvSpPr/>
          <p:nvPr/>
        </p:nvSpPr>
        <p:spPr>
          <a:xfrm>
            <a:off x="9628632" y="2139696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39528" y="2139696"/>
            <a:ext cx="265176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50424" y="2139696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61320" y="213969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72216" y="213969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4505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52360" y="2450592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35" name="Shape 33"/>
          <p:cNvSpPr/>
          <p:nvPr/>
        </p:nvSpPr>
        <p:spPr>
          <a:xfrm>
            <a:off x="7763256" y="2450592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36" name="Shape 34"/>
          <p:cNvSpPr/>
          <p:nvPr/>
        </p:nvSpPr>
        <p:spPr>
          <a:xfrm>
            <a:off x="8074152" y="2450592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37" name="Shape 35"/>
          <p:cNvSpPr/>
          <p:nvPr/>
        </p:nvSpPr>
        <p:spPr>
          <a:xfrm>
            <a:off x="8385048" y="2450592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95944" y="2450592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39" name="Shape 37"/>
          <p:cNvSpPr/>
          <p:nvPr/>
        </p:nvSpPr>
        <p:spPr>
          <a:xfrm>
            <a:off x="9006840" y="2450592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40" name="Shape 38"/>
          <p:cNvSpPr/>
          <p:nvPr/>
        </p:nvSpPr>
        <p:spPr>
          <a:xfrm>
            <a:off x="9317736" y="2450592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2450592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42" name="Shape 40"/>
          <p:cNvSpPr/>
          <p:nvPr/>
        </p:nvSpPr>
        <p:spPr>
          <a:xfrm>
            <a:off x="9939528" y="2450592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50424" y="2450592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61320" y="2450592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72216" y="2450592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27614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52360" y="2761488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48" name="Shape 46"/>
          <p:cNvSpPr/>
          <p:nvPr/>
        </p:nvSpPr>
        <p:spPr>
          <a:xfrm>
            <a:off x="7763256" y="2761488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49" name="Shape 47"/>
          <p:cNvSpPr/>
          <p:nvPr/>
        </p:nvSpPr>
        <p:spPr>
          <a:xfrm>
            <a:off x="8074152" y="2761488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50" name="Shape 48"/>
          <p:cNvSpPr/>
          <p:nvPr/>
        </p:nvSpPr>
        <p:spPr>
          <a:xfrm>
            <a:off x="8385048" y="2761488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51" name="Shape 49"/>
          <p:cNvSpPr/>
          <p:nvPr/>
        </p:nvSpPr>
        <p:spPr>
          <a:xfrm>
            <a:off x="8695944" y="2761488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52" name="Shape 50"/>
          <p:cNvSpPr/>
          <p:nvPr/>
        </p:nvSpPr>
        <p:spPr>
          <a:xfrm>
            <a:off x="9006840" y="2761488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53" name="Shape 51"/>
          <p:cNvSpPr/>
          <p:nvPr/>
        </p:nvSpPr>
        <p:spPr>
          <a:xfrm>
            <a:off x="9317736" y="2761488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54" name="Shape 52"/>
          <p:cNvSpPr/>
          <p:nvPr/>
        </p:nvSpPr>
        <p:spPr>
          <a:xfrm>
            <a:off x="9628632" y="2761488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55" name="Shape 53"/>
          <p:cNvSpPr/>
          <p:nvPr/>
        </p:nvSpPr>
        <p:spPr>
          <a:xfrm>
            <a:off x="9939528" y="2761488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50424" y="2761488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561320" y="2761488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72216" y="2761488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59" name="Text 57"/>
          <p:cNvSpPr/>
          <p:nvPr/>
        </p:nvSpPr>
        <p:spPr>
          <a:xfrm>
            <a:off x="6766560" y="30723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452360" y="3072384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61" name="Shape 59"/>
          <p:cNvSpPr/>
          <p:nvPr/>
        </p:nvSpPr>
        <p:spPr>
          <a:xfrm>
            <a:off x="7763256" y="3072384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62" name="Shape 60"/>
          <p:cNvSpPr/>
          <p:nvPr/>
        </p:nvSpPr>
        <p:spPr>
          <a:xfrm>
            <a:off x="8074152" y="3072384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63" name="Shape 61"/>
          <p:cNvSpPr/>
          <p:nvPr/>
        </p:nvSpPr>
        <p:spPr>
          <a:xfrm>
            <a:off x="8385048" y="3072384"/>
            <a:ext cx="265176" cy="265176"/>
          </a:xfrm>
          <a:prstGeom prst="rect">
            <a:avLst/>
          </a:prstGeom>
          <a:solidFill>
            <a:srgbClr val="E4890C"/>
          </a:solidFill>
          <a:ln/>
        </p:spPr>
      </p:sp>
      <p:sp>
        <p:nvSpPr>
          <p:cNvPr id="64" name="Shape 62"/>
          <p:cNvSpPr/>
          <p:nvPr/>
        </p:nvSpPr>
        <p:spPr>
          <a:xfrm>
            <a:off x="8695944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65" name="Shape 63"/>
          <p:cNvSpPr/>
          <p:nvPr/>
        </p:nvSpPr>
        <p:spPr>
          <a:xfrm>
            <a:off x="9006840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66" name="Shape 64"/>
          <p:cNvSpPr/>
          <p:nvPr/>
        </p:nvSpPr>
        <p:spPr>
          <a:xfrm>
            <a:off x="9317736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68" name="Shape 66"/>
          <p:cNvSpPr/>
          <p:nvPr/>
        </p:nvSpPr>
        <p:spPr>
          <a:xfrm>
            <a:off x="9939528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250424" y="3072384"/>
            <a:ext cx="265176" cy="265176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70" name="Shape 68"/>
          <p:cNvSpPr/>
          <p:nvPr/>
        </p:nvSpPr>
        <p:spPr>
          <a:xfrm>
            <a:off x="10561320" y="3072384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872216" y="3072384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2" name="Text 70"/>
          <p:cNvSpPr/>
          <p:nvPr/>
        </p:nvSpPr>
        <p:spPr>
          <a:xfrm>
            <a:off x="6766560" y="3383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52360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4" name="Shape 72"/>
          <p:cNvSpPr/>
          <p:nvPr/>
        </p:nvSpPr>
        <p:spPr>
          <a:xfrm>
            <a:off x="7763256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5" name="Shape 73"/>
          <p:cNvSpPr/>
          <p:nvPr/>
        </p:nvSpPr>
        <p:spPr>
          <a:xfrm>
            <a:off x="8074152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6" name="Shape 74"/>
          <p:cNvSpPr/>
          <p:nvPr/>
        </p:nvSpPr>
        <p:spPr>
          <a:xfrm>
            <a:off x="8385048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7" name="Shape 75"/>
          <p:cNvSpPr/>
          <p:nvPr/>
        </p:nvSpPr>
        <p:spPr>
          <a:xfrm>
            <a:off x="8695944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8" name="Shape 76"/>
          <p:cNvSpPr/>
          <p:nvPr/>
        </p:nvSpPr>
        <p:spPr>
          <a:xfrm>
            <a:off x="9006840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79" name="Shape 77"/>
          <p:cNvSpPr/>
          <p:nvPr/>
        </p:nvSpPr>
        <p:spPr>
          <a:xfrm>
            <a:off x="9317736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0" name="Shape 78"/>
          <p:cNvSpPr/>
          <p:nvPr/>
        </p:nvSpPr>
        <p:spPr>
          <a:xfrm>
            <a:off x="9628632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1" name="Shape 79"/>
          <p:cNvSpPr/>
          <p:nvPr/>
        </p:nvSpPr>
        <p:spPr>
          <a:xfrm>
            <a:off x="9939528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2" name="Shape 80"/>
          <p:cNvSpPr/>
          <p:nvPr/>
        </p:nvSpPr>
        <p:spPr>
          <a:xfrm>
            <a:off x="10250424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561320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872216" y="3383280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5" name="Text 83"/>
          <p:cNvSpPr/>
          <p:nvPr/>
        </p:nvSpPr>
        <p:spPr>
          <a:xfrm>
            <a:off x="6766560" y="36941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452360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7" name="Shape 85"/>
          <p:cNvSpPr/>
          <p:nvPr/>
        </p:nvSpPr>
        <p:spPr>
          <a:xfrm>
            <a:off x="7763256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8" name="Shape 86"/>
          <p:cNvSpPr/>
          <p:nvPr/>
        </p:nvSpPr>
        <p:spPr>
          <a:xfrm>
            <a:off x="8074152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89" name="Shape 87"/>
          <p:cNvSpPr/>
          <p:nvPr/>
        </p:nvSpPr>
        <p:spPr>
          <a:xfrm>
            <a:off x="8385048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0" name="Shape 88"/>
          <p:cNvSpPr/>
          <p:nvPr/>
        </p:nvSpPr>
        <p:spPr>
          <a:xfrm>
            <a:off x="8695944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1" name="Shape 89"/>
          <p:cNvSpPr/>
          <p:nvPr/>
        </p:nvSpPr>
        <p:spPr>
          <a:xfrm>
            <a:off x="9006840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2" name="Shape 90"/>
          <p:cNvSpPr/>
          <p:nvPr/>
        </p:nvSpPr>
        <p:spPr>
          <a:xfrm>
            <a:off x="9317736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3" name="Shape 91"/>
          <p:cNvSpPr/>
          <p:nvPr/>
        </p:nvSpPr>
        <p:spPr>
          <a:xfrm>
            <a:off x="9628632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4" name="Shape 92"/>
          <p:cNvSpPr/>
          <p:nvPr/>
        </p:nvSpPr>
        <p:spPr>
          <a:xfrm>
            <a:off x="9939528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5" name="Shape 93"/>
          <p:cNvSpPr/>
          <p:nvPr/>
        </p:nvSpPr>
        <p:spPr>
          <a:xfrm>
            <a:off x="10250424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61320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72216" y="3694176"/>
            <a:ext cx="265176" cy="265176"/>
          </a:xfrm>
          <a:prstGeom prst="rect">
            <a:avLst/>
          </a:prstGeom>
          <a:solidFill>
            <a:srgbClr val="BFE0E4"/>
          </a:solidFill>
          <a:ln/>
        </p:spPr>
      </p:sp>
      <p:sp>
        <p:nvSpPr>
          <p:cNvPr id="98" name="Text 96"/>
          <p:cNvSpPr/>
          <p:nvPr/>
        </p:nvSpPr>
        <p:spPr>
          <a:xfrm>
            <a:off x="7315200" y="4142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= busier · working hours light up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AUDIT-READY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you can hand over as-is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19659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button, get a clean spreadsheet or PDF that shows exactly which links are running hot, when each is likely to need more capacity, and the evidence behind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645920"/>
            <a:ext cx="4572000" cy="4480560"/>
          </a:xfrm>
          <a:prstGeom prst="roundRect">
            <a:avLst>
              <a:gd name="adj" fmla="val 2245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60920" y="1892808"/>
            <a:ext cx="457200" cy="45720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links need attention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95528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with a plain verdict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2944368"/>
            <a:ext cx="457200" cy="45720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each fills up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0" y="3218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sensible date range, not a guess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3995928"/>
            <a:ext cx="457200" cy="45720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to add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95528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capacity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5047488"/>
            <a:ext cx="457200" cy="45720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0" y="5321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busy moment, timestamped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THE RULES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promises the rules ask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881360" cy="1097280"/>
          </a:xfrm>
          <a:prstGeom prst="roundRect">
            <a:avLst>
              <a:gd name="adj" fmla="val 9167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21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828800" y="21671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with spare room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2148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links well above the busy peak, and never run near full.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291840"/>
            <a:ext cx="10881360" cy="1097280"/>
          </a:xfrm>
          <a:prstGeom prst="roundRect">
            <a:avLst>
              <a:gd name="adj" fmla="val 9167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47872"/>
            <a:ext cx="658368" cy="658368"/>
          </a:xfrm>
          <a:prstGeom prst="ellipse">
            <a:avLst/>
          </a:prstGeom>
          <a:solidFill>
            <a:srgbClr val="E4890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828800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and act early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links crossing the safe line and add capacity before they break.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4617720"/>
            <a:ext cx="10881360" cy="1097280"/>
          </a:xfrm>
          <a:prstGeom prst="roundRect">
            <a:avLst>
              <a:gd name="adj" fmla="val 9167"/>
            </a:avLst>
          </a:prstGeom>
          <a:solidFill>
            <a:srgbClr val="F2F8FB"/>
          </a:solidFill>
          <a:ln w="12700">
            <a:solidFill>
              <a:srgbClr val="DB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873752"/>
            <a:ext cx="658368" cy="65836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73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828800" y="4818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records &amp; report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4800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history and produce clean, audit-ready reports on demand.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is strongest on the planning and reporting — promises one and three, and the early-warning half of two.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STRAIGHT WITH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— and what it isn’t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5394960" cy="3566160"/>
          </a:xfrm>
          <a:prstGeom prst="roundRect">
            <a:avLst>
              <a:gd name="adj" fmla="val 2821"/>
            </a:avLst>
          </a:prstGeom>
          <a:solidFill>
            <a:srgbClr val="EAF6EF"/>
          </a:solidFill>
          <a:ln w="12700">
            <a:solidFill>
              <a:srgbClr val="2FA36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&amp; reporting brain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forecasts, capacity advice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&amp; records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verdicts and reasons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94960" cy="3566160"/>
          </a:xfrm>
          <a:prstGeom prst="roundRect">
            <a:avLst>
              <a:gd name="adj" fmla="val 2821"/>
            </a:avLst>
          </a:prstGeom>
          <a:solidFill>
            <a:srgbClr val="FBEEEE"/>
          </a:solidFill>
          <a:ln w="12700">
            <a:solidFill>
              <a:srgbClr val="D14343"/>
            </a:solidFill>
            <a:prstDash val="solid"/>
          </a:ln>
          <a:effectLst>
            <a:outerShdw sx="100000" sy="100000" kx="0" ky="0" algn="bl" rotWithShape="0" blurRad="114300" dist="38100" dir="5400000">
              <a:srgbClr val="8FA6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240280"/>
            <a:ext cx="640080" cy="640080"/>
          </a:xfrm>
          <a:prstGeom prst="ellipse">
            <a:avLst/>
          </a:prstGeom>
          <a:solidFill>
            <a:srgbClr val="D14343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14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ISN’T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always-on, second-by-second live monitor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your alerting system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fixes outages itself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analyst that reads the meters and writes the plan — working alongside your live monitoring, not instead of it.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108960"/>
            <a:ext cx="5852160" cy="5852160"/>
          </a:xfrm>
          <a:prstGeom prst="ellipse">
            <a:avLst/>
          </a:prstGeom>
          <a:solidFill>
            <a:srgbClr val="163449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2103120"/>
            <a:ext cx="4937760" cy="4937760"/>
          </a:xfrm>
          <a:prstGeom prst="ellipse">
            <a:avLst/>
          </a:prstGeom>
          <a:solidFill>
            <a:srgbClr val="1240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black box.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9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it tells you, it can show you why.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fuel gauge, a forecast, and a clear report — for every link you run.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pPr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plain English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2026-07-23T17:36:37Z</dcterms:created>
  <dcterms:modified xsi:type="dcterms:W3CDTF">2026-07-23T17:36:37Z</dcterms:modified>
</cp:coreProperties>
</file>