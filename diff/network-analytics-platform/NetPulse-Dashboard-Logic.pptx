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daily p95</c:v>
                </c:pt>
              </c:strCache>
            </c:strRef>
          </c:tx>
          <c:spPr>
            <a:solidFill>
              <a:srgbClr val="38BDF8"/>
            </a:solidFill>
            <a:ln w="25400" cap="flat">
              <a:solidFill>
                <a:srgbClr val="38BDF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38BDF8"/>
              </a:solidFill>
              <a:ln w="9525" cap="flat">
                <a:solidFill>
                  <a:srgbClr val="38BDF8"/>
                </a:solidFill>
                <a:prstDash val="solid"/>
                <a:round/>
              </a:ln>
              <a:effectLst/>
            </c:spPr>
          </c:marker>
          <c:cat>
            <c:multiLvlStrRef>
              <c:f>Sheet1!$A$2:$A$41</c:f>
              <c:multiLvlStrCache>
                <c:ptCount val="4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lvl>
              </c:multiLvlStrCache>
            </c:multiLvlStrRef>
          </c:cat>
          <c:val>
            <c:numRef>
              <c:f>Sheet1!$B$2:$B$41</c:f>
              <c:numCache>
                <c:formatCode>General</c:formatCode>
                <c:ptCount val="40"/>
                <c:pt idx="0">
                  <c:v>0.42</c:v>
                </c:pt>
                <c:pt idx="1">
                  <c:v>0.4755832405226234</c:v>
                </c:pt>
                <c:pt idx="2">
                  <c:v>0.4192229448986584</c:v>
                </c:pt>
                <c:pt idx="3">
                  <c:v>0.3917092658836134</c:v>
                </c:pt>
                <c:pt idx="4">
                  <c:v>0.46870566755693044</c:v>
                </c:pt>
                <c:pt idx="5">
                  <c:v>0.4899243556311745</c:v>
                </c:pt>
                <c:pt idx="6">
                  <c:v>0.42100626562032284</c:v>
                </c:pt>
                <c:pt idx="7">
                  <c:v>0.4310931443881483</c:v>
                </c:pt>
                <c:pt idx="8">
                  <c:v>0.5109580907428247</c:v>
                </c:pt>
                <c:pt idx="9">
                  <c:v>0.4938370286565307</c:v>
                </c:pt>
                <c:pt idx="10">
                  <c:v>0.43193012540602216</c:v>
                </c:pt>
                <c:pt idx="11">
                  <c:v>0.47855004870929</c:v>
                </c:pt>
                <c:pt idx="12">
                  <c:v>0.5419896450071334</c:v>
                </c:pt>
                <c:pt idx="13">
                  <c:v>0.4925681702287962</c:v>
                </c:pt>
                <c:pt idx="14">
                  <c:v>0.45541007771280684</c:v>
                </c:pt>
                <c:pt idx="15">
                  <c:v>0.5279529177011084</c:v>
                </c:pt>
                <c:pt idx="16">
                  <c:v>0.5599636530825363</c:v>
                </c:pt>
                <c:pt idx="17">
                  <c:v>0.49271813300128514</c:v>
                </c:pt>
                <c:pt idx="18">
                  <c:v>0.4915819616084202</c:v>
                </c:pt>
                <c:pt idx="19">
                  <c:v>0.572666394478311</c:v>
                </c:pt>
                <c:pt idx="20">
                  <c:v>0.5664541343060012</c:v>
                </c:pt>
                <c:pt idx="21">
                  <c:v>0.5005166664083238</c:v>
                </c:pt>
                <c:pt idx="22">
                  <c:v>0.5372664199249871</c:v>
                </c:pt>
                <c:pt idx="23">
                  <c:v>0.6072800149395317</c:v>
                </c:pt>
                <c:pt idx="24">
                  <c:v>0.5660346628674933</c:v>
                </c:pt>
                <c:pt idx="25">
                  <c:v>0.5201956748440203</c:v>
                </c:pt>
                <c:pt idx="26">
                  <c:v>0.5867993633094108</c:v>
                </c:pt>
                <c:pt idx="27">
                  <c:v>0.8490214481473503</c:v>
                </c:pt>
                <c:pt idx="28">
                  <c:v>0.5650837272754117</c:v>
                </c:pt>
                <c:pt idx="29">
                  <c:v>0.5528838229933254</c:v>
                </c:pt>
                <c:pt idx="30">
                  <c:v>0.6335114587921687</c:v>
                </c:pt>
                <c:pt idx="31">
                  <c:v>0.6384806430843101</c:v>
                </c:pt>
                <c:pt idx="32">
                  <c:v>0.5701186371426487</c:v>
                </c:pt>
                <c:pt idx="33">
                  <c:v>0.5963117229512158</c:v>
                </c:pt>
                <c:pt idx="34">
                  <c:v>0.6714701930343351</c:v>
                </c:pt>
                <c:pt idx="35">
                  <c:v>0.6394557310175446</c:v>
                </c:pt>
                <c:pt idx="36">
                  <c:v>0.5860931692033648</c:v>
                </c:pt>
                <c:pt idx="37">
                  <c:v>0.6454047097342249</c:v>
                </c:pt>
                <c:pt idx="38">
                  <c:v>0.6970294745887767</c:v>
                </c:pt>
                <c:pt idx="39">
                  <c:v>0.6379609345478428</c:v>
                </c:pt>
              </c:numCache>
            </c:numRef>
          </c:val>
          <c:smooth val="0"/>
        </c:ser>
        <c:ser>
          <c:idx val="1"/>
          <c:order val="1"/>
          <c:tx>
            <c:strRef>
              <c:f>Sheet1!$C$1</c:f>
              <c:strCache>
                <c:ptCount val="1"/>
                <c:pt idx="0">
                  <c:v>trend</c:v>
                </c:pt>
              </c:strCache>
            </c:strRef>
          </c:tx>
          <c:spPr>
            <a:solidFill>
              <a:srgbClr val="F472B6"/>
            </a:solidFill>
            <a:ln w="25400" cap="flat">
              <a:solidFill>
                <a:srgbClr val="F472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3"/>
            <c:spPr>
              <a:solidFill>
                <a:srgbClr val="F472B6"/>
              </a:solidFill>
              <a:ln w="9525" cap="flat">
                <a:solidFill>
                  <a:srgbClr val="F472B6"/>
                </a:solidFill>
                <a:prstDash val="solid"/>
                <a:round/>
              </a:ln>
              <a:effectLst/>
            </c:spPr>
          </c:marker>
          <c:cat>
            <c:multiLvlStrRef>
              <c:f>Sheet1!$A$2:$A$41</c:f>
              <c:multiLvlStrCache>
                <c:ptCount val="4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lvl>
              </c:multiLvlStrCache>
            </c:multiLvlStrRef>
          </c:cat>
          <c:val>
            <c:numRef>
              <c:f>Sheet1!$C$2:$C$41</c:f>
              <c:numCache>
                <c:formatCode>General</c:formatCode>
                <c:ptCount val="40"/>
                <c:pt idx="0">
                  <c:v>0.43</c:v>
                </c:pt>
                <c:pt idx="1">
                  <c:v>0.436</c:v>
                </c:pt>
                <c:pt idx="2">
                  <c:v>0.442</c:v>
                </c:pt>
                <c:pt idx="3">
                  <c:v>0.448</c:v>
                </c:pt>
                <c:pt idx="4">
                  <c:v>0.454</c:v>
                </c:pt>
                <c:pt idx="5">
                  <c:v>0.45999999999999996</c:v>
                </c:pt>
                <c:pt idx="6">
                  <c:v>0.46599999999999997</c:v>
                </c:pt>
                <c:pt idx="7">
                  <c:v>0.472</c:v>
                </c:pt>
                <c:pt idx="8">
                  <c:v>0.478</c:v>
                </c:pt>
                <c:pt idx="9">
                  <c:v>0.484</c:v>
                </c:pt>
                <c:pt idx="10">
                  <c:v>0.49</c:v>
                </c:pt>
                <c:pt idx="11">
                  <c:v>0.496</c:v>
                </c:pt>
                <c:pt idx="12">
                  <c:v>0.502</c:v>
                </c:pt>
                <c:pt idx="13">
                  <c:v>0.508</c:v>
                </c:pt>
                <c:pt idx="14">
                  <c:v>0.514</c:v>
                </c:pt>
                <c:pt idx="15">
                  <c:v>0.52</c:v>
                </c:pt>
                <c:pt idx="16">
                  <c:v>0.526</c:v>
                </c:pt>
                <c:pt idx="17">
                  <c:v>0.532</c:v>
                </c:pt>
                <c:pt idx="18">
                  <c:v>0.538</c:v>
                </c:pt>
                <c:pt idx="19">
                  <c:v>0.544</c:v>
                </c:pt>
                <c:pt idx="20">
                  <c:v>0.55</c:v>
                </c:pt>
                <c:pt idx="21">
                  <c:v>0.556</c:v>
                </c:pt>
                <c:pt idx="22">
                  <c:v>0.562</c:v>
                </c:pt>
                <c:pt idx="23">
                  <c:v>0.5680000000000001</c:v>
                </c:pt>
                <c:pt idx="24">
                  <c:v>0.5740000000000001</c:v>
                </c:pt>
                <c:pt idx="25">
                  <c:v>0.58</c:v>
                </c:pt>
                <c:pt idx="26">
                  <c:v>0.586</c:v>
                </c:pt>
                <c:pt idx="27">
                  <c:v>0.592</c:v>
                </c:pt>
                <c:pt idx="28">
                  <c:v>0.598</c:v>
                </c:pt>
                <c:pt idx="29">
                  <c:v>0.604</c:v>
                </c:pt>
                <c:pt idx="30">
                  <c:v>0.61</c:v>
                </c:pt>
                <c:pt idx="31">
                  <c:v>0.616</c:v>
                </c:pt>
                <c:pt idx="32">
                  <c:v>0.622</c:v>
                </c:pt>
                <c:pt idx="33">
                  <c:v>0.628</c:v>
                </c:pt>
                <c:pt idx="34">
                  <c:v>0.634</c:v>
                </c:pt>
                <c:pt idx="35">
                  <c:v>0.64</c:v>
                </c:pt>
                <c:pt idx="36">
                  <c:v>0.646</c:v>
                </c:pt>
                <c:pt idx="37">
                  <c:v>0.652</c:v>
                </c:pt>
                <c:pt idx="38">
                  <c:v>0.658</c:v>
                </c:pt>
                <c:pt idx="39">
                  <c:v>0.664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12700" cap="flat">
              <a:solidFill>
                <a:srgbClr val="2A35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A9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93A1B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8503920" y="-2011680"/>
            <a:ext cx="5943600" cy="5943600"/>
          </a:xfrm>
          <a:prstGeom prst="ellipse">
            <a:avLst/>
          </a:prstGeom>
          <a:solidFill>
            <a:srgbClr val="151C2C"/>
          </a:solidFill>
          <a:ln/>
        </p:spPr>
      </p:sp>
      <p:sp>
        <p:nvSpPr>
          <p:cNvPr id="3" name="Shape 1"/>
          <p:cNvSpPr/>
          <p:nvPr/>
        </p:nvSpPr>
        <p:spPr>
          <a:xfrm>
            <a:off x="9966960" y="3291840"/>
            <a:ext cx="4206240" cy="4206240"/>
          </a:xfrm>
          <a:prstGeom prst="ellipse">
            <a:avLst/>
          </a:prstGeom>
          <a:solidFill>
            <a:srgbClr val="1E2740"/>
          </a:solidFill>
          <a:ln/>
        </p:spPr>
      </p:sp>
      <p:sp>
        <p:nvSpPr>
          <p:cNvPr id="4" name="Shape 2"/>
          <p:cNvSpPr/>
          <p:nvPr/>
        </p:nvSpPr>
        <p:spPr>
          <a:xfrm>
            <a:off x="566928" y="1554480"/>
            <a:ext cx="310896" cy="310896"/>
          </a:xfrm>
          <a:prstGeom prst="ellipse">
            <a:avLst/>
          </a:prstGeom>
          <a:solidFill>
            <a:srgbClr val="38BDF8"/>
          </a:solidFill>
          <a:ln/>
        </p:spPr>
      </p:sp>
      <p:sp>
        <p:nvSpPr>
          <p:cNvPr id="5" name="Text 3"/>
          <p:cNvSpPr/>
          <p:nvPr/>
        </p:nvSpPr>
        <p:spPr>
          <a:xfrm>
            <a:off x="1024128" y="1517904"/>
            <a:ext cx="8229600" cy="365760"/>
          </a:xfrm>
          <a:prstGeom prst="rect">
            <a:avLst/>
          </a:prstGeom>
          <a:noFill/>
          <a:ln/>
        </p:spPr>
        <p:txBody>
          <a:bodyPr wrap="square" lIns="0" tIns="0" rIns="0" bIns="0" rtlCol="0" anchor="ctr"/>
          <a:lstStyle/>
          <a:p>
            <a:pPr indent="0" marL="0">
              <a:buNone/>
            </a:pPr>
            <a:r>
              <a:rPr lang="en-US" sz="1300" b="1" spc="200" kern="0" dirty="0">
                <a:solidFill>
                  <a:srgbClr val="38BDF8"/>
                </a:solidFill>
                <a:latin typeface="Calibri" pitchFamily="34" charset="0"/>
                <a:ea typeface="Calibri" pitchFamily="34" charset="-122"/>
                <a:cs typeface="Calibri" pitchFamily="34" charset="-120"/>
              </a:rPr>
              <a:t>NETPULSE ANALYTICS ENGINE</a:t>
            </a:r>
            <a:endParaRPr lang="en-US" sz="1300" dirty="0"/>
          </a:p>
        </p:txBody>
      </p:sp>
      <p:sp>
        <p:nvSpPr>
          <p:cNvPr id="6" name="Text 4"/>
          <p:cNvSpPr/>
          <p:nvPr/>
        </p:nvSpPr>
        <p:spPr>
          <a:xfrm>
            <a:off x="548640" y="2103120"/>
            <a:ext cx="10058400" cy="1005840"/>
          </a:xfrm>
          <a:prstGeom prst="rect">
            <a:avLst/>
          </a:prstGeom>
          <a:noFill/>
          <a:ln/>
        </p:spPr>
        <p:txBody>
          <a:bodyPr wrap="square" lIns="0" tIns="0" rIns="0" bIns="0" rtlCol="0" anchor="ctr"/>
          <a:lstStyle/>
          <a:p>
            <a:pPr indent="0" marL="0">
              <a:buNone/>
            </a:pPr>
            <a:r>
              <a:rPr lang="en-US" sz="4400" b="1" dirty="0">
                <a:solidFill>
                  <a:srgbClr val="E6EDF7"/>
                </a:solidFill>
                <a:latin typeface="Cambria" pitchFamily="34" charset="0"/>
                <a:ea typeface="Cambria" pitchFamily="34" charset="-122"/>
                <a:cs typeface="Cambria" pitchFamily="34" charset="-120"/>
              </a:rPr>
              <a:t>Dashboard Logic &amp; Formulas</a:t>
            </a:r>
            <a:endParaRPr lang="en-US" sz="4400" dirty="0"/>
          </a:p>
        </p:txBody>
      </p:sp>
      <p:sp>
        <p:nvSpPr>
          <p:cNvPr id="7" name="Text 5"/>
          <p:cNvSpPr/>
          <p:nvPr/>
        </p:nvSpPr>
        <p:spPr>
          <a:xfrm>
            <a:off x="566928" y="3246120"/>
            <a:ext cx="8595360" cy="914400"/>
          </a:xfrm>
          <a:prstGeom prst="rect">
            <a:avLst/>
          </a:prstGeom>
          <a:noFill/>
          <a:ln/>
        </p:spPr>
        <p:txBody>
          <a:bodyPr wrap="square" lIns="0" tIns="0" rIns="0" bIns="0" rtlCol="0" anchor="ctr"/>
          <a:lstStyle/>
          <a:p>
            <a:pPr indent="0" marL="0">
              <a:lnSpc>
                <a:spcPct val="112000"/>
              </a:lnSpc>
              <a:buNone/>
            </a:pPr>
            <a:r>
              <a:rPr lang="en-US" sz="1600" dirty="0">
                <a:solidFill>
                  <a:srgbClr val="93A1BC"/>
                </a:solidFill>
                <a:latin typeface="Calibri" pitchFamily="34" charset="0"/>
                <a:ea typeface="Calibri" pitchFamily="34" charset="-122"/>
                <a:cs typeface="Calibri" pitchFamily="34" charset="-120"/>
              </a:rPr>
              <a:t>Exactly how every graph, verdict, AI summary and risk score is computed —</a:t>
            </a:r>
            <a:endParaRPr lang="en-US" sz="1600" dirty="0"/>
          </a:p>
          <a:p>
            <a:pPr indent="0" marL="0">
              <a:lnSpc>
                <a:spcPct val="112000"/>
              </a:lnSpc>
              <a:buNone/>
            </a:pPr>
            <a:r>
              <a:rPr lang="en-US" sz="1600" dirty="0">
                <a:solidFill>
                  <a:srgbClr val="93A1BC"/>
                </a:solidFill>
                <a:latin typeface="Calibri" pitchFamily="34" charset="0"/>
                <a:ea typeface="Calibri" pitchFamily="34" charset="-122"/>
                <a:cs typeface="Calibri" pitchFamily="34" charset="-120"/>
              </a:rPr>
              <a:t>the real formulas behind the screen, straight from the engine.</a:t>
            </a:r>
            <a:endParaRPr lang="en-US" sz="1600" dirty="0"/>
          </a:p>
        </p:txBody>
      </p:sp>
      <p:sp>
        <p:nvSpPr>
          <p:cNvPr id="8" name="Shape 6"/>
          <p:cNvSpPr/>
          <p:nvPr/>
        </p:nvSpPr>
        <p:spPr>
          <a:xfrm>
            <a:off x="566928" y="4343400"/>
            <a:ext cx="1467612" cy="274320"/>
          </a:xfrm>
          <a:prstGeom prst="roundRect">
            <a:avLst>
              <a:gd name="adj" fmla="val 20000"/>
            </a:avLst>
          </a:prstGeom>
          <a:solidFill>
            <a:srgbClr val="1E2740"/>
          </a:solidFill>
          <a:ln w="12700">
            <a:solidFill>
              <a:srgbClr val="38BDF8"/>
            </a:solidFill>
            <a:prstDash val="solid"/>
          </a:ln>
        </p:spPr>
      </p:sp>
      <p:sp>
        <p:nvSpPr>
          <p:cNvPr id="9" name="Text 7"/>
          <p:cNvSpPr/>
          <p:nvPr/>
        </p:nvSpPr>
        <p:spPr>
          <a:xfrm>
            <a:off x="566928" y="4343400"/>
            <a:ext cx="1467612"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Utilization &amp; p95</a:t>
            </a:r>
            <a:endParaRPr lang="en-US" sz="1050" dirty="0"/>
          </a:p>
        </p:txBody>
      </p:sp>
      <p:sp>
        <p:nvSpPr>
          <p:cNvPr id="10" name="Shape 8"/>
          <p:cNvSpPr/>
          <p:nvPr/>
        </p:nvSpPr>
        <p:spPr>
          <a:xfrm>
            <a:off x="2199132" y="4343400"/>
            <a:ext cx="1156716" cy="274320"/>
          </a:xfrm>
          <a:prstGeom prst="roundRect">
            <a:avLst>
              <a:gd name="adj" fmla="val 20000"/>
            </a:avLst>
          </a:prstGeom>
          <a:solidFill>
            <a:srgbClr val="1E2740"/>
          </a:solidFill>
          <a:ln w="12700">
            <a:solidFill>
              <a:srgbClr val="38BDF8"/>
            </a:solidFill>
            <a:prstDash val="solid"/>
          </a:ln>
        </p:spPr>
      </p:sp>
      <p:sp>
        <p:nvSpPr>
          <p:cNvPr id="11" name="Text 9"/>
          <p:cNvSpPr/>
          <p:nvPr/>
        </p:nvSpPr>
        <p:spPr>
          <a:xfrm>
            <a:off x="2199132" y="4343400"/>
            <a:ext cx="1156716"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Time-in-state</a:t>
            </a:r>
            <a:endParaRPr lang="en-US" sz="1050" dirty="0"/>
          </a:p>
        </p:txBody>
      </p:sp>
      <p:sp>
        <p:nvSpPr>
          <p:cNvPr id="12" name="Shape 10"/>
          <p:cNvSpPr/>
          <p:nvPr/>
        </p:nvSpPr>
        <p:spPr>
          <a:xfrm>
            <a:off x="3520440" y="4343400"/>
            <a:ext cx="2244852" cy="274320"/>
          </a:xfrm>
          <a:prstGeom prst="roundRect">
            <a:avLst>
              <a:gd name="adj" fmla="val 20000"/>
            </a:avLst>
          </a:prstGeom>
          <a:solidFill>
            <a:srgbClr val="1E2740"/>
          </a:solidFill>
          <a:ln w="12700">
            <a:solidFill>
              <a:srgbClr val="38BDF8"/>
            </a:solidFill>
            <a:prstDash val="solid"/>
          </a:ln>
        </p:spPr>
      </p:sp>
      <p:sp>
        <p:nvSpPr>
          <p:cNvPr id="13" name="Text 11"/>
          <p:cNvSpPr/>
          <p:nvPr/>
        </p:nvSpPr>
        <p:spPr>
          <a:xfrm>
            <a:off x="3520440" y="4343400"/>
            <a:ext cx="2244852"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Robust forecast (Theil–Sen)</a:t>
            </a:r>
            <a:endParaRPr lang="en-US" sz="1050" dirty="0"/>
          </a:p>
        </p:txBody>
      </p:sp>
      <p:sp>
        <p:nvSpPr>
          <p:cNvPr id="14" name="Shape 12"/>
          <p:cNvSpPr/>
          <p:nvPr/>
        </p:nvSpPr>
        <p:spPr>
          <a:xfrm>
            <a:off x="5929884" y="4343400"/>
            <a:ext cx="923544" cy="274320"/>
          </a:xfrm>
          <a:prstGeom prst="roundRect">
            <a:avLst>
              <a:gd name="adj" fmla="val 20000"/>
            </a:avLst>
          </a:prstGeom>
          <a:solidFill>
            <a:srgbClr val="1E2740"/>
          </a:solidFill>
          <a:ln w="12700">
            <a:solidFill>
              <a:srgbClr val="38BDF8"/>
            </a:solidFill>
            <a:prstDash val="solid"/>
          </a:ln>
        </p:spPr>
      </p:sp>
      <p:sp>
        <p:nvSpPr>
          <p:cNvPr id="15" name="Text 13"/>
          <p:cNvSpPr/>
          <p:nvPr/>
        </p:nvSpPr>
        <p:spPr>
          <a:xfrm>
            <a:off x="5929884" y="4343400"/>
            <a:ext cx="923544"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Risk score</a:t>
            </a:r>
            <a:endParaRPr lang="en-US" sz="1050" dirty="0"/>
          </a:p>
        </p:txBody>
      </p:sp>
      <p:sp>
        <p:nvSpPr>
          <p:cNvPr id="16" name="Shape 14"/>
          <p:cNvSpPr/>
          <p:nvPr/>
        </p:nvSpPr>
        <p:spPr>
          <a:xfrm>
            <a:off x="566928" y="4754880"/>
            <a:ext cx="1467612" cy="274320"/>
          </a:xfrm>
          <a:prstGeom prst="roundRect">
            <a:avLst>
              <a:gd name="adj" fmla="val 20000"/>
            </a:avLst>
          </a:prstGeom>
          <a:solidFill>
            <a:srgbClr val="1E2740"/>
          </a:solidFill>
          <a:ln w="12700">
            <a:solidFill>
              <a:srgbClr val="818CF8"/>
            </a:solidFill>
            <a:prstDash val="solid"/>
          </a:ln>
        </p:spPr>
      </p:sp>
      <p:sp>
        <p:nvSpPr>
          <p:cNvPr id="17" name="Text 15"/>
          <p:cNvSpPr/>
          <p:nvPr/>
        </p:nvSpPr>
        <p:spPr>
          <a:xfrm>
            <a:off x="566928" y="4754880"/>
            <a:ext cx="1467612" cy="274320"/>
          </a:xfrm>
          <a:prstGeom prst="rect">
            <a:avLst/>
          </a:prstGeom>
          <a:noFill/>
          <a:ln/>
        </p:spPr>
        <p:txBody>
          <a:bodyPr wrap="square" lIns="0" tIns="0" rIns="0" bIns="0" rtlCol="0" anchor="ctr"/>
          <a:lstStyle/>
          <a:p>
            <a:pPr algn="ctr" indent="0" marL="0">
              <a:buNone/>
            </a:pPr>
            <a:r>
              <a:rPr lang="en-US" sz="1050" b="1" dirty="0">
                <a:solidFill>
                  <a:srgbClr val="818CF8"/>
                </a:solidFill>
                <a:latin typeface="Calibri" pitchFamily="34" charset="0"/>
                <a:ea typeface="Calibri" pitchFamily="34" charset="-122"/>
                <a:cs typeface="Calibri" pitchFamily="34" charset="-120"/>
              </a:rPr>
              <a:t>Anomaly detection</a:t>
            </a:r>
            <a:endParaRPr lang="en-US" sz="1050" dirty="0"/>
          </a:p>
        </p:txBody>
      </p:sp>
      <p:sp>
        <p:nvSpPr>
          <p:cNvPr id="18" name="Shape 16"/>
          <p:cNvSpPr/>
          <p:nvPr/>
        </p:nvSpPr>
        <p:spPr>
          <a:xfrm>
            <a:off x="2199132" y="4754880"/>
            <a:ext cx="1234440" cy="274320"/>
          </a:xfrm>
          <a:prstGeom prst="roundRect">
            <a:avLst>
              <a:gd name="adj" fmla="val 20000"/>
            </a:avLst>
          </a:prstGeom>
          <a:solidFill>
            <a:srgbClr val="1E2740"/>
          </a:solidFill>
          <a:ln w="12700">
            <a:solidFill>
              <a:srgbClr val="818CF8"/>
            </a:solidFill>
            <a:prstDash val="solid"/>
          </a:ln>
        </p:spPr>
      </p:sp>
      <p:sp>
        <p:nvSpPr>
          <p:cNvPr id="19" name="Text 17"/>
          <p:cNvSpPr/>
          <p:nvPr/>
        </p:nvSpPr>
        <p:spPr>
          <a:xfrm>
            <a:off x="2199132" y="4754880"/>
            <a:ext cx="1234440" cy="274320"/>
          </a:xfrm>
          <a:prstGeom prst="rect">
            <a:avLst/>
          </a:prstGeom>
          <a:noFill/>
          <a:ln/>
        </p:spPr>
        <p:txBody>
          <a:bodyPr wrap="square" lIns="0" tIns="0" rIns="0" bIns="0" rtlCol="0" anchor="ctr"/>
          <a:lstStyle/>
          <a:p>
            <a:pPr algn="ctr" indent="0" marL="0">
              <a:buNone/>
            </a:pPr>
            <a:r>
              <a:rPr lang="en-US" sz="1050" b="1" dirty="0">
                <a:solidFill>
                  <a:srgbClr val="818CF8"/>
                </a:solidFill>
                <a:latin typeface="Calibri" pitchFamily="34" charset="0"/>
                <a:ea typeface="Calibri" pitchFamily="34" charset="-122"/>
                <a:cs typeface="Calibri" pitchFamily="34" charset="-120"/>
              </a:rPr>
              <a:t>Verdict engine</a:t>
            </a:r>
            <a:endParaRPr lang="en-US" sz="1050" dirty="0"/>
          </a:p>
        </p:txBody>
      </p:sp>
      <p:sp>
        <p:nvSpPr>
          <p:cNvPr id="20" name="Shape 18"/>
          <p:cNvSpPr/>
          <p:nvPr/>
        </p:nvSpPr>
        <p:spPr>
          <a:xfrm>
            <a:off x="3598164" y="4754880"/>
            <a:ext cx="1078992" cy="274320"/>
          </a:xfrm>
          <a:prstGeom prst="roundRect">
            <a:avLst>
              <a:gd name="adj" fmla="val 20000"/>
            </a:avLst>
          </a:prstGeom>
          <a:solidFill>
            <a:srgbClr val="1E2740"/>
          </a:solidFill>
          <a:ln w="12700">
            <a:solidFill>
              <a:srgbClr val="818CF8"/>
            </a:solidFill>
            <a:prstDash val="solid"/>
          </a:ln>
        </p:spPr>
      </p:sp>
      <p:sp>
        <p:nvSpPr>
          <p:cNvPr id="21" name="Text 19"/>
          <p:cNvSpPr/>
          <p:nvPr/>
        </p:nvSpPr>
        <p:spPr>
          <a:xfrm>
            <a:off x="3598164" y="4754880"/>
            <a:ext cx="1078992" cy="274320"/>
          </a:xfrm>
          <a:prstGeom prst="rect">
            <a:avLst/>
          </a:prstGeom>
          <a:noFill/>
          <a:ln/>
        </p:spPr>
        <p:txBody>
          <a:bodyPr wrap="square" lIns="0" tIns="0" rIns="0" bIns="0" rtlCol="0" anchor="ctr"/>
          <a:lstStyle/>
          <a:p>
            <a:pPr algn="ctr" indent="0" marL="0">
              <a:buNone/>
            </a:pPr>
            <a:r>
              <a:rPr lang="en-US" sz="1050" b="1" dirty="0">
                <a:solidFill>
                  <a:srgbClr val="818CF8"/>
                </a:solidFill>
                <a:latin typeface="Calibri" pitchFamily="34" charset="0"/>
                <a:ea typeface="Calibri" pitchFamily="34" charset="-122"/>
                <a:cs typeface="Calibri" pitchFamily="34" charset="-120"/>
              </a:rPr>
              <a:t>AI summaries</a:t>
            </a:r>
            <a:endParaRPr lang="en-US" sz="1050" dirty="0"/>
          </a:p>
        </p:txBody>
      </p:sp>
      <p:sp>
        <p:nvSpPr>
          <p:cNvPr id="22" name="Shape 20"/>
          <p:cNvSpPr/>
          <p:nvPr/>
        </p:nvSpPr>
        <p:spPr>
          <a:xfrm>
            <a:off x="4841748" y="4754880"/>
            <a:ext cx="1389888" cy="274320"/>
          </a:xfrm>
          <a:prstGeom prst="roundRect">
            <a:avLst>
              <a:gd name="adj" fmla="val 20000"/>
            </a:avLst>
          </a:prstGeom>
          <a:solidFill>
            <a:srgbClr val="1E2740"/>
          </a:solidFill>
          <a:ln w="12700">
            <a:solidFill>
              <a:srgbClr val="818CF8"/>
            </a:solidFill>
            <a:prstDash val="solid"/>
          </a:ln>
        </p:spPr>
      </p:sp>
      <p:sp>
        <p:nvSpPr>
          <p:cNvPr id="23" name="Text 21"/>
          <p:cNvSpPr/>
          <p:nvPr/>
        </p:nvSpPr>
        <p:spPr>
          <a:xfrm>
            <a:off x="4841748" y="4754880"/>
            <a:ext cx="1389888" cy="274320"/>
          </a:xfrm>
          <a:prstGeom prst="rect">
            <a:avLst/>
          </a:prstGeom>
          <a:noFill/>
          <a:ln/>
        </p:spPr>
        <p:txBody>
          <a:bodyPr wrap="square" lIns="0" tIns="0" rIns="0" bIns="0" rtlCol="0" anchor="ctr"/>
          <a:lstStyle/>
          <a:p>
            <a:pPr algn="ctr" indent="0" marL="0">
              <a:buNone/>
            </a:pPr>
            <a:r>
              <a:rPr lang="en-US" sz="1050" b="1" dirty="0">
                <a:solidFill>
                  <a:srgbClr val="818CF8"/>
                </a:solidFill>
                <a:latin typeface="Calibri" pitchFamily="34" charset="0"/>
                <a:ea typeface="Calibri" pitchFamily="34" charset="-122"/>
                <a:cs typeface="Calibri" pitchFamily="34" charset="-120"/>
              </a:rPr>
              <a:t>Dashboard graphs</a:t>
            </a:r>
            <a:endParaRPr lang="en-US" sz="1050" dirty="0"/>
          </a:p>
        </p:txBody>
      </p:sp>
      <p:sp>
        <p:nvSpPr>
          <p:cNvPr id="24" name="Text 22"/>
          <p:cNvSpPr/>
          <p:nvPr/>
        </p:nvSpPr>
        <p:spPr>
          <a:xfrm>
            <a:off x="566928" y="5257800"/>
            <a:ext cx="10058400" cy="274320"/>
          </a:xfrm>
          <a:prstGeom prst="rect">
            <a:avLst/>
          </a:prstGeom>
          <a:noFill/>
          <a:ln/>
        </p:spPr>
        <p:txBody>
          <a:bodyPr wrap="square" lIns="0" tIns="0" rIns="0" bIns="0" rtlCol="0" anchor="ctr"/>
          <a:lstStyle/>
          <a:p>
            <a:pPr indent="0" marL="0">
              <a:buNone/>
            </a:pPr>
            <a:r>
              <a:rPr lang="en-US" sz="1100" dirty="0">
                <a:solidFill>
                  <a:srgbClr val="6B7A96"/>
                </a:solidFill>
                <a:latin typeface="Courier New" pitchFamily="34" charset="0"/>
                <a:ea typeface="Courier New" pitchFamily="34" charset="-122"/>
                <a:cs typeface="Courier New" pitchFamily="34" charset="-120"/>
              </a:rPr>
              <a:t>worse-of-TX/RX · daily p95 · min/max envelope · dow×hour baseline · business-hours aware</a:t>
            </a:r>
            <a:endParaRPr lang="en-US" sz="1100" dirty="0"/>
          </a:p>
        </p:txBody>
      </p:sp>
      <p:sp>
        <p:nvSpPr>
          <p:cNvPr id="25" name="Text 2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26" name="Text 2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HOW A NUMBER BECOMES A DECISION</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From raw poll to verdict — the data pipeline</a:t>
            </a:r>
            <a:endParaRPr lang="en-US" sz="2900" dirty="0"/>
          </a:p>
        </p:txBody>
      </p:sp>
      <p:sp>
        <p:nvSpPr>
          <p:cNvPr id="4" name="Shape 2"/>
          <p:cNvSpPr/>
          <p:nvPr/>
        </p:nvSpPr>
        <p:spPr>
          <a:xfrm>
            <a:off x="548640" y="1737360"/>
            <a:ext cx="2212848" cy="3200400"/>
          </a:xfrm>
          <a:prstGeom prst="roundRect">
            <a:avLst>
              <a:gd name="adj" fmla="val 3719"/>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49808" y="1956816"/>
            <a:ext cx="457200" cy="457200"/>
          </a:xfrm>
          <a:prstGeom prst="ellipse">
            <a:avLst/>
          </a:prstGeom>
          <a:solidFill>
            <a:srgbClr val="38BDF8"/>
          </a:solidFill>
          <a:ln/>
        </p:spPr>
      </p:sp>
      <p:sp>
        <p:nvSpPr>
          <p:cNvPr id="6" name="Text 4"/>
          <p:cNvSpPr/>
          <p:nvPr/>
        </p:nvSpPr>
        <p:spPr>
          <a:xfrm>
            <a:off x="749808" y="1956816"/>
            <a:ext cx="457200" cy="457200"/>
          </a:xfrm>
          <a:prstGeom prst="rect">
            <a:avLst/>
          </a:prstGeom>
          <a:noFill/>
          <a:ln/>
        </p:spPr>
        <p:txBody>
          <a:bodyPr wrap="square" lIns="0" tIns="0" rIns="0" bIns="0" rtlCol="0" anchor="ctr"/>
          <a:lstStyle/>
          <a:p>
            <a:pPr algn="ctr" indent="0" marL="0">
              <a:buNone/>
            </a:pPr>
            <a:r>
              <a:rPr lang="en-US" sz="1100" b="1" dirty="0">
                <a:solidFill>
                  <a:srgbClr val="0A0E17"/>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98448" y="2011680"/>
            <a:ext cx="1389888" cy="365760"/>
          </a:xfrm>
          <a:prstGeom prst="rect">
            <a:avLst/>
          </a:prstGeom>
          <a:noFill/>
          <a:ln/>
        </p:spPr>
        <p:txBody>
          <a:bodyPr wrap="square" lIns="0" tIns="0" rIns="0" bIns="0" rtlCol="0" anchor="ctr"/>
          <a:lstStyle/>
          <a:p>
            <a:pPr indent="0" marL="0">
              <a:buNone/>
            </a:pPr>
            <a:r>
              <a:rPr lang="en-US" sz="1600" b="1" dirty="0">
                <a:solidFill>
                  <a:srgbClr val="E6EDF7"/>
                </a:solidFill>
                <a:latin typeface="Cambria" pitchFamily="34" charset="0"/>
                <a:ea typeface="Cambria" pitchFamily="34" charset="-122"/>
                <a:cs typeface="Cambria" pitchFamily="34" charset="-120"/>
              </a:rPr>
              <a:t>Ingest</a:t>
            </a:r>
            <a:endParaRPr lang="en-US" sz="1600" dirty="0"/>
          </a:p>
        </p:txBody>
      </p:sp>
      <p:sp>
        <p:nvSpPr>
          <p:cNvPr id="8" name="Text 6"/>
          <p:cNvSpPr/>
          <p:nvPr/>
        </p:nvSpPr>
        <p:spPr>
          <a:xfrm>
            <a:off x="749808" y="2651760"/>
            <a:ext cx="1828800" cy="2103120"/>
          </a:xfrm>
          <a:prstGeom prst="rect">
            <a:avLst/>
          </a:prstGeom>
          <a:noFill/>
          <a:ln/>
        </p:spPr>
        <p:txBody>
          <a:bodyPr wrap="square" lIns="0" tIns="0" rIns="0" bIns="0" rtlCol="0" anchor="t"/>
          <a:lstStyle/>
          <a:p>
            <a:pPr indent="0" marL="0">
              <a:lnSpc>
                <a:spcPct val="108000"/>
              </a:lnSpc>
              <a:buNone/>
            </a:pPr>
            <a:r>
              <a:rPr lang="en-US" sz="1200" dirty="0">
                <a:solidFill>
                  <a:srgbClr val="93A1BC"/>
                </a:solidFill>
                <a:latin typeface="Calibri" pitchFamily="34" charset="0"/>
                <a:ea typeface="Calibri" pitchFamily="34" charset="-122"/>
                <a:cs typeface="Calibri" pitchFamily="34" charset="-120"/>
              </a:rPr>
              <a:t>Parse XLSX/CSV offline; understand headers by meaning; normalize units to bps</a:t>
            </a:r>
            <a:endParaRPr lang="en-US" sz="1200" dirty="0"/>
          </a:p>
        </p:txBody>
      </p:sp>
      <p:sp>
        <p:nvSpPr>
          <p:cNvPr id="9" name="Text 7"/>
          <p:cNvSpPr/>
          <p:nvPr/>
        </p:nvSpPr>
        <p:spPr>
          <a:xfrm>
            <a:off x="2743200" y="3063240"/>
            <a:ext cx="182880" cy="365760"/>
          </a:xfrm>
          <a:prstGeom prst="rect">
            <a:avLst/>
          </a:prstGeom>
          <a:noFill/>
          <a:ln/>
        </p:spPr>
        <p:txBody>
          <a:bodyPr wrap="square" lIns="0" tIns="0" rIns="0" bIns="0" rtlCol="0" anchor="ctr"/>
          <a:lstStyle/>
          <a:p>
            <a:pPr algn="ctr" indent="0" marL="0">
              <a:buNone/>
            </a:pPr>
            <a:r>
              <a:rPr lang="en-US" sz="1800" b="1" dirty="0">
                <a:solidFill>
                  <a:srgbClr val="6B7A96"/>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880360" y="1737360"/>
            <a:ext cx="2212848" cy="3200400"/>
          </a:xfrm>
          <a:prstGeom prst="roundRect">
            <a:avLst>
              <a:gd name="adj" fmla="val 3719"/>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1" name="Shape 9"/>
          <p:cNvSpPr/>
          <p:nvPr/>
        </p:nvSpPr>
        <p:spPr>
          <a:xfrm>
            <a:off x="3081528" y="1956816"/>
            <a:ext cx="457200" cy="457200"/>
          </a:xfrm>
          <a:prstGeom prst="ellipse">
            <a:avLst/>
          </a:prstGeom>
          <a:solidFill>
            <a:srgbClr val="818CF8"/>
          </a:solidFill>
          <a:ln/>
        </p:spPr>
      </p:sp>
      <p:sp>
        <p:nvSpPr>
          <p:cNvPr id="12" name="Text 10"/>
          <p:cNvSpPr/>
          <p:nvPr/>
        </p:nvSpPr>
        <p:spPr>
          <a:xfrm>
            <a:off x="3081528" y="1956816"/>
            <a:ext cx="457200" cy="457200"/>
          </a:xfrm>
          <a:prstGeom prst="rect">
            <a:avLst/>
          </a:prstGeom>
          <a:noFill/>
          <a:ln/>
        </p:spPr>
        <p:txBody>
          <a:bodyPr wrap="square" lIns="0" tIns="0" rIns="0" bIns="0" rtlCol="0" anchor="ctr"/>
          <a:lstStyle/>
          <a:p>
            <a:pPr algn="ctr" indent="0" marL="0">
              <a:buNone/>
            </a:pPr>
            <a:r>
              <a:rPr lang="en-US" sz="1100" b="1" dirty="0">
                <a:solidFill>
                  <a:srgbClr val="0A0E17"/>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3630168" y="2011680"/>
            <a:ext cx="1389888" cy="365760"/>
          </a:xfrm>
          <a:prstGeom prst="rect">
            <a:avLst/>
          </a:prstGeom>
          <a:noFill/>
          <a:ln/>
        </p:spPr>
        <p:txBody>
          <a:bodyPr wrap="square" lIns="0" tIns="0" rIns="0" bIns="0" rtlCol="0" anchor="ctr"/>
          <a:lstStyle/>
          <a:p>
            <a:pPr indent="0" marL="0">
              <a:buNone/>
            </a:pPr>
            <a:r>
              <a:rPr lang="en-US" sz="1600" b="1" dirty="0">
                <a:solidFill>
                  <a:srgbClr val="E6EDF7"/>
                </a:solidFill>
                <a:latin typeface="Cambria" pitchFamily="34" charset="0"/>
                <a:ea typeface="Cambria" pitchFamily="34" charset="-122"/>
                <a:cs typeface="Cambria" pitchFamily="34" charset="-120"/>
              </a:rPr>
              <a:t>Per-sample</a:t>
            </a:r>
            <a:endParaRPr lang="en-US" sz="1600" dirty="0"/>
          </a:p>
        </p:txBody>
      </p:sp>
      <p:sp>
        <p:nvSpPr>
          <p:cNvPr id="14" name="Text 12"/>
          <p:cNvSpPr/>
          <p:nvPr/>
        </p:nvSpPr>
        <p:spPr>
          <a:xfrm>
            <a:off x="3081528" y="2651760"/>
            <a:ext cx="1828800" cy="2103120"/>
          </a:xfrm>
          <a:prstGeom prst="rect">
            <a:avLst/>
          </a:prstGeom>
          <a:noFill/>
          <a:ln/>
        </p:spPr>
        <p:txBody>
          <a:bodyPr wrap="square" lIns="0" tIns="0" rIns="0" bIns="0" rtlCol="0" anchor="t"/>
          <a:lstStyle/>
          <a:p>
            <a:pPr indent="0" marL="0">
              <a:lnSpc>
                <a:spcPct val="108000"/>
              </a:lnSpc>
              <a:buNone/>
            </a:pPr>
            <a:r>
              <a:rPr lang="en-US" sz="1200" dirty="0">
                <a:solidFill>
                  <a:srgbClr val="93A1BC"/>
                </a:solidFill>
                <a:latin typeface="Calibri" pitchFamily="34" charset="0"/>
                <a:ea typeface="Calibri" pitchFamily="34" charset="-122"/>
                <a:cs typeface="Calibri" pitchFamily="34" charset="-120"/>
              </a:rPr>
              <a:t>utilization = worse of TX/RX vs each direction’s own capacity; flag impossible values</a:t>
            </a:r>
            <a:endParaRPr lang="en-US" sz="1200" dirty="0"/>
          </a:p>
        </p:txBody>
      </p:sp>
      <p:sp>
        <p:nvSpPr>
          <p:cNvPr id="15" name="Text 13"/>
          <p:cNvSpPr/>
          <p:nvPr/>
        </p:nvSpPr>
        <p:spPr>
          <a:xfrm>
            <a:off x="5074920" y="3063240"/>
            <a:ext cx="182880" cy="365760"/>
          </a:xfrm>
          <a:prstGeom prst="rect">
            <a:avLst/>
          </a:prstGeom>
          <a:noFill/>
          <a:ln/>
        </p:spPr>
        <p:txBody>
          <a:bodyPr wrap="square" lIns="0" tIns="0" rIns="0" bIns="0" rtlCol="0" anchor="ctr"/>
          <a:lstStyle/>
          <a:p>
            <a:pPr algn="ctr" indent="0" marL="0">
              <a:buNone/>
            </a:pPr>
            <a:r>
              <a:rPr lang="en-US" sz="1800" b="1" dirty="0">
                <a:solidFill>
                  <a:srgbClr val="6B7A96"/>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212080" y="1737360"/>
            <a:ext cx="2212848" cy="3200400"/>
          </a:xfrm>
          <a:prstGeom prst="roundRect">
            <a:avLst>
              <a:gd name="adj" fmla="val 3719"/>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7" name="Shape 15"/>
          <p:cNvSpPr/>
          <p:nvPr/>
        </p:nvSpPr>
        <p:spPr>
          <a:xfrm>
            <a:off x="5413248" y="1956816"/>
            <a:ext cx="457200" cy="457200"/>
          </a:xfrm>
          <a:prstGeom prst="ellipse">
            <a:avLst/>
          </a:prstGeom>
          <a:solidFill>
            <a:srgbClr val="F472B6"/>
          </a:solidFill>
          <a:ln/>
        </p:spPr>
      </p:sp>
      <p:sp>
        <p:nvSpPr>
          <p:cNvPr id="18" name="Text 16"/>
          <p:cNvSpPr/>
          <p:nvPr/>
        </p:nvSpPr>
        <p:spPr>
          <a:xfrm>
            <a:off x="5413248" y="1956816"/>
            <a:ext cx="457200" cy="457200"/>
          </a:xfrm>
          <a:prstGeom prst="rect">
            <a:avLst/>
          </a:prstGeom>
          <a:noFill/>
          <a:ln/>
        </p:spPr>
        <p:txBody>
          <a:bodyPr wrap="square" lIns="0" tIns="0" rIns="0" bIns="0" rtlCol="0" anchor="ctr"/>
          <a:lstStyle/>
          <a:p>
            <a:pPr algn="ctr" indent="0" marL="0">
              <a:buNone/>
            </a:pPr>
            <a:r>
              <a:rPr lang="en-US" sz="1100" b="1" dirty="0">
                <a:solidFill>
                  <a:srgbClr val="0A0E17"/>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5961888" y="2011680"/>
            <a:ext cx="1389888" cy="365760"/>
          </a:xfrm>
          <a:prstGeom prst="rect">
            <a:avLst/>
          </a:prstGeom>
          <a:noFill/>
          <a:ln/>
        </p:spPr>
        <p:txBody>
          <a:bodyPr wrap="square" lIns="0" tIns="0" rIns="0" bIns="0" rtlCol="0" anchor="ctr"/>
          <a:lstStyle/>
          <a:p>
            <a:pPr indent="0" marL="0">
              <a:buNone/>
            </a:pPr>
            <a:r>
              <a:rPr lang="en-US" sz="1600" b="1" dirty="0">
                <a:solidFill>
                  <a:srgbClr val="E6EDF7"/>
                </a:solidFill>
                <a:latin typeface="Cambria" pitchFamily="34" charset="0"/>
                <a:ea typeface="Cambria" pitchFamily="34" charset="-122"/>
                <a:cs typeface="Cambria" pitchFamily="34" charset="-120"/>
              </a:rPr>
              <a:t>Aggregate</a:t>
            </a:r>
            <a:endParaRPr lang="en-US" sz="1600" dirty="0"/>
          </a:p>
        </p:txBody>
      </p:sp>
      <p:sp>
        <p:nvSpPr>
          <p:cNvPr id="20" name="Text 18"/>
          <p:cNvSpPr/>
          <p:nvPr/>
        </p:nvSpPr>
        <p:spPr>
          <a:xfrm>
            <a:off x="5413248" y="2651760"/>
            <a:ext cx="1828800" cy="2103120"/>
          </a:xfrm>
          <a:prstGeom prst="rect">
            <a:avLst/>
          </a:prstGeom>
          <a:noFill/>
          <a:ln/>
        </p:spPr>
        <p:txBody>
          <a:bodyPr wrap="square" lIns="0" tIns="0" rIns="0" bIns="0" rtlCol="0" anchor="t"/>
          <a:lstStyle/>
          <a:p>
            <a:pPr indent="0" marL="0">
              <a:lnSpc>
                <a:spcPct val="108000"/>
              </a:lnSpc>
              <a:buNone/>
            </a:pPr>
            <a:r>
              <a:rPr lang="en-US" sz="1200" dirty="0">
                <a:solidFill>
                  <a:srgbClr val="93A1BC"/>
                </a:solidFill>
                <a:latin typeface="Calibri" pitchFamily="34" charset="0"/>
                <a:ea typeface="Calibri" pitchFamily="34" charset="-122"/>
                <a:cs typeface="Calibri" pitchFamily="34" charset="-120"/>
              </a:rPr>
              <a:t>p95 / avg / peak, time-in-state, dow×hour baseline &amp; heatmap per link</a:t>
            </a:r>
            <a:endParaRPr lang="en-US" sz="1200" dirty="0"/>
          </a:p>
        </p:txBody>
      </p:sp>
      <p:sp>
        <p:nvSpPr>
          <p:cNvPr id="21" name="Text 19"/>
          <p:cNvSpPr/>
          <p:nvPr/>
        </p:nvSpPr>
        <p:spPr>
          <a:xfrm>
            <a:off x="7406640" y="3063240"/>
            <a:ext cx="182880" cy="365760"/>
          </a:xfrm>
          <a:prstGeom prst="rect">
            <a:avLst/>
          </a:prstGeom>
          <a:noFill/>
          <a:ln/>
        </p:spPr>
        <p:txBody>
          <a:bodyPr wrap="square" lIns="0" tIns="0" rIns="0" bIns="0" rtlCol="0" anchor="ctr"/>
          <a:lstStyle/>
          <a:p>
            <a:pPr algn="ctr" indent="0" marL="0">
              <a:buNone/>
            </a:pPr>
            <a:r>
              <a:rPr lang="en-US" sz="1800" b="1" dirty="0">
                <a:solidFill>
                  <a:srgbClr val="6B7A96"/>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7543800" y="1737360"/>
            <a:ext cx="2212848" cy="3200400"/>
          </a:xfrm>
          <a:prstGeom prst="roundRect">
            <a:avLst>
              <a:gd name="adj" fmla="val 3719"/>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23" name="Shape 21"/>
          <p:cNvSpPr/>
          <p:nvPr/>
        </p:nvSpPr>
        <p:spPr>
          <a:xfrm>
            <a:off x="7744968" y="1956816"/>
            <a:ext cx="457200" cy="457200"/>
          </a:xfrm>
          <a:prstGeom prst="ellipse">
            <a:avLst/>
          </a:prstGeom>
          <a:solidFill>
            <a:srgbClr val="FBBF24"/>
          </a:solidFill>
          <a:ln/>
        </p:spPr>
      </p:sp>
      <p:sp>
        <p:nvSpPr>
          <p:cNvPr id="24" name="Text 22"/>
          <p:cNvSpPr/>
          <p:nvPr/>
        </p:nvSpPr>
        <p:spPr>
          <a:xfrm>
            <a:off x="7744968" y="1956816"/>
            <a:ext cx="457200" cy="457200"/>
          </a:xfrm>
          <a:prstGeom prst="rect">
            <a:avLst/>
          </a:prstGeom>
          <a:noFill/>
          <a:ln/>
        </p:spPr>
        <p:txBody>
          <a:bodyPr wrap="square" lIns="0" tIns="0" rIns="0" bIns="0" rtlCol="0" anchor="ctr"/>
          <a:lstStyle/>
          <a:p>
            <a:pPr algn="ctr" indent="0" marL="0">
              <a:buNone/>
            </a:pPr>
            <a:r>
              <a:rPr lang="en-US" sz="1100" b="1" dirty="0">
                <a:solidFill>
                  <a:srgbClr val="0A0E17"/>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8293608" y="2011680"/>
            <a:ext cx="1389888" cy="365760"/>
          </a:xfrm>
          <a:prstGeom prst="rect">
            <a:avLst/>
          </a:prstGeom>
          <a:noFill/>
          <a:ln/>
        </p:spPr>
        <p:txBody>
          <a:bodyPr wrap="square" lIns="0" tIns="0" rIns="0" bIns="0" rtlCol="0" anchor="ctr"/>
          <a:lstStyle/>
          <a:p>
            <a:pPr indent="0" marL="0">
              <a:buNone/>
            </a:pPr>
            <a:r>
              <a:rPr lang="en-US" sz="1600" b="1" dirty="0">
                <a:solidFill>
                  <a:srgbClr val="E6EDF7"/>
                </a:solidFill>
                <a:latin typeface="Cambria" pitchFamily="34" charset="0"/>
                <a:ea typeface="Cambria" pitchFamily="34" charset="-122"/>
                <a:cs typeface="Cambria" pitchFamily="34" charset="-120"/>
              </a:rPr>
              <a:t>Model</a:t>
            </a:r>
            <a:endParaRPr lang="en-US" sz="1600" dirty="0"/>
          </a:p>
        </p:txBody>
      </p:sp>
      <p:sp>
        <p:nvSpPr>
          <p:cNvPr id="26" name="Text 24"/>
          <p:cNvSpPr/>
          <p:nvPr/>
        </p:nvSpPr>
        <p:spPr>
          <a:xfrm>
            <a:off x="7744968" y="2651760"/>
            <a:ext cx="1828800" cy="2103120"/>
          </a:xfrm>
          <a:prstGeom prst="rect">
            <a:avLst/>
          </a:prstGeom>
          <a:noFill/>
          <a:ln/>
        </p:spPr>
        <p:txBody>
          <a:bodyPr wrap="square" lIns="0" tIns="0" rIns="0" bIns="0" rtlCol="0" anchor="t"/>
          <a:lstStyle/>
          <a:p>
            <a:pPr indent="0" marL="0">
              <a:lnSpc>
                <a:spcPct val="108000"/>
              </a:lnSpc>
              <a:buNone/>
            </a:pPr>
            <a:r>
              <a:rPr lang="en-US" sz="1200" dirty="0">
                <a:solidFill>
                  <a:srgbClr val="93A1BC"/>
                </a:solidFill>
                <a:latin typeface="Calibri" pitchFamily="34" charset="0"/>
                <a:ea typeface="Calibri" pitchFamily="34" charset="-122"/>
                <a:cs typeface="Calibri" pitchFamily="34" charset="-120"/>
              </a:rPr>
              <a:t>Robust forecast, anomaly detection, risk score — all on the cleaned series</a:t>
            </a:r>
            <a:endParaRPr lang="en-US" sz="1200" dirty="0"/>
          </a:p>
        </p:txBody>
      </p:sp>
      <p:sp>
        <p:nvSpPr>
          <p:cNvPr id="27" name="Text 25"/>
          <p:cNvSpPr/>
          <p:nvPr/>
        </p:nvSpPr>
        <p:spPr>
          <a:xfrm>
            <a:off x="9738360" y="3063240"/>
            <a:ext cx="182880" cy="365760"/>
          </a:xfrm>
          <a:prstGeom prst="rect">
            <a:avLst/>
          </a:prstGeom>
          <a:noFill/>
          <a:ln/>
        </p:spPr>
        <p:txBody>
          <a:bodyPr wrap="square" lIns="0" tIns="0" rIns="0" bIns="0" rtlCol="0" anchor="ctr"/>
          <a:lstStyle/>
          <a:p>
            <a:pPr algn="ctr" indent="0" marL="0">
              <a:buNone/>
            </a:pPr>
            <a:r>
              <a:rPr lang="en-US" sz="1800" b="1" dirty="0">
                <a:solidFill>
                  <a:srgbClr val="6B7A96"/>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9875520" y="1737360"/>
            <a:ext cx="2212848" cy="3200400"/>
          </a:xfrm>
          <a:prstGeom prst="roundRect">
            <a:avLst>
              <a:gd name="adj" fmla="val 3719"/>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29" name="Shape 27"/>
          <p:cNvSpPr/>
          <p:nvPr/>
        </p:nvSpPr>
        <p:spPr>
          <a:xfrm>
            <a:off x="10076688" y="1956816"/>
            <a:ext cx="457200" cy="457200"/>
          </a:xfrm>
          <a:prstGeom prst="ellipse">
            <a:avLst/>
          </a:prstGeom>
          <a:solidFill>
            <a:srgbClr val="34D399"/>
          </a:solidFill>
          <a:ln/>
        </p:spPr>
      </p:sp>
      <p:sp>
        <p:nvSpPr>
          <p:cNvPr id="30" name="Text 28"/>
          <p:cNvSpPr/>
          <p:nvPr/>
        </p:nvSpPr>
        <p:spPr>
          <a:xfrm>
            <a:off x="10076688" y="1956816"/>
            <a:ext cx="457200" cy="457200"/>
          </a:xfrm>
          <a:prstGeom prst="rect">
            <a:avLst/>
          </a:prstGeom>
          <a:noFill/>
          <a:ln/>
        </p:spPr>
        <p:txBody>
          <a:bodyPr wrap="square" lIns="0" tIns="0" rIns="0" bIns="0" rtlCol="0" anchor="ctr"/>
          <a:lstStyle/>
          <a:p>
            <a:pPr algn="ctr" indent="0" marL="0">
              <a:buNone/>
            </a:pPr>
            <a:r>
              <a:rPr lang="en-US" sz="1100" b="1" dirty="0">
                <a:solidFill>
                  <a:srgbClr val="0A0E17"/>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10625328" y="2011680"/>
            <a:ext cx="1389888" cy="365760"/>
          </a:xfrm>
          <a:prstGeom prst="rect">
            <a:avLst/>
          </a:prstGeom>
          <a:noFill/>
          <a:ln/>
        </p:spPr>
        <p:txBody>
          <a:bodyPr wrap="square" lIns="0" tIns="0" rIns="0" bIns="0" rtlCol="0" anchor="ctr"/>
          <a:lstStyle/>
          <a:p>
            <a:pPr indent="0" marL="0">
              <a:buNone/>
            </a:pPr>
            <a:r>
              <a:rPr lang="en-US" sz="1600" b="1" dirty="0">
                <a:solidFill>
                  <a:srgbClr val="E6EDF7"/>
                </a:solidFill>
                <a:latin typeface="Cambria" pitchFamily="34" charset="0"/>
                <a:ea typeface="Cambria" pitchFamily="34" charset="-122"/>
                <a:cs typeface="Cambria" pitchFamily="34" charset="-120"/>
              </a:rPr>
              <a:t>Explain</a:t>
            </a:r>
            <a:endParaRPr lang="en-US" sz="1600" dirty="0"/>
          </a:p>
        </p:txBody>
      </p:sp>
      <p:sp>
        <p:nvSpPr>
          <p:cNvPr id="32" name="Text 30"/>
          <p:cNvSpPr/>
          <p:nvPr/>
        </p:nvSpPr>
        <p:spPr>
          <a:xfrm>
            <a:off x="10076688" y="2651760"/>
            <a:ext cx="1828800" cy="2103120"/>
          </a:xfrm>
          <a:prstGeom prst="rect">
            <a:avLst/>
          </a:prstGeom>
          <a:noFill/>
          <a:ln/>
        </p:spPr>
        <p:txBody>
          <a:bodyPr wrap="square" lIns="0" tIns="0" rIns="0" bIns="0" rtlCol="0" anchor="t"/>
          <a:lstStyle/>
          <a:p>
            <a:pPr indent="0" marL="0">
              <a:lnSpc>
                <a:spcPct val="108000"/>
              </a:lnSpc>
              <a:buNone/>
            </a:pPr>
            <a:r>
              <a:rPr lang="en-US" sz="1200" dirty="0">
                <a:solidFill>
                  <a:srgbClr val="93A1BC"/>
                </a:solidFill>
                <a:latin typeface="Calibri" pitchFamily="34" charset="0"/>
                <a:ea typeface="Calibri" pitchFamily="34" charset="-122"/>
                <a:cs typeface="Calibri" pitchFamily="34" charset="-120"/>
              </a:rPr>
              <a:t>Verdict ladder → level + reason + action; technical &amp; plain-English AI summaries</a:t>
            </a:r>
            <a:endParaRPr lang="en-US" sz="1200" dirty="0"/>
          </a:p>
        </p:txBody>
      </p:sp>
      <p:sp>
        <p:nvSpPr>
          <p:cNvPr id="33" name="Shape 31"/>
          <p:cNvSpPr/>
          <p:nvPr/>
        </p:nvSpPr>
        <p:spPr>
          <a:xfrm>
            <a:off x="548640" y="5166360"/>
            <a:ext cx="11100816" cy="1097280"/>
          </a:xfrm>
          <a:prstGeom prst="roundRect">
            <a:avLst>
              <a:gd name="adj" fmla="val 7500"/>
            </a:avLst>
          </a:prstGeom>
          <a:solidFill>
            <a:srgbClr val="1E2740"/>
          </a:solidFill>
          <a:ln w="12700">
            <a:solidFill>
              <a:srgbClr val="2A3550"/>
            </a:solidFill>
            <a:prstDash val="solid"/>
          </a:ln>
        </p:spPr>
      </p:sp>
      <p:sp>
        <p:nvSpPr>
          <p:cNvPr id="34" name="Text 32"/>
          <p:cNvSpPr/>
          <p:nvPr/>
        </p:nvSpPr>
        <p:spPr>
          <a:xfrm>
            <a:off x="777240" y="5230368"/>
            <a:ext cx="10607040" cy="960120"/>
          </a:xfrm>
          <a:prstGeom prst="rect">
            <a:avLst/>
          </a:prstGeom>
          <a:noFill/>
          <a:ln/>
        </p:spPr>
        <p:txBody>
          <a:bodyPr wrap="square" lIns="0" tIns="0" rIns="0" bIns="0" rtlCol="0" anchor="ctr"/>
          <a:lstStyle/>
          <a:p>
            <a:pPr indent="0" marL="0">
              <a:lnSpc>
                <a:spcPct val="105000"/>
              </a:lnSpc>
              <a:buNone/>
            </a:pPr>
            <a:r>
              <a:rPr lang="en-US" sz="1350" b="1" dirty="0">
                <a:solidFill>
                  <a:srgbClr val="E6EDF7"/>
                </a:solidFill>
                <a:latin typeface="Calibri" pitchFamily="34" charset="0"/>
                <a:ea typeface="Calibri" pitchFamily="34" charset="-122"/>
                <a:cs typeface="Calibri" pitchFamily="34" charset="-120"/>
              </a:rPr>
              <a:t>One rule underlies everything:  </a:t>
            </a:r>
            <a:pPr indent="0" marL="0">
              <a:lnSpc>
                <a:spcPct val="105000"/>
              </a:lnSpc>
              <a:buNone/>
            </a:pPr>
            <a:r>
              <a:rPr lang="en-US" sz="1350" dirty="0">
                <a:solidFill>
                  <a:srgbClr val="93A1BC"/>
                </a:solidFill>
                <a:latin typeface="Calibri" pitchFamily="34" charset="0"/>
                <a:ea typeface="Calibri" pitchFamily="34" charset="-122"/>
                <a:cs typeface="Calibri" pitchFamily="34" charset="-120"/>
              </a:rPr>
              <a:t>utilization is measured per direction against that direction’s own capacity, and the worse of the two is the link’s load. Every graph, threshold, forecast and verdict reads from that single normalized series.</a:t>
            </a:r>
            <a:endParaRPr lang="en-US" sz="1350" dirty="0"/>
          </a:p>
        </p:txBody>
      </p:sp>
      <p:sp>
        <p:nvSpPr>
          <p:cNvPr id="35" name="Text 3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36" name="Text 3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PER SAMPLE, PER DIRECTION, WORSE-OF-TWO</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Utilization — the base metric</a:t>
            </a:r>
            <a:endParaRPr lang="en-US" sz="2900" dirty="0"/>
          </a:p>
        </p:txBody>
      </p:sp>
      <p:sp>
        <p:nvSpPr>
          <p:cNvPr id="4" name="Text 2"/>
          <p:cNvSpPr/>
          <p:nvPr/>
        </p:nvSpPr>
        <p:spPr>
          <a:xfrm>
            <a:off x="548640" y="1691640"/>
            <a:ext cx="6858000" cy="274320"/>
          </a:xfrm>
          <a:prstGeom prst="rect">
            <a:avLst/>
          </a:prstGeom>
          <a:noFill/>
          <a:ln/>
        </p:spPr>
        <p:txBody>
          <a:bodyPr wrap="square" lIns="0" tIns="0" rIns="0" bIns="0" rtlCol="0" anchor="t"/>
          <a:lstStyle/>
          <a:p>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Each direction is compared to its </a:t>
            </a:r>
            <a:pPr indent="0" marL="0">
              <a:lnSpc>
                <a:spcPct val="102000"/>
              </a:lnSpc>
              <a:spcAft>
                <a:spcPts val="500"/>
              </a:spcAft>
              <a:buNone/>
            </a:pPr>
            <a:r>
              <a:rPr lang="en-US" sz="1400" b="1" dirty="0">
                <a:solidFill>
                  <a:srgbClr val="38BDF8"/>
                </a:solidFill>
                <a:latin typeface="Calibri" pitchFamily="34" charset="0"/>
                <a:ea typeface="Calibri" pitchFamily="34" charset="-122"/>
                <a:cs typeface="Calibri" pitchFamily="34" charset="-120"/>
              </a:rPr>
              <a:t>own</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 capacity (links can be asymmetric), then the busier direction wins:</a:t>
            </a:r>
            <a:endParaRPr lang="en-US" sz="1400" dirty="0"/>
          </a:p>
        </p:txBody>
      </p:sp>
      <p:sp>
        <p:nvSpPr>
          <p:cNvPr id="5" name="Shape 3"/>
          <p:cNvSpPr/>
          <p:nvPr/>
        </p:nvSpPr>
        <p:spPr>
          <a:xfrm>
            <a:off x="548640" y="2331720"/>
            <a:ext cx="7040880" cy="896112"/>
          </a:xfrm>
          <a:prstGeom prst="roundRect">
            <a:avLst>
              <a:gd name="adj" fmla="val 9184"/>
            </a:avLst>
          </a:prstGeom>
          <a:solidFill>
            <a:srgbClr val="1E2740"/>
          </a:solidFill>
          <a:ln w="12700">
            <a:solidFill>
              <a:srgbClr val="2A3550"/>
            </a:solidFill>
            <a:prstDash val="solid"/>
          </a:ln>
        </p:spPr>
      </p:sp>
      <p:sp>
        <p:nvSpPr>
          <p:cNvPr id="6" name="Text 4"/>
          <p:cNvSpPr/>
          <p:nvPr/>
        </p:nvSpPr>
        <p:spPr>
          <a:xfrm>
            <a:off x="713232" y="2331720"/>
            <a:ext cx="6711696" cy="896112"/>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uT = tx / speedTx        (or txp/100 if no rate)</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uR = rx / speedRx        (or rxp/100 if no rate)</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utilization = max(uT, uR)</a:t>
            </a:r>
            <a:endParaRPr lang="en-US" sz="1350" dirty="0"/>
          </a:p>
        </p:txBody>
      </p:sp>
      <p:sp>
        <p:nvSpPr>
          <p:cNvPr id="7" name="Text 5"/>
          <p:cNvSpPr/>
          <p:nvPr/>
        </p:nvSpPr>
        <p:spPr>
          <a:xfrm>
            <a:off x="548640" y="3410712"/>
            <a:ext cx="7040880" cy="274320"/>
          </a:xfrm>
          <a:prstGeom prst="rect">
            <a:avLst/>
          </a:prstGeom>
          <a:noFill/>
          <a:ln/>
        </p:spPr>
        <p:txBody>
          <a:bodyPr wrap="square" lIns="0" tIns="0" rIns="0" bIns="0" rtlCol="0" anchor="t"/>
          <a:lstStyle/>
          <a:p>
            <a:pPr indent="0" marL="0">
              <a:lnSpc>
                <a:spcPct val="102000"/>
              </a:lnSpc>
              <a:spcAft>
                <a:spcPts val="500"/>
              </a:spcAft>
              <a:buNone/>
            </a:pPr>
            <a:r>
              <a:rPr lang="en-US" sz="1400" b="1" dirty="0">
                <a:solidFill>
                  <a:srgbClr val="E6EDF7"/>
                </a:solidFill>
                <a:latin typeface="Calibri" pitchFamily="34" charset="0"/>
                <a:ea typeface="Calibri" pitchFamily="34" charset="-122"/>
                <a:cs typeface="Calibri" pitchFamily="34" charset="-120"/>
              </a:rPr>
              <a:t>Missing a rate but have a %?  </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tx = txp/100 × speedTx  (and rx likewise).</a:t>
            </a:r>
            <a:endParaRPr lang="en-US" sz="1400" dirty="0"/>
          </a:p>
        </p:txBody>
      </p:sp>
      <p:sp>
        <p:nvSpPr>
          <p:cNvPr id="8" name="Text 6"/>
          <p:cNvSpPr/>
          <p:nvPr/>
        </p:nvSpPr>
        <p:spPr>
          <a:xfrm>
            <a:off x="548640" y="3913632"/>
            <a:ext cx="7040880" cy="274320"/>
          </a:xfrm>
          <a:prstGeom prst="rect">
            <a:avLst/>
          </a:prstGeom>
          <a:noFill/>
          <a:ln/>
        </p:spPr>
        <p:txBody>
          <a:bodyPr wrap="square" lIns="0" tIns="0" rIns="0" bIns="0" rtlCol="0" anchor="t"/>
          <a:lstStyle/>
          <a:p>
            <a:pPr indent="0" marL="0">
              <a:lnSpc>
                <a:spcPct val="102000"/>
              </a:lnSpc>
              <a:spcAft>
                <a:spcPts val="500"/>
              </a:spcAft>
              <a:buNone/>
            </a:pPr>
            <a:r>
              <a:rPr lang="en-US" sz="1400" b="1" dirty="0">
                <a:solidFill>
                  <a:srgbClr val="F472B6"/>
                </a:solidFill>
                <a:latin typeface="Calibri" pitchFamily="34" charset="0"/>
                <a:ea typeface="Calibri" pitchFamily="34" charset="-122"/>
                <a:cs typeface="Calibri" pitchFamily="34" charset="-120"/>
              </a:rPr>
              <a:t>Peak utilization</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 (microbursts the averages hide): </a:t>
            </a:r>
            <a:endParaRPr lang="en-US" sz="1400" dirty="0"/>
          </a:p>
        </p:txBody>
      </p:sp>
      <p:sp>
        <p:nvSpPr>
          <p:cNvPr id="9" name="Shape 7"/>
          <p:cNvSpPr/>
          <p:nvPr/>
        </p:nvSpPr>
        <p:spPr>
          <a:xfrm>
            <a:off x="548640" y="4297680"/>
            <a:ext cx="7040880" cy="384048"/>
          </a:xfrm>
          <a:prstGeom prst="roundRect">
            <a:avLst>
              <a:gd name="adj" fmla="val 21429"/>
            </a:avLst>
          </a:prstGeom>
          <a:solidFill>
            <a:srgbClr val="1E2740"/>
          </a:solidFill>
          <a:ln w="12700">
            <a:solidFill>
              <a:srgbClr val="2A3550"/>
            </a:solidFill>
            <a:prstDash val="solid"/>
          </a:ln>
        </p:spPr>
      </p:sp>
      <p:sp>
        <p:nvSpPr>
          <p:cNvPr id="10" name="Text 8"/>
          <p:cNvSpPr/>
          <p:nvPr/>
        </p:nvSpPr>
        <p:spPr>
          <a:xfrm>
            <a:off x="713232" y="4297680"/>
            <a:ext cx="6711696" cy="384048"/>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pu = max( ptx/speedTx , prx/speedRx )</a:t>
            </a:r>
            <a:endParaRPr lang="en-US" sz="1350" dirty="0"/>
          </a:p>
        </p:txBody>
      </p:sp>
      <p:sp>
        <p:nvSpPr>
          <p:cNvPr id="11" name="Text 9"/>
          <p:cNvSpPr/>
          <p:nvPr/>
        </p:nvSpPr>
        <p:spPr>
          <a:xfrm>
            <a:off x="548640" y="4910328"/>
            <a:ext cx="7040880" cy="274320"/>
          </a:xfrm>
          <a:prstGeom prst="rect">
            <a:avLst/>
          </a:prstGeom>
          <a:noFill/>
          <a:ln/>
        </p:spPr>
        <p:txBody>
          <a:bodyPr wrap="square" lIns="0" tIns="0" rIns="0" bIns="0" rtlCol="0" anchor="t"/>
          <a:lstStyle/>
          <a:p>
            <a:pPr indent="0" marL="0">
              <a:lnSpc>
                <a:spcPct val="102000"/>
              </a:lnSpc>
              <a:spcAft>
                <a:spcPts val="500"/>
              </a:spcAft>
              <a:buNone/>
            </a:pPr>
            <a:r>
              <a:rPr lang="en-US" sz="1400" b="1" dirty="0">
                <a:solidFill>
                  <a:srgbClr val="F43F5E"/>
                </a:solidFill>
                <a:latin typeface="Calibri" pitchFamily="34" charset="0"/>
                <a:ea typeface="Calibri" pitchFamily="34" charset="-122"/>
                <a:cs typeface="Calibri" pitchFamily="34" charset="-120"/>
              </a:rPr>
              <a:t>Guard — physically impossible values </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(counter-wrap / wrong bandwidth column):</a:t>
            </a:r>
            <a:endParaRPr lang="en-US" sz="1400" dirty="0"/>
          </a:p>
        </p:txBody>
      </p:sp>
      <p:sp>
        <p:nvSpPr>
          <p:cNvPr id="12" name="Shape 10"/>
          <p:cNvSpPr/>
          <p:nvPr/>
        </p:nvSpPr>
        <p:spPr>
          <a:xfrm>
            <a:off x="548640" y="5294376"/>
            <a:ext cx="7040880" cy="384048"/>
          </a:xfrm>
          <a:prstGeom prst="roundRect">
            <a:avLst>
              <a:gd name="adj" fmla="val 21429"/>
            </a:avLst>
          </a:prstGeom>
          <a:solidFill>
            <a:srgbClr val="1E2740"/>
          </a:solidFill>
          <a:ln w="12700">
            <a:solidFill>
              <a:srgbClr val="2A3550"/>
            </a:solidFill>
            <a:prstDash val="solid"/>
          </a:ln>
        </p:spPr>
      </p:sp>
      <p:sp>
        <p:nvSpPr>
          <p:cNvPr id="13" name="Text 11"/>
          <p:cNvSpPr/>
          <p:nvPr/>
        </p:nvSpPr>
        <p:spPr>
          <a:xfrm>
            <a:off x="713232" y="5294376"/>
            <a:ext cx="6711696" cy="384048"/>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bad = util&gt;1.2  OR  rate&gt;1.2×capacity   →  excluded</a:t>
            </a:r>
            <a:endParaRPr lang="en-US" sz="1350" dirty="0"/>
          </a:p>
        </p:txBody>
      </p:sp>
      <p:sp>
        <p:nvSpPr>
          <p:cNvPr id="14" name="Shape 12"/>
          <p:cNvSpPr/>
          <p:nvPr/>
        </p:nvSpPr>
        <p:spPr>
          <a:xfrm>
            <a:off x="7818120" y="1691640"/>
            <a:ext cx="3840480" cy="4434840"/>
          </a:xfrm>
          <a:prstGeom prst="roundRect">
            <a:avLst>
              <a:gd name="adj" fmla="val 2143"/>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5" name="Text 13"/>
          <p:cNvSpPr/>
          <p:nvPr/>
        </p:nvSpPr>
        <p:spPr>
          <a:xfrm>
            <a:off x="8046720" y="1874520"/>
            <a:ext cx="3383280" cy="320040"/>
          </a:xfrm>
          <a:prstGeom prst="rect">
            <a:avLst/>
          </a:prstGeom>
          <a:noFill/>
          <a:ln/>
        </p:spPr>
        <p:txBody>
          <a:bodyPr wrap="square" lIns="0" tIns="0" rIns="0" bIns="0" rtlCol="0" anchor="ctr"/>
          <a:lstStyle/>
          <a:p>
            <a:pPr indent="0" marL="0">
              <a:buNone/>
            </a:pPr>
            <a:r>
              <a:rPr lang="en-US" sz="1500" b="1" dirty="0">
                <a:solidFill>
                  <a:srgbClr val="E6EDF7"/>
                </a:solidFill>
                <a:latin typeface="Cambria" pitchFamily="34" charset="0"/>
                <a:ea typeface="Cambria" pitchFamily="34" charset="-122"/>
                <a:cs typeface="Cambria" pitchFamily="34" charset="-120"/>
              </a:rPr>
              <a:t>Worked example</a:t>
            </a:r>
            <a:endParaRPr lang="en-US" sz="1500" dirty="0"/>
          </a:p>
        </p:txBody>
      </p:sp>
      <p:sp>
        <p:nvSpPr>
          <p:cNvPr id="16" name="Text 14"/>
          <p:cNvSpPr/>
          <p:nvPr/>
        </p:nvSpPr>
        <p:spPr>
          <a:xfrm>
            <a:off x="8046720" y="2331720"/>
            <a:ext cx="2011680" cy="292608"/>
          </a:xfrm>
          <a:prstGeom prst="rect">
            <a:avLst/>
          </a:prstGeom>
          <a:noFill/>
          <a:ln/>
        </p:spPr>
        <p:txBody>
          <a:bodyPr wrap="square" lIns="0" tIns="0" rIns="0" bIns="0" rtlCol="0" anchor="ctr"/>
          <a:lstStyle/>
          <a:p>
            <a:pPr indent="0" marL="0">
              <a:buNone/>
            </a:pPr>
            <a:r>
              <a:rPr lang="en-US" sz="1200" dirty="0">
                <a:solidFill>
                  <a:srgbClr val="93A1BC"/>
                </a:solidFill>
                <a:latin typeface="Courier New" pitchFamily="34" charset="0"/>
                <a:ea typeface="Courier New" pitchFamily="34" charset="-122"/>
                <a:cs typeface="Courier New" pitchFamily="34" charset="-120"/>
              </a:rPr>
              <a:t>TX rate</a:t>
            </a:r>
            <a:endParaRPr lang="en-US" sz="1200" dirty="0"/>
          </a:p>
        </p:txBody>
      </p:sp>
      <p:sp>
        <p:nvSpPr>
          <p:cNvPr id="17" name="Text 15"/>
          <p:cNvSpPr/>
          <p:nvPr/>
        </p:nvSpPr>
        <p:spPr>
          <a:xfrm>
            <a:off x="10058400" y="2331720"/>
            <a:ext cx="1417320" cy="292608"/>
          </a:xfrm>
          <a:prstGeom prst="rect">
            <a:avLst/>
          </a:prstGeom>
          <a:noFill/>
          <a:ln/>
        </p:spPr>
        <p:txBody>
          <a:bodyPr wrap="square" lIns="0" tIns="0" rIns="0" bIns="0" rtlCol="0" anchor="ctr"/>
          <a:lstStyle/>
          <a:p>
            <a:pPr algn="r" indent="0" marL="0">
              <a:buNone/>
            </a:pPr>
            <a:r>
              <a:rPr lang="en-US" sz="1200" dirty="0">
                <a:solidFill>
                  <a:srgbClr val="93A1BC"/>
                </a:solidFill>
                <a:latin typeface="Courier New" pitchFamily="34" charset="0"/>
                <a:ea typeface="Courier New" pitchFamily="34" charset="-122"/>
                <a:cs typeface="Courier New" pitchFamily="34" charset="-120"/>
              </a:rPr>
              <a:t>3.6 Gbps</a:t>
            </a:r>
            <a:endParaRPr lang="en-US" sz="1200" dirty="0"/>
          </a:p>
        </p:txBody>
      </p:sp>
      <p:sp>
        <p:nvSpPr>
          <p:cNvPr id="18" name="Text 16"/>
          <p:cNvSpPr/>
          <p:nvPr/>
        </p:nvSpPr>
        <p:spPr>
          <a:xfrm>
            <a:off x="8046720" y="2697480"/>
            <a:ext cx="2011680" cy="292608"/>
          </a:xfrm>
          <a:prstGeom prst="rect">
            <a:avLst/>
          </a:prstGeom>
          <a:noFill/>
          <a:ln/>
        </p:spPr>
        <p:txBody>
          <a:bodyPr wrap="square" lIns="0" tIns="0" rIns="0" bIns="0" rtlCol="0" anchor="ctr"/>
          <a:lstStyle/>
          <a:p>
            <a:pPr indent="0" marL="0">
              <a:buNone/>
            </a:pPr>
            <a:r>
              <a:rPr lang="en-US" sz="1200" dirty="0">
                <a:solidFill>
                  <a:srgbClr val="93A1BC"/>
                </a:solidFill>
                <a:latin typeface="Courier New" pitchFamily="34" charset="0"/>
                <a:ea typeface="Courier New" pitchFamily="34" charset="-122"/>
                <a:cs typeface="Courier New" pitchFamily="34" charset="-120"/>
              </a:rPr>
              <a:t>TX capacity</a:t>
            </a:r>
            <a:endParaRPr lang="en-US" sz="1200" dirty="0"/>
          </a:p>
        </p:txBody>
      </p:sp>
      <p:sp>
        <p:nvSpPr>
          <p:cNvPr id="19" name="Text 17"/>
          <p:cNvSpPr/>
          <p:nvPr/>
        </p:nvSpPr>
        <p:spPr>
          <a:xfrm>
            <a:off x="10058400" y="2697480"/>
            <a:ext cx="1417320" cy="292608"/>
          </a:xfrm>
          <a:prstGeom prst="rect">
            <a:avLst/>
          </a:prstGeom>
          <a:noFill/>
          <a:ln/>
        </p:spPr>
        <p:txBody>
          <a:bodyPr wrap="square" lIns="0" tIns="0" rIns="0" bIns="0" rtlCol="0" anchor="ctr"/>
          <a:lstStyle/>
          <a:p>
            <a:pPr algn="r" indent="0" marL="0">
              <a:buNone/>
            </a:pPr>
            <a:r>
              <a:rPr lang="en-US" sz="1200" dirty="0">
                <a:solidFill>
                  <a:srgbClr val="93A1BC"/>
                </a:solidFill>
                <a:latin typeface="Courier New" pitchFamily="34" charset="0"/>
                <a:ea typeface="Courier New" pitchFamily="34" charset="-122"/>
                <a:cs typeface="Courier New" pitchFamily="34" charset="-120"/>
              </a:rPr>
              <a:t>10 Gbps</a:t>
            </a:r>
            <a:endParaRPr lang="en-US" sz="1200" dirty="0"/>
          </a:p>
        </p:txBody>
      </p:sp>
      <p:sp>
        <p:nvSpPr>
          <p:cNvPr id="20" name="Text 18"/>
          <p:cNvSpPr/>
          <p:nvPr/>
        </p:nvSpPr>
        <p:spPr>
          <a:xfrm>
            <a:off x="8046720" y="3063240"/>
            <a:ext cx="2011680" cy="292608"/>
          </a:xfrm>
          <a:prstGeom prst="rect">
            <a:avLst/>
          </a:prstGeom>
          <a:noFill/>
          <a:ln/>
        </p:spPr>
        <p:txBody>
          <a:bodyPr wrap="square" lIns="0" tIns="0" rIns="0" bIns="0"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 uT</a:t>
            </a:r>
            <a:endParaRPr lang="en-US" sz="1200" dirty="0"/>
          </a:p>
        </p:txBody>
      </p:sp>
      <p:sp>
        <p:nvSpPr>
          <p:cNvPr id="21" name="Text 19"/>
          <p:cNvSpPr/>
          <p:nvPr/>
        </p:nvSpPr>
        <p:spPr>
          <a:xfrm>
            <a:off x="10058400" y="3063240"/>
            <a:ext cx="1417320" cy="292608"/>
          </a:xfrm>
          <a:prstGeom prst="rect">
            <a:avLst/>
          </a:prstGeom>
          <a:noFill/>
          <a:ln/>
        </p:spPr>
        <p:txBody>
          <a:bodyPr wrap="square" lIns="0" tIns="0" rIns="0" bIns="0" rtlCol="0" anchor="ctr"/>
          <a:lstStyle/>
          <a:p>
            <a:pPr algn="r" indent="0" marL="0">
              <a:buNone/>
            </a:pPr>
            <a:r>
              <a:rPr lang="en-US" sz="1200" b="1" dirty="0">
                <a:solidFill>
                  <a:srgbClr val="E6EDF7"/>
                </a:solidFill>
                <a:latin typeface="Courier New" pitchFamily="34" charset="0"/>
                <a:ea typeface="Courier New" pitchFamily="34" charset="-122"/>
                <a:cs typeface="Courier New" pitchFamily="34" charset="-120"/>
              </a:rPr>
              <a:t>36%</a:t>
            </a:r>
            <a:endParaRPr lang="en-US" sz="1200" dirty="0"/>
          </a:p>
        </p:txBody>
      </p:sp>
      <p:sp>
        <p:nvSpPr>
          <p:cNvPr id="22" name="Text 20"/>
          <p:cNvSpPr/>
          <p:nvPr/>
        </p:nvSpPr>
        <p:spPr>
          <a:xfrm>
            <a:off x="8046720" y="3429000"/>
            <a:ext cx="2011680" cy="292608"/>
          </a:xfrm>
          <a:prstGeom prst="rect">
            <a:avLst/>
          </a:prstGeom>
          <a:noFill/>
          <a:ln/>
        </p:spPr>
        <p:txBody>
          <a:bodyPr wrap="square" lIns="0" tIns="0" rIns="0" bIns="0" rtlCol="0" anchor="ctr"/>
          <a:lstStyle/>
          <a:p>
            <a:pPr indent="0" marL="0">
              <a:buNone/>
            </a:pPr>
            <a:r>
              <a:rPr lang="en-US" sz="1200" dirty="0">
                <a:solidFill>
                  <a:srgbClr val="93A1BC"/>
                </a:solidFill>
                <a:latin typeface="Courier New" pitchFamily="34" charset="0"/>
                <a:ea typeface="Courier New" pitchFamily="34" charset="-122"/>
                <a:cs typeface="Courier New" pitchFamily="34" charset="-120"/>
              </a:rPr>
              <a:t>RX rate</a:t>
            </a:r>
            <a:endParaRPr lang="en-US" sz="1200" dirty="0"/>
          </a:p>
        </p:txBody>
      </p:sp>
      <p:sp>
        <p:nvSpPr>
          <p:cNvPr id="23" name="Text 21"/>
          <p:cNvSpPr/>
          <p:nvPr/>
        </p:nvSpPr>
        <p:spPr>
          <a:xfrm>
            <a:off x="10058400" y="3429000"/>
            <a:ext cx="1417320" cy="292608"/>
          </a:xfrm>
          <a:prstGeom prst="rect">
            <a:avLst/>
          </a:prstGeom>
          <a:noFill/>
          <a:ln/>
        </p:spPr>
        <p:txBody>
          <a:bodyPr wrap="square" lIns="0" tIns="0" rIns="0" bIns="0" rtlCol="0" anchor="ctr"/>
          <a:lstStyle/>
          <a:p>
            <a:pPr algn="r" indent="0" marL="0">
              <a:buNone/>
            </a:pPr>
            <a:r>
              <a:rPr lang="en-US" sz="1200" dirty="0">
                <a:solidFill>
                  <a:srgbClr val="93A1BC"/>
                </a:solidFill>
                <a:latin typeface="Courier New" pitchFamily="34" charset="0"/>
                <a:ea typeface="Courier New" pitchFamily="34" charset="-122"/>
                <a:cs typeface="Courier New" pitchFamily="34" charset="-120"/>
              </a:rPr>
              <a:t>7.1 Gbps</a:t>
            </a:r>
            <a:endParaRPr lang="en-US" sz="1200" dirty="0"/>
          </a:p>
        </p:txBody>
      </p:sp>
      <p:sp>
        <p:nvSpPr>
          <p:cNvPr id="24" name="Text 22"/>
          <p:cNvSpPr/>
          <p:nvPr/>
        </p:nvSpPr>
        <p:spPr>
          <a:xfrm>
            <a:off x="8046720" y="3794760"/>
            <a:ext cx="2011680" cy="292608"/>
          </a:xfrm>
          <a:prstGeom prst="rect">
            <a:avLst/>
          </a:prstGeom>
          <a:noFill/>
          <a:ln/>
        </p:spPr>
        <p:txBody>
          <a:bodyPr wrap="square" lIns="0" tIns="0" rIns="0" bIns="0" rtlCol="0" anchor="ctr"/>
          <a:lstStyle/>
          <a:p>
            <a:pPr indent="0" marL="0">
              <a:buNone/>
            </a:pPr>
            <a:r>
              <a:rPr lang="en-US" sz="1200" dirty="0">
                <a:solidFill>
                  <a:srgbClr val="93A1BC"/>
                </a:solidFill>
                <a:latin typeface="Courier New" pitchFamily="34" charset="0"/>
                <a:ea typeface="Courier New" pitchFamily="34" charset="-122"/>
                <a:cs typeface="Courier New" pitchFamily="34" charset="-120"/>
              </a:rPr>
              <a:t>RX capacity</a:t>
            </a:r>
            <a:endParaRPr lang="en-US" sz="1200" dirty="0"/>
          </a:p>
        </p:txBody>
      </p:sp>
      <p:sp>
        <p:nvSpPr>
          <p:cNvPr id="25" name="Text 23"/>
          <p:cNvSpPr/>
          <p:nvPr/>
        </p:nvSpPr>
        <p:spPr>
          <a:xfrm>
            <a:off x="10058400" y="3794760"/>
            <a:ext cx="1417320" cy="292608"/>
          </a:xfrm>
          <a:prstGeom prst="rect">
            <a:avLst/>
          </a:prstGeom>
          <a:noFill/>
          <a:ln/>
        </p:spPr>
        <p:txBody>
          <a:bodyPr wrap="square" lIns="0" tIns="0" rIns="0" bIns="0" rtlCol="0" anchor="ctr"/>
          <a:lstStyle/>
          <a:p>
            <a:pPr algn="r" indent="0" marL="0">
              <a:buNone/>
            </a:pPr>
            <a:r>
              <a:rPr lang="en-US" sz="1200" dirty="0">
                <a:solidFill>
                  <a:srgbClr val="93A1BC"/>
                </a:solidFill>
                <a:latin typeface="Courier New" pitchFamily="34" charset="0"/>
                <a:ea typeface="Courier New" pitchFamily="34" charset="-122"/>
                <a:cs typeface="Courier New" pitchFamily="34" charset="-120"/>
              </a:rPr>
              <a:t>10 Gbps</a:t>
            </a:r>
            <a:endParaRPr lang="en-US" sz="1200" dirty="0"/>
          </a:p>
        </p:txBody>
      </p:sp>
      <p:sp>
        <p:nvSpPr>
          <p:cNvPr id="26" name="Text 24"/>
          <p:cNvSpPr/>
          <p:nvPr/>
        </p:nvSpPr>
        <p:spPr>
          <a:xfrm>
            <a:off x="8046720" y="4160520"/>
            <a:ext cx="2011680" cy="292608"/>
          </a:xfrm>
          <a:prstGeom prst="rect">
            <a:avLst/>
          </a:prstGeom>
          <a:noFill/>
          <a:ln/>
        </p:spPr>
        <p:txBody>
          <a:bodyPr wrap="square" lIns="0" tIns="0" rIns="0" bIns="0"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 uR</a:t>
            </a:r>
            <a:endParaRPr lang="en-US" sz="1200" dirty="0"/>
          </a:p>
        </p:txBody>
      </p:sp>
      <p:sp>
        <p:nvSpPr>
          <p:cNvPr id="27" name="Text 25"/>
          <p:cNvSpPr/>
          <p:nvPr/>
        </p:nvSpPr>
        <p:spPr>
          <a:xfrm>
            <a:off x="10058400" y="4160520"/>
            <a:ext cx="1417320" cy="292608"/>
          </a:xfrm>
          <a:prstGeom prst="rect">
            <a:avLst/>
          </a:prstGeom>
          <a:noFill/>
          <a:ln/>
        </p:spPr>
        <p:txBody>
          <a:bodyPr wrap="square" lIns="0" tIns="0" rIns="0" bIns="0" rtlCol="0" anchor="ctr"/>
          <a:lstStyle/>
          <a:p>
            <a:pPr algn="r" indent="0" marL="0">
              <a:buNone/>
            </a:pPr>
            <a:r>
              <a:rPr lang="en-US" sz="1200" b="1" dirty="0">
                <a:solidFill>
                  <a:srgbClr val="E6EDF7"/>
                </a:solidFill>
                <a:latin typeface="Courier New" pitchFamily="34" charset="0"/>
                <a:ea typeface="Courier New" pitchFamily="34" charset="-122"/>
                <a:cs typeface="Courier New" pitchFamily="34" charset="-120"/>
              </a:rPr>
              <a:t>71%</a:t>
            </a:r>
            <a:endParaRPr lang="en-US" sz="1200" dirty="0"/>
          </a:p>
        </p:txBody>
      </p:sp>
      <p:sp>
        <p:nvSpPr>
          <p:cNvPr id="28" name="Shape 26"/>
          <p:cNvSpPr/>
          <p:nvPr/>
        </p:nvSpPr>
        <p:spPr>
          <a:xfrm>
            <a:off x="8046720" y="4544568"/>
            <a:ext cx="3429000" cy="0"/>
          </a:xfrm>
          <a:prstGeom prst="line">
            <a:avLst/>
          </a:prstGeom>
          <a:noFill/>
          <a:ln w="12700">
            <a:solidFill>
              <a:srgbClr val="2A3550"/>
            </a:solidFill>
            <a:prstDash val="solid"/>
          </a:ln>
        </p:spPr>
      </p:sp>
      <p:sp>
        <p:nvSpPr>
          <p:cNvPr id="29" name="Text 27"/>
          <p:cNvSpPr/>
          <p:nvPr/>
        </p:nvSpPr>
        <p:spPr>
          <a:xfrm>
            <a:off x="8046720" y="4663440"/>
            <a:ext cx="3429000" cy="457200"/>
          </a:xfrm>
          <a:prstGeom prst="rect">
            <a:avLst/>
          </a:prstGeom>
          <a:noFill/>
          <a:ln/>
        </p:spPr>
        <p:txBody>
          <a:bodyPr wrap="square" lIns="0" tIns="0" rIns="0" bIns="0" rtlCol="0" anchor="ctr"/>
          <a:lstStyle/>
          <a:p>
            <a:pPr indent="0" marL="0">
              <a:buNone/>
            </a:pPr>
            <a:r>
              <a:rPr lang="en-US" sz="2000" dirty="0">
                <a:solidFill>
                  <a:srgbClr val="93A1BC"/>
                </a:solidFill>
                <a:latin typeface="Calibri" pitchFamily="34" charset="0"/>
                <a:ea typeface="Calibri" pitchFamily="34" charset="-122"/>
                <a:cs typeface="Calibri" pitchFamily="34" charset="-120"/>
              </a:rPr>
              <a:t>utilization = </a:t>
            </a:r>
            <a:pPr indent="0" marL="0">
              <a:buNone/>
            </a:pPr>
            <a:r>
              <a:rPr lang="en-US" sz="2000" b="1" dirty="0">
                <a:solidFill>
                  <a:srgbClr val="F43F5E"/>
                </a:solidFill>
                <a:latin typeface="Calibri" pitchFamily="34" charset="0"/>
                <a:ea typeface="Calibri" pitchFamily="34" charset="-122"/>
                <a:cs typeface="Calibri" pitchFamily="34" charset="-120"/>
              </a:rPr>
              <a:t>71%</a:t>
            </a:r>
            <a:endParaRPr lang="en-US" sz="2000" dirty="0"/>
          </a:p>
        </p:txBody>
      </p:sp>
      <p:sp>
        <p:nvSpPr>
          <p:cNvPr id="30" name="Text 28"/>
          <p:cNvSpPr/>
          <p:nvPr/>
        </p:nvSpPr>
        <p:spPr>
          <a:xfrm>
            <a:off x="8046720" y="5166360"/>
            <a:ext cx="3429000" cy="365760"/>
          </a:xfrm>
          <a:prstGeom prst="rect">
            <a:avLst/>
          </a:prstGeom>
          <a:noFill/>
          <a:ln/>
        </p:spPr>
        <p:txBody>
          <a:bodyPr wrap="square" lIns="0" tIns="0" rIns="0" bIns="0" rtlCol="0" anchor="ctr"/>
          <a:lstStyle/>
          <a:p>
            <a:pPr indent="0" marL="0">
              <a:buNone/>
            </a:pPr>
            <a:r>
              <a:rPr lang="en-US" sz="1100" i="1" dirty="0">
                <a:solidFill>
                  <a:srgbClr val="6B7A96"/>
                </a:solidFill>
                <a:latin typeface="Calibri" pitchFamily="34" charset="0"/>
                <a:ea typeface="Calibri" pitchFamily="34" charset="-122"/>
                <a:cs typeface="Calibri" pitchFamily="34" charset="-120"/>
              </a:rPr>
              <a:t>the worse direction (RX) sets the load</a:t>
            </a:r>
            <a:endParaRPr lang="en-US" sz="1100" dirty="0"/>
          </a:p>
        </p:txBody>
      </p:sp>
      <p:sp>
        <p:nvSpPr>
          <p:cNvPr id="31" name="Text 29"/>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32" name="Text 30"/>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THE HEADLINE NUMBERS ON EVERY CARD</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p95, average, peak — and how a percentile is taken</a:t>
            </a:r>
            <a:endParaRPr lang="en-US" sz="2900" dirty="0"/>
          </a:p>
        </p:txBody>
      </p:sp>
      <p:sp>
        <p:nvSpPr>
          <p:cNvPr id="4" name="Shape 2"/>
          <p:cNvSpPr/>
          <p:nvPr/>
        </p:nvSpPr>
        <p:spPr>
          <a:xfrm>
            <a:off x="566928" y="1755648"/>
            <a:ext cx="310896" cy="310896"/>
          </a:xfrm>
          <a:prstGeom prst="ellipse">
            <a:avLst/>
          </a:prstGeom>
          <a:solidFill>
            <a:srgbClr val="38BDF8"/>
          </a:solidFill>
          <a:ln/>
        </p:spPr>
      </p:sp>
      <p:sp>
        <p:nvSpPr>
          <p:cNvPr id="5" name="Text 3"/>
          <p:cNvSpPr/>
          <p:nvPr/>
        </p:nvSpPr>
        <p:spPr>
          <a:xfrm>
            <a:off x="1005840" y="1737360"/>
            <a:ext cx="1920240" cy="320040"/>
          </a:xfrm>
          <a:prstGeom prst="rect">
            <a:avLst/>
          </a:prstGeom>
          <a:noFill/>
          <a:ln/>
        </p:spPr>
        <p:txBody>
          <a:bodyPr wrap="square" lIns="0" tIns="0" rIns="0" bIns="0" rtlCol="0" anchor="ctr"/>
          <a:lstStyle/>
          <a:p>
            <a:pPr indent="0" marL="0">
              <a:buNone/>
            </a:pPr>
            <a:r>
              <a:rPr lang="en-US" sz="1400" b="1" dirty="0">
                <a:solidFill>
                  <a:srgbClr val="38BDF8"/>
                </a:solidFill>
                <a:latin typeface="Courier New" pitchFamily="34" charset="0"/>
                <a:ea typeface="Courier New" pitchFamily="34" charset="-122"/>
                <a:cs typeface="Courier New" pitchFamily="34" charset="-120"/>
              </a:rPr>
              <a:t>p95</a:t>
            </a:r>
            <a:endParaRPr lang="en-US" sz="1400" dirty="0"/>
          </a:p>
        </p:txBody>
      </p:sp>
      <p:sp>
        <p:nvSpPr>
          <p:cNvPr id="6" name="Text 4"/>
          <p:cNvSpPr/>
          <p:nvPr/>
        </p:nvSpPr>
        <p:spPr>
          <a:xfrm>
            <a:off x="2880360" y="1719072"/>
            <a:ext cx="4526280" cy="640080"/>
          </a:xfrm>
          <a:prstGeom prst="rect">
            <a:avLst/>
          </a:prstGeom>
          <a:noFill/>
          <a:ln/>
        </p:spPr>
        <p:txBody>
          <a:bodyPr wrap="square" lIns="0" tIns="0" rIns="0" bIns="0" rtlCol="0" anchor="t"/>
          <a:lstStyle/>
          <a:p>
            <a:pPr indent="0" marL="0">
              <a:lnSpc>
                <a:spcPct val="104000"/>
              </a:lnSpc>
              <a:buNone/>
            </a:pPr>
            <a:r>
              <a:rPr lang="en-US" sz="1250" dirty="0">
                <a:solidFill>
                  <a:srgbClr val="93A1BC"/>
                </a:solidFill>
                <a:latin typeface="Calibri" pitchFamily="34" charset="0"/>
                <a:ea typeface="Calibri" pitchFamily="34" charset="-122"/>
                <a:cs typeface="Calibri" pitchFamily="34" charset="-120"/>
              </a:rPr>
              <a:t>95th-percentile utilization — the sustained busy level. The capacity-assessment basis; ignores rare one-off spikes.</a:t>
            </a:r>
            <a:endParaRPr lang="en-US" sz="1250" dirty="0"/>
          </a:p>
        </p:txBody>
      </p:sp>
      <p:sp>
        <p:nvSpPr>
          <p:cNvPr id="7" name="Shape 5"/>
          <p:cNvSpPr/>
          <p:nvPr/>
        </p:nvSpPr>
        <p:spPr>
          <a:xfrm>
            <a:off x="566928" y="2505456"/>
            <a:ext cx="310896" cy="310896"/>
          </a:xfrm>
          <a:prstGeom prst="ellipse">
            <a:avLst/>
          </a:prstGeom>
          <a:solidFill>
            <a:srgbClr val="818CF8"/>
          </a:solidFill>
          <a:ln/>
        </p:spPr>
      </p:sp>
      <p:sp>
        <p:nvSpPr>
          <p:cNvPr id="8" name="Text 6"/>
          <p:cNvSpPr/>
          <p:nvPr/>
        </p:nvSpPr>
        <p:spPr>
          <a:xfrm>
            <a:off x="1005840" y="2487168"/>
            <a:ext cx="1920240" cy="320040"/>
          </a:xfrm>
          <a:prstGeom prst="rect">
            <a:avLst/>
          </a:prstGeom>
          <a:noFill/>
          <a:ln/>
        </p:spPr>
        <p:txBody>
          <a:bodyPr wrap="square" lIns="0" tIns="0" rIns="0" bIns="0" rtlCol="0" anchor="ctr"/>
          <a:lstStyle/>
          <a:p>
            <a:pPr indent="0" marL="0">
              <a:buNone/>
            </a:pPr>
            <a:r>
              <a:rPr lang="en-US" sz="1400" b="1" dirty="0">
                <a:solidFill>
                  <a:srgbClr val="818CF8"/>
                </a:solidFill>
                <a:latin typeface="Courier New" pitchFamily="34" charset="0"/>
                <a:ea typeface="Courier New" pitchFamily="34" charset="-122"/>
                <a:cs typeface="Courier New" pitchFamily="34" charset="-120"/>
              </a:rPr>
              <a:t>avg</a:t>
            </a:r>
            <a:endParaRPr lang="en-US" sz="1400" dirty="0"/>
          </a:p>
        </p:txBody>
      </p:sp>
      <p:sp>
        <p:nvSpPr>
          <p:cNvPr id="9" name="Text 7"/>
          <p:cNvSpPr/>
          <p:nvPr/>
        </p:nvSpPr>
        <p:spPr>
          <a:xfrm>
            <a:off x="2880360" y="2468880"/>
            <a:ext cx="4526280" cy="640080"/>
          </a:xfrm>
          <a:prstGeom prst="rect">
            <a:avLst/>
          </a:prstGeom>
          <a:noFill/>
          <a:ln/>
        </p:spPr>
        <p:txBody>
          <a:bodyPr wrap="square" lIns="0" tIns="0" rIns="0" bIns="0" rtlCol="0" anchor="t"/>
          <a:lstStyle/>
          <a:p>
            <a:pPr indent="0" marL="0">
              <a:lnSpc>
                <a:spcPct val="104000"/>
              </a:lnSpc>
              <a:buNone/>
            </a:pPr>
            <a:r>
              <a:rPr lang="en-US" sz="1250" dirty="0">
                <a:solidFill>
                  <a:srgbClr val="93A1BC"/>
                </a:solidFill>
                <a:latin typeface="Calibri" pitchFamily="34" charset="0"/>
                <a:ea typeface="Calibri" pitchFamily="34" charset="-122"/>
                <a:cs typeface="Calibri" pitchFamily="34" charset="-120"/>
              </a:rPr>
              <a:t>mean utilization across all valid samples.</a:t>
            </a:r>
            <a:endParaRPr lang="en-US" sz="1250" dirty="0"/>
          </a:p>
        </p:txBody>
      </p:sp>
      <p:sp>
        <p:nvSpPr>
          <p:cNvPr id="10" name="Shape 8"/>
          <p:cNvSpPr/>
          <p:nvPr/>
        </p:nvSpPr>
        <p:spPr>
          <a:xfrm>
            <a:off x="566928" y="3255264"/>
            <a:ext cx="310896" cy="310896"/>
          </a:xfrm>
          <a:prstGeom prst="ellipse">
            <a:avLst/>
          </a:prstGeom>
          <a:solidFill>
            <a:srgbClr val="FB923C"/>
          </a:solidFill>
          <a:ln/>
        </p:spPr>
      </p:sp>
      <p:sp>
        <p:nvSpPr>
          <p:cNvPr id="11" name="Text 9"/>
          <p:cNvSpPr/>
          <p:nvPr/>
        </p:nvSpPr>
        <p:spPr>
          <a:xfrm>
            <a:off x="1005840" y="3236976"/>
            <a:ext cx="1920240" cy="320040"/>
          </a:xfrm>
          <a:prstGeom prst="rect">
            <a:avLst/>
          </a:prstGeom>
          <a:noFill/>
          <a:ln/>
        </p:spPr>
        <p:txBody>
          <a:bodyPr wrap="square" lIns="0" tIns="0" rIns="0" bIns="0" rtlCol="0" anchor="ctr"/>
          <a:lstStyle/>
          <a:p>
            <a:pPr indent="0" marL="0">
              <a:buNone/>
            </a:pPr>
            <a:r>
              <a:rPr lang="en-US" sz="1400" b="1" dirty="0">
                <a:solidFill>
                  <a:srgbClr val="FB923C"/>
                </a:solidFill>
                <a:latin typeface="Courier New" pitchFamily="34" charset="0"/>
                <a:ea typeface="Courier New" pitchFamily="34" charset="-122"/>
                <a:cs typeface="Courier New" pitchFamily="34" charset="-120"/>
              </a:rPr>
              <a:t>max</a:t>
            </a:r>
            <a:endParaRPr lang="en-US" sz="1400" dirty="0"/>
          </a:p>
        </p:txBody>
      </p:sp>
      <p:sp>
        <p:nvSpPr>
          <p:cNvPr id="12" name="Text 10"/>
          <p:cNvSpPr/>
          <p:nvPr/>
        </p:nvSpPr>
        <p:spPr>
          <a:xfrm>
            <a:off x="2880360" y="3218688"/>
            <a:ext cx="4526280" cy="640080"/>
          </a:xfrm>
          <a:prstGeom prst="rect">
            <a:avLst/>
          </a:prstGeom>
          <a:noFill/>
          <a:ln/>
        </p:spPr>
        <p:txBody>
          <a:bodyPr wrap="square" lIns="0" tIns="0" rIns="0" bIns="0" rtlCol="0" anchor="t"/>
          <a:lstStyle/>
          <a:p>
            <a:pPr indent="0" marL="0">
              <a:lnSpc>
                <a:spcPct val="104000"/>
              </a:lnSpc>
              <a:buNone/>
            </a:pPr>
            <a:r>
              <a:rPr lang="en-US" sz="1250" dirty="0">
                <a:solidFill>
                  <a:srgbClr val="93A1BC"/>
                </a:solidFill>
                <a:latin typeface="Calibri" pitchFamily="34" charset="0"/>
                <a:ea typeface="Calibri" pitchFamily="34" charset="-122"/>
                <a:cs typeface="Calibri" pitchFamily="34" charset="-120"/>
              </a:rPr>
              <a:t>single highest sample utilization.</a:t>
            </a:r>
            <a:endParaRPr lang="en-US" sz="1250" dirty="0"/>
          </a:p>
        </p:txBody>
      </p:sp>
      <p:sp>
        <p:nvSpPr>
          <p:cNvPr id="13" name="Shape 11"/>
          <p:cNvSpPr/>
          <p:nvPr/>
        </p:nvSpPr>
        <p:spPr>
          <a:xfrm>
            <a:off x="566928" y="4005072"/>
            <a:ext cx="310896" cy="310896"/>
          </a:xfrm>
          <a:prstGeom prst="ellipse">
            <a:avLst/>
          </a:prstGeom>
          <a:solidFill>
            <a:srgbClr val="F472B6"/>
          </a:solidFill>
          <a:ln/>
        </p:spPr>
      </p:sp>
      <p:sp>
        <p:nvSpPr>
          <p:cNvPr id="14" name="Text 12"/>
          <p:cNvSpPr/>
          <p:nvPr/>
        </p:nvSpPr>
        <p:spPr>
          <a:xfrm>
            <a:off x="1005840" y="3986784"/>
            <a:ext cx="1920240" cy="320040"/>
          </a:xfrm>
          <a:prstGeom prst="rect">
            <a:avLst/>
          </a:prstGeom>
          <a:noFill/>
          <a:ln/>
        </p:spPr>
        <p:txBody>
          <a:bodyPr wrap="square" lIns="0" tIns="0" rIns="0" bIns="0" rtlCol="0" anchor="ctr"/>
          <a:lstStyle/>
          <a:p>
            <a:pPr indent="0" marL="0">
              <a:buNone/>
            </a:pPr>
            <a:r>
              <a:rPr lang="en-US" sz="1400" b="1" dirty="0">
                <a:solidFill>
                  <a:srgbClr val="F472B6"/>
                </a:solidFill>
                <a:latin typeface="Courier New" pitchFamily="34" charset="0"/>
                <a:ea typeface="Courier New" pitchFamily="34" charset="-122"/>
                <a:cs typeface="Courier New" pitchFamily="34" charset="-120"/>
              </a:rPr>
              <a:t>pkP95 / pkMax</a:t>
            </a:r>
            <a:endParaRPr lang="en-US" sz="1400" dirty="0"/>
          </a:p>
        </p:txBody>
      </p:sp>
      <p:sp>
        <p:nvSpPr>
          <p:cNvPr id="15" name="Text 13"/>
          <p:cNvSpPr/>
          <p:nvPr/>
        </p:nvSpPr>
        <p:spPr>
          <a:xfrm>
            <a:off x="2880360" y="3968496"/>
            <a:ext cx="4526280" cy="640080"/>
          </a:xfrm>
          <a:prstGeom prst="rect">
            <a:avLst/>
          </a:prstGeom>
          <a:noFill/>
          <a:ln/>
        </p:spPr>
        <p:txBody>
          <a:bodyPr wrap="square" lIns="0" tIns="0" rIns="0" bIns="0" rtlCol="0" anchor="t"/>
          <a:lstStyle/>
          <a:p>
            <a:pPr indent="0" marL="0">
              <a:lnSpc>
                <a:spcPct val="104000"/>
              </a:lnSpc>
              <a:buNone/>
            </a:pPr>
            <a:r>
              <a:rPr lang="en-US" sz="1250" dirty="0">
                <a:solidFill>
                  <a:srgbClr val="93A1BC"/>
                </a:solidFill>
                <a:latin typeface="Calibri" pitchFamily="34" charset="0"/>
                <a:ea typeface="Calibri" pitchFamily="34" charset="-122"/>
                <a:cs typeface="Calibri" pitchFamily="34" charset="-120"/>
              </a:rPr>
              <a:t>p95 and max of the peak columns — catches microbursts between polls.</a:t>
            </a:r>
            <a:endParaRPr lang="en-US" sz="1250" dirty="0"/>
          </a:p>
        </p:txBody>
      </p:sp>
      <p:sp>
        <p:nvSpPr>
          <p:cNvPr id="16" name="Shape 14"/>
          <p:cNvSpPr/>
          <p:nvPr/>
        </p:nvSpPr>
        <p:spPr>
          <a:xfrm>
            <a:off x="7772400" y="1737360"/>
            <a:ext cx="3886200" cy="4389120"/>
          </a:xfrm>
          <a:prstGeom prst="roundRect">
            <a:avLst>
              <a:gd name="adj" fmla="val 2118"/>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7" name="Text 15"/>
          <p:cNvSpPr/>
          <p:nvPr/>
        </p:nvSpPr>
        <p:spPr>
          <a:xfrm>
            <a:off x="8001000" y="1901952"/>
            <a:ext cx="3474720" cy="320040"/>
          </a:xfrm>
          <a:prstGeom prst="rect">
            <a:avLst/>
          </a:prstGeom>
          <a:noFill/>
          <a:ln/>
        </p:spPr>
        <p:txBody>
          <a:bodyPr wrap="square" lIns="0" tIns="0" rIns="0" bIns="0" rtlCol="0" anchor="ctr"/>
          <a:lstStyle/>
          <a:p>
            <a:pPr indent="0" marL="0">
              <a:buNone/>
            </a:pPr>
            <a:r>
              <a:rPr lang="en-US" sz="1400" b="1" dirty="0">
                <a:solidFill>
                  <a:srgbClr val="38BDF8"/>
                </a:solidFill>
                <a:latin typeface="Courier New" pitchFamily="34" charset="0"/>
                <a:ea typeface="Courier New" pitchFamily="34" charset="-122"/>
                <a:cs typeface="Courier New" pitchFamily="34" charset="-120"/>
              </a:rPr>
              <a:t>percentile(arr, p)</a:t>
            </a:r>
            <a:endParaRPr lang="en-US" sz="1400" dirty="0"/>
          </a:p>
        </p:txBody>
      </p:sp>
      <p:sp>
        <p:nvSpPr>
          <p:cNvPr id="18" name="Text 16"/>
          <p:cNvSpPr/>
          <p:nvPr/>
        </p:nvSpPr>
        <p:spPr>
          <a:xfrm>
            <a:off x="8001000" y="2231136"/>
            <a:ext cx="3474720" cy="274320"/>
          </a:xfrm>
          <a:prstGeom prst="rect">
            <a:avLst/>
          </a:prstGeom>
          <a:noFill/>
          <a:ln/>
        </p:spPr>
        <p:txBody>
          <a:bodyPr wrap="square" lIns="0" tIns="0" rIns="0" bIns="0" rtlCol="0" anchor="ctr"/>
          <a:lstStyle/>
          <a:p>
            <a:pPr indent="0" marL="0">
              <a:buNone/>
            </a:pPr>
            <a:r>
              <a:rPr lang="en-US" sz="1100" i="1" dirty="0">
                <a:solidFill>
                  <a:srgbClr val="6B7A96"/>
                </a:solidFill>
                <a:latin typeface="Calibri" pitchFamily="34" charset="0"/>
                <a:ea typeface="Calibri" pitchFamily="34" charset="-122"/>
                <a:cs typeface="Calibri" pitchFamily="34" charset="-120"/>
              </a:rPr>
              <a:t>linear interpolation between order statistics</a:t>
            </a:r>
            <a:endParaRPr lang="en-US" sz="1100" dirty="0"/>
          </a:p>
        </p:txBody>
      </p:sp>
      <p:sp>
        <p:nvSpPr>
          <p:cNvPr id="19" name="Shape 17"/>
          <p:cNvSpPr/>
          <p:nvPr/>
        </p:nvSpPr>
        <p:spPr>
          <a:xfrm>
            <a:off x="7973568" y="2606040"/>
            <a:ext cx="3520440" cy="2148840"/>
          </a:xfrm>
          <a:prstGeom prst="roundRect">
            <a:avLst>
              <a:gd name="adj" fmla="val 3830"/>
            </a:avLst>
          </a:prstGeom>
          <a:solidFill>
            <a:srgbClr val="1E2740"/>
          </a:solidFill>
          <a:ln w="12700">
            <a:solidFill>
              <a:srgbClr val="2A3550"/>
            </a:solidFill>
            <a:prstDash val="solid"/>
          </a:ln>
        </p:spPr>
      </p:sp>
      <p:sp>
        <p:nvSpPr>
          <p:cNvPr id="20" name="Text 18"/>
          <p:cNvSpPr/>
          <p:nvPr/>
        </p:nvSpPr>
        <p:spPr>
          <a:xfrm>
            <a:off x="8138160" y="2606040"/>
            <a:ext cx="3191256" cy="2148840"/>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a = sort(arr)</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i = p * (n - 1)</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lo = floor(i)</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hi = ceil(i)</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return a[lo] +</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 (a[hi]-a[lo])*(i-lo)</a:t>
            </a:r>
            <a:endParaRPr lang="en-US" sz="1350" dirty="0"/>
          </a:p>
        </p:txBody>
      </p:sp>
      <p:sp>
        <p:nvSpPr>
          <p:cNvPr id="21" name="Text 19"/>
          <p:cNvSpPr/>
          <p:nvPr/>
        </p:nvSpPr>
        <p:spPr>
          <a:xfrm>
            <a:off x="8001000" y="4937760"/>
            <a:ext cx="3474720" cy="822960"/>
          </a:xfrm>
          <a:prstGeom prst="rect">
            <a:avLst/>
          </a:prstGeom>
          <a:noFill/>
          <a:ln/>
        </p:spPr>
        <p:txBody>
          <a:bodyPr wrap="square" lIns="0" tIns="0" rIns="0" bIns="0" rtlCol="0" anchor="ctr"/>
          <a:lstStyle/>
          <a:p>
            <a:pPr indent="0" marL="0">
              <a:lnSpc>
                <a:spcPct val="110000"/>
              </a:lnSpc>
              <a:buNone/>
            </a:pPr>
            <a:r>
              <a:rPr lang="en-US" sz="1150" dirty="0">
                <a:solidFill>
                  <a:srgbClr val="93A1BC"/>
                </a:solidFill>
                <a:latin typeface="Courier New" pitchFamily="34" charset="0"/>
                <a:ea typeface="Courier New" pitchFamily="34" charset="-122"/>
                <a:cs typeface="Courier New" pitchFamily="34" charset="-120"/>
              </a:rPr>
              <a:t>p=0.95, n=100  →  i=94.05
</a:t>
            </a:r>
            <a:pPr indent="0" marL="0">
              <a:lnSpc>
                <a:spcPct val="110000"/>
              </a:lnSpc>
              <a:buNone/>
            </a:pPr>
            <a:r>
              <a:rPr lang="en-US" sz="1150" dirty="0">
                <a:solidFill>
                  <a:srgbClr val="E6EDF7"/>
                </a:solidFill>
                <a:latin typeface="Courier New" pitchFamily="34" charset="0"/>
                <a:ea typeface="Courier New" pitchFamily="34" charset="-122"/>
                <a:cs typeface="Courier New" pitchFamily="34" charset="-120"/>
              </a:rPr>
              <a:t>blends the 95th &amp; 96th values.</a:t>
            </a:r>
            <a:endParaRPr lang="en-US" sz="1150" dirty="0"/>
          </a:p>
        </p:txBody>
      </p:sp>
      <p:sp>
        <p:nvSpPr>
          <p:cNvPr id="22" name="Text 20"/>
          <p:cNvSpPr/>
          <p:nvPr/>
        </p:nvSpPr>
        <p:spPr>
          <a:xfrm>
            <a:off x="566928" y="5074920"/>
            <a:ext cx="6858000" cy="914400"/>
          </a:xfrm>
          <a:prstGeom prst="rect">
            <a:avLst/>
          </a:prstGeom>
          <a:noFill/>
          <a:ln/>
        </p:spPr>
        <p:txBody>
          <a:bodyPr wrap="square" lIns="0" tIns="0" rIns="0" bIns="0" rtlCol="0" anchor="t"/>
          <a:lstStyle/>
          <a:p>
            <a:pPr indent="0" marL="0">
              <a:lnSpc>
                <a:spcPct val="108000"/>
              </a:lnSpc>
              <a:buNone/>
            </a:pPr>
            <a:r>
              <a:rPr lang="en-US" sz="1300" i="1" dirty="0">
                <a:solidFill>
                  <a:srgbClr val="93A1BC"/>
                </a:solidFill>
                <a:latin typeface="Calibri" pitchFamily="34" charset="0"/>
                <a:ea typeface="Calibri" pitchFamily="34" charset="-122"/>
                <a:cs typeface="Calibri" pitchFamily="34" charset="-120"/>
              </a:rPr>
              <a:t>p95 for the headline is taken over all samples; the forecast re-takes it per day (next).</a:t>
            </a:r>
            <a:endParaRPr lang="en-US" sz="1300" dirty="0"/>
          </a:p>
        </p:txBody>
      </p:sp>
      <p:sp>
        <p:nvSpPr>
          <p:cNvPr id="23" name="Text 21"/>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24" name="Text 22"/>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HOW A % BECOMES NORMAL / WARNING / HIGH / CRITICAL</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Thresholds &amp; state classification</a:t>
            </a:r>
            <a:endParaRPr lang="en-US" sz="2900" dirty="0"/>
          </a:p>
        </p:txBody>
      </p:sp>
      <p:sp>
        <p:nvSpPr>
          <p:cNvPr id="4" name="Shape 2"/>
          <p:cNvSpPr/>
          <p:nvPr/>
        </p:nvSpPr>
        <p:spPr>
          <a:xfrm>
            <a:off x="548640" y="1737360"/>
            <a:ext cx="7040880" cy="1600200"/>
          </a:xfrm>
          <a:prstGeom prst="roundRect">
            <a:avLst>
              <a:gd name="adj" fmla="val 5143"/>
            </a:avLst>
          </a:prstGeom>
          <a:solidFill>
            <a:srgbClr val="1E2740"/>
          </a:solidFill>
          <a:ln w="12700">
            <a:solidFill>
              <a:srgbClr val="2A3550"/>
            </a:solidFill>
            <a:prstDash val="solid"/>
          </a:ln>
        </p:spPr>
      </p:sp>
      <p:sp>
        <p:nvSpPr>
          <p:cNvPr id="5" name="Text 3"/>
          <p:cNvSpPr/>
          <p:nvPr/>
        </p:nvSpPr>
        <p:spPr>
          <a:xfrm>
            <a:off x="713232" y="1737360"/>
            <a:ext cx="6711696" cy="1600200"/>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state(util) =  util ≥ crit  → critical</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               util ≥ high  → high</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               util ≥ warn  → warning</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               else          → normal</a:t>
            </a:r>
            <a:endParaRPr lang="en-US" sz="1350" dirty="0"/>
          </a:p>
        </p:txBody>
      </p:sp>
      <p:sp>
        <p:nvSpPr>
          <p:cNvPr id="6" name="Text 4"/>
          <p:cNvSpPr/>
          <p:nvPr/>
        </p:nvSpPr>
        <p:spPr>
          <a:xfrm>
            <a:off x="548640" y="3520440"/>
            <a:ext cx="7040880" cy="274320"/>
          </a:xfrm>
          <a:prstGeom prst="rect">
            <a:avLst/>
          </a:prstGeom>
          <a:noFill/>
          <a:ln/>
        </p:spPr>
        <p:txBody>
          <a:bodyPr wrap="square" lIns="0" tIns="0" rIns="0" bIns="0" rtlCol="0" anchor="t"/>
          <a:lstStyle/>
          <a:p>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Bands resolve in priority order — </a:t>
            </a:r>
            <a:pPr indent="0" marL="0">
              <a:lnSpc>
                <a:spcPct val="102000"/>
              </a:lnSpc>
              <a:spcAft>
                <a:spcPts val="500"/>
              </a:spcAft>
              <a:buNone/>
            </a:pPr>
            <a:r>
              <a:rPr lang="en-US" sz="1400" b="1" dirty="0">
                <a:solidFill>
                  <a:srgbClr val="38BDF8"/>
                </a:solidFill>
                <a:latin typeface="Calibri" pitchFamily="34" charset="0"/>
                <a:ea typeface="Calibri" pitchFamily="34" charset="-122"/>
                <a:cs typeface="Calibri" pitchFamily="34" charset="-120"/>
              </a:rPr>
              <a:t>per-link  ›  per-class  ›  global</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 with optional separate off-hours bands.</a:t>
            </a:r>
            <a:endParaRPr lang="en-US" sz="1400" dirty="0"/>
          </a:p>
        </p:txBody>
      </p:sp>
      <p:sp>
        <p:nvSpPr>
          <p:cNvPr id="7" name="Text 5"/>
          <p:cNvSpPr/>
          <p:nvPr/>
        </p:nvSpPr>
        <p:spPr>
          <a:xfrm>
            <a:off x="548640" y="4160520"/>
            <a:ext cx="7040880" cy="2743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E6EDF7"/>
                </a:solidFill>
                <a:latin typeface="Calibri" pitchFamily="34" charset="0"/>
                <a:ea typeface="Calibri" pitchFamily="34" charset="-122"/>
                <a:cs typeface="Calibri" pitchFamily="34" charset="-120"/>
              </a:rPr>
              <a:t>Global default   warn 60% · high 75% · crit 90%</a:t>
            </a:r>
            <a:endParaRPr lang="en-US" sz="1250" dirty="0"/>
          </a:p>
          <a:p>
            <a:pPr marL="177800" indent="-177800">
              <a:spcAft>
                <a:spcPts val="600"/>
              </a:spcAft>
              <a:buSzPct val="100000"/>
              <a:buChar char="•"/>
            </a:pPr>
            <a:r>
              <a:rPr lang="en-US" sz="1250" dirty="0">
                <a:solidFill>
                  <a:srgbClr val="FBBF24"/>
                </a:solidFill>
                <a:latin typeface="Calibri" pitchFamily="34" charset="0"/>
                <a:ea typeface="Calibri" pitchFamily="34" charset="-122"/>
                <a:cs typeface="Calibri" pitchFamily="34" charset="-120"/>
              </a:rPr>
              <a:t>Trading class    warn 45% · high 60% · crit 80%   (tighter)</a:t>
            </a:r>
            <a:endParaRPr lang="en-US" sz="1250" dirty="0"/>
          </a:p>
          <a:p>
            <a:pPr marL="177800" indent="-177800">
              <a:spcAft>
                <a:spcPts val="600"/>
              </a:spcAft>
              <a:buSzPct val="100000"/>
              <a:buChar char="•"/>
            </a:pPr>
            <a:r>
              <a:rPr lang="en-US" sz="1250" dirty="0">
                <a:solidFill>
                  <a:srgbClr val="93A1BC"/>
                </a:solidFill>
                <a:latin typeface="Calibri" pitchFamily="34" charset="0"/>
                <a:ea typeface="Calibri" pitchFamily="34" charset="-122"/>
                <a:cs typeface="Calibri" pitchFamily="34" charset="-120"/>
              </a:rPr>
              <a:t>Backup class     warn 75% · high 88% · crit 96%   (looser)</a:t>
            </a:r>
            <a:endParaRPr lang="en-US" sz="1250" dirty="0"/>
          </a:p>
          <a:p>
            <a:pPr marL="177800" indent="-177800">
              <a:spcAft>
                <a:spcPts val="600"/>
              </a:spcAft>
              <a:buSzPct val="100000"/>
              <a:buChar char="•"/>
            </a:pPr>
            <a:r>
              <a:rPr lang="en-US" sz="1250" dirty="0">
                <a:solidFill>
                  <a:srgbClr val="93A1BC"/>
                </a:solidFill>
                <a:latin typeface="Calibri" pitchFamily="34" charset="0"/>
                <a:ea typeface="Calibri" pitchFamily="34" charset="-122"/>
                <a:cs typeface="Calibri" pitchFamily="34" charset="-120"/>
              </a:rPr>
              <a:t>Off-hours bands optional — a link judged against different limits at night</a:t>
            </a:r>
            <a:endParaRPr lang="en-US" sz="1250" dirty="0"/>
          </a:p>
        </p:txBody>
      </p:sp>
      <p:sp>
        <p:nvSpPr>
          <p:cNvPr id="8" name="Shape 6"/>
          <p:cNvSpPr/>
          <p:nvPr/>
        </p:nvSpPr>
        <p:spPr>
          <a:xfrm>
            <a:off x="7863840" y="1737360"/>
            <a:ext cx="3794760" cy="4389120"/>
          </a:xfrm>
          <a:prstGeom prst="roundRect">
            <a:avLst>
              <a:gd name="adj" fmla="val 2169"/>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8092440" y="1874520"/>
            <a:ext cx="3337560" cy="27432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Global bands</a:t>
            </a:r>
            <a:endParaRPr lang="en-US" sz="1400" dirty="0"/>
          </a:p>
        </p:txBody>
      </p:sp>
      <p:sp>
        <p:nvSpPr>
          <p:cNvPr id="10" name="Shape 8"/>
          <p:cNvSpPr/>
          <p:nvPr/>
        </p:nvSpPr>
        <p:spPr>
          <a:xfrm>
            <a:off x="8092440" y="2286000"/>
            <a:ext cx="3337560" cy="566928"/>
          </a:xfrm>
          <a:prstGeom prst="roundRect">
            <a:avLst>
              <a:gd name="adj" fmla="val 8065"/>
            </a:avLst>
          </a:prstGeom>
          <a:solidFill>
            <a:srgbClr val="F43F5E"/>
          </a:solidFill>
          <a:ln/>
        </p:spPr>
      </p:sp>
      <p:sp>
        <p:nvSpPr>
          <p:cNvPr id="11" name="Text 9"/>
          <p:cNvSpPr/>
          <p:nvPr/>
        </p:nvSpPr>
        <p:spPr>
          <a:xfrm>
            <a:off x="8275320" y="2286000"/>
            <a:ext cx="3063240" cy="566928"/>
          </a:xfrm>
          <a:prstGeom prst="rect">
            <a:avLst/>
          </a:prstGeom>
          <a:noFill/>
          <a:ln/>
        </p:spPr>
        <p:txBody>
          <a:bodyPr wrap="square" lIns="0" tIns="0" rIns="0" bIns="0" rtlCol="0" anchor="ctr"/>
          <a:lstStyle/>
          <a:p>
            <a:pPr indent="0" marL="0">
              <a:buNone/>
            </a:pPr>
            <a:r>
              <a:rPr lang="en-US" sz="1300" b="1" dirty="0">
                <a:solidFill>
                  <a:srgbClr val="0A0E17"/>
                </a:solidFill>
                <a:latin typeface="Calibri" pitchFamily="34" charset="0"/>
                <a:ea typeface="Calibri" pitchFamily="34" charset="-122"/>
                <a:cs typeface="Calibri" pitchFamily="34" charset="-120"/>
              </a:rPr>
              <a:t>critical   </a:t>
            </a:r>
            <a:pPr indent="0" marL="0">
              <a:buNone/>
            </a:pPr>
            <a:r>
              <a:rPr lang="en-US" sz="1300" dirty="0">
                <a:solidFill>
                  <a:srgbClr val="0A0E17"/>
                </a:solidFill>
                <a:latin typeface="Calibri" pitchFamily="34" charset="0"/>
                <a:ea typeface="Calibri" pitchFamily="34" charset="-122"/>
                <a:cs typeface="Calibri" pitchFamily="34" charset="-120"/>
              </a:rPr>
              <a:t>90–100%</a:t>
            </a:r>
            <a:endParaRPr lang="en-US" sz="1300" dirty="0"/>
          </a:p>
        </p:txBody>
      </p:sp>
      <p:sp>
        <p:nvSpPr>
          <p:cNvPr id="12" name="Shape 10"/>
          <p:cNvSpPr/>
          <p:nvPr/>
        </p:nvSpPr>
        <p:spPr>
          <a:xfrm>
            <a:off x="8092440" y="2962656"/>
            <a:ext cx="3337560" cy="566928"/>
          </a:xfrm>
          <a:prstGeom prst="roundRect">
            <a:avLst>
              <a:gd name="adj" fmla="val 8065"/>
            </a:avLst>
          </a:prstGeom>
          <a:solidFill>
            <a:srgbClr val="FB923C"/>
          </a:solidFill>
          <a:ln/>
        </p:spPr>
      </p:sp>
      <p:sp>
        <p:nvSpPr>
          <p:cNvPr id="13" name="Text 11"/>
          <p:cNvSpPr/>
          <p:nvPr/>
        </p:nvSpPr>
        <p:spPr>
          <a:xfrm>
            <a:off x="8275320" y="2962656"/>
            <a:ext cx="3063240" cy="566928"/>
          </a:xfrm>
          <a:prstGeom prst="rect">
            <a:avLst/>
          </a:prstGeom>
          <a:noFill/>
          <a:ln/>
        </p:spPr>
        <p:txBody>
          <a:bodyPr wrap="square" lIns="0" tIns="0" rIns="0" bIns="0" rtlCol="0" anchor="ctr"/>
          <a:lstStyle/>
          <a:p>
            <a:pPr indent="0" marL="0">
              <a:buNone/>
            </a:pPr>
            <a:r>
              <a:rPr lang="en-US" sz="1300" b="1" dirty="0">
                <a:solidFill>
                  <a:srgbClr val="0A0E17"/>
                </a:solidFill>
                <a:latin typeface="Calibri" pitchFamily="34" charset="0"/>
                <a:ea typeface="Calibri" pitchFamily="34" charset="-122"/>
                <a:cs typeface="Calibri" pitchFamily="34" charset="-120"/>
              </a:rPr>
              <a:t>high   </a:t>
            </a:r>
            <a:pPr indent="0" marL="0">
              <a:buNone/>
            </a:pPr>
            <a:r>
              <a:rPr lang="en-US" sz="1300" dirty="0">
                <a:solidFill>
                  <a:srgbClr val="0A0E17"/>
                </a:solidFill>
                <a:latin typeface="Calibri" pitchFamily="34" charset="0"/>
                <a:ea typeface="Calibri" pitchFamily="34" charset="-122"/>
                <a:cs typeface="Calibri" pitchFamily="34" charset="-120"/>
              </a:rPr>
              <a:t>75–90%</a:t>
            </a:r>
            <a:endParaRPr lang="en-US" sz="1300" dirty="0"/>
          </a:p>
        </p:txBody>
      </p:sp>
      <p:sp>
        <p:nvSpPr>
          <p:cNvPr id="14" name="Shape 12"/>
          <p:cNvSpPr/>
          <p:nvPr/>
        </p:nvSpPr>
        <p:spPr>
          <a:xfrm>
            <a:off x="8092440" y="3639312"/>
            <a:ext cx="3337560" cy="566928"/>
          </a:xfrm>
          <a:prstGeom prst="roundRect">
            <a:avLst>
              <a:gd name="adj" fmla="val 8065"/>
            </a:avLst>
          </a:prstGeom>
          <a:solidFill>
            <a:srgbClr val="FBBF24"/>
          </a:solidFill>
          <a:ln/>
        </p:spPr>
      </p:sp>
      <p:sp>
        <p:nvSpPr>
          <p:cNvPr id="15" name="Text 13"/>
          <p:cNvSpPr/>
          <p:nvPr/>
        </p:nvSpPr>
        <p:spPr>
          <a:xfrm>
            <a:off x="8275320" y="3639312"/>
            <a:ext cx="3063240" cy="566928"/>
          </a:xfrm>
          <a:prstGeom prst="rect">
            <a:avLst/>
          </a:prstGeom>
          <a:noFill/>
          <a:ln/>
        </p:spPr>
        <p:txBody>
          <a:bodyPr wrap="square" lIns="0" tIns="0" rIns="0" bIns="0" rtlCol="0" anchor="ctr"/>
          <a:lstStyle/>
          <a:p>
            <a:pPr indent="0" marL="0">
              <a:buNone/>
            </a:pPr>
            <a:r>
              <a:rPr lang="en-US" sz="1300" b="1" dirty="0">
                <a:solidFill>
                  <a:srgbClr val="0A0E17"/>
                </a:solidFill>
                <a:latin typeface="Calibri" pitchFamily="34" charset="0"/>
                <a:ea typeface="Calibri" pitchFamily="34" charset="-122"/>
                <a:cs typeface="Calibri" pitchFamily="34" charset="-120"/>
              </a:rPr>
              <a:t>warning   </a:t>
            </a:r>
            <a:pPr indent="0" marL="0">
              <a:buNone/>
            </a:pPr>
            <a:r>
              <a:rPr lang="en-US" sz="1300" dirty="0">
                <a:solidFill>
                  <a:srgbClr val="0A0E17"/>
                </a:solidFill>
                <a:latin typeface="Calibri" pitchFamily="34" charset="0"/>
                <a:ea typeface="Calibri" pitchFamily="34" charset="-122"/>
                <a:cs typeface="Calibri" pitchFamily="34" charset="-120"/>
              </a:rPr>
              <a:t>60–75%</a:t>
            </a:r>
            <a:endParaRPr lang="en-US" sz="1300" dirty="0"/>
          </a:p>
        </p:txBody>
      </p:sp>
      <p:sp>
        <p:nvSpPr>
          <p:cNvPr id="16" name="Shape 14"/>
          <p:cNvSpPr/>
          <p:nvPr/>
        </p:nvSpPr>
        <p:spPr>
          <a:xfrm>
            <a:off x="8092440" y="4315968"/>
            <a:ext cx="3337560" cy="1234440"/>
          </a:xfrm>
          <a:prstGeom prst="roundRect">
            <a:avLst>
              <a:gd name="adj" fmla="val 3704"/>
            </a:avLst>
          </a:prstGeom>
          <a:solidFill>
            <a:srgbClr val="34D399"/>
          </a:solidFill>
          <a:ln/>
        </p:spPr>
      </p:sp>
      <p:sp>
        <p:nvSpPr>
          <p:cNvPr id="17" name="Text 15"/>
          <p:cNvSpPr/>
          <p:nvPr/>
        </p:nvSpPr>
        <p:spPr>
          <a:xfrm>
            <a:off x="8275320" y="4315968"/>
            <a:ext cx="3063240" cy="1234440"/>
          </a:xfrm>
          <a:prstGeom prst="rect">
            <a:avLst/>
          </a:prstGeom>
          <a:noFill/>
          <a:ln/>
        </p:spPr>
        <p:txBody>
          <a:bodyPr wrap="square" lIns="0" tIns="0" rIns="0" bIns="0" rtlCol="0" anchor="ctr"/>
          <a:lstStyle/>
          <a:p>
            <a:pPr indent="0" marL="0">
              <a:buNone/>
            </a:pPr>
            <a:r>
              <a:rPr lang="en-US" sz="1300" b="1" dirty="0">
                <a:solidFill>
                  <a:srgbClr val="0A0E17"/>
                </a:solidFill>
                <a:latin typeface="Calibri" pitchFamily="34" charset="0"/>
                <a:ea typeface="Calibri" pitchFamily="34" charset="-122"/>
                <a:cs typeface="Calibri" pitchFamily="34" charset="-120"/>
              </a:rPr>
              <a:t>normal   </a:t>
            </a:r>
            <a:pPr indent="0" marL="0">
              <a:buNone/>
            </a:pPr>
            <a:r>
              <a:rPr lang="en-US" sz="1300" dirty="0">
                <a:solidFill>
                  <a:srgbClr val="0A0E17"/>
                </a:solidFill>
                <a:latin typeface="Calibri" pitchFamily="34" charset="0"/>
                <a:ea typeface="Calibri" pitchFamily="34" charset="-122"/>
                <a:cs typeface="Calibri" pitchFamily="34" charset="-120"/>
              </a:rPr>
              <a:t>0–60%</a:t>
            </a:r>
            <a:endParaRPr lang="en-US" sz="1300" dirty="0"/>
          </a:p>
        </p:txBody>
      </p:sp>
      <p:sp>
        <p:nvSpPr>
          <p:cNvPr id="18" name="Text 16"/>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19" name="Text 17"/>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THE LENS FOR CONGESTION, UPGRADES AND ANOMALIES</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Business hours — minute-accurate &amp; timezone-consistent</a:t>
            </a:r>
            <a:endParaRPr lang="en-US" sz="2900" dirty="0"/>
          </a:p>
        </p:txBody>
      </p:sp>
      <p:sp>
        <p:nvSpPr>
          <p:cNvPr id="4" name="Shape 2"/>
          <p:cNvSpPr/>
          <p:nvPr/>
        </p:nvSpPr>
        <p:spPr>
          <a:xfrm>
            <a:off x="548640" y="1737360"/>
            <a:ext cx="7406640" cy="1280160"/>
          </a:xfrm>
          <a:prstGeom prst="roundRect">
            <a:avLst>
              <a:gd name="adj" fmla="val 6429"/>
            </a:avLst>
          </a:prstGeom>
          <a:solidFill>
            <a:srgbClr val="1E2740"/>
          </a:solidFill>
          <a:ln w="12700">
            <a:solidFill>
              <a:srgbClr val="2A3550"/>
            </a:solidFill>
            <a:prstDash val="solid"/>
          </a:ln>
        </p:spPr>
      </p:sp>
      <p:sp>
        <p:nvSpPr>
          <p:cNvPr id="5" name="Text 3"/>
          <p:cNvSpPr/>
          <p:nvPr/>
        </p:nvSpPr>
        <p:spPr>
          <a:xfrm>
            <a:off x="713232" y="1737360"/>
            <a:ext cx="7077456" cy="1280160"/>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isBH(ts):</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  day in businessHours.days          (e.g. Mon-Fri)</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  AND  startHr:startMin &lt;= clock &lt; endHr:endMin</a:t>
            </a:r>
            <a:endParaRPr lang="en-US" sz="1350" dirty="0"/>
          </a:p>
        </p:txBody>
      </p:sp>
      <p:sp>
        <p:nvSpPr>
          <p:cNvPr id="6" name="Text 4"/>
          <p:cNvSpPr/>
          <p:nvPr/>
        </p:nvSpPr>
        <p:spPr>
          <a:xfrm>
            <a:off x="548640" y="3200400"/>
            <a:ext cx="7406640" cy="274320"/>
          </a:xfrm>
          <a:prstGeom prst="rect">
            <a:avLst/>
          </a:prstGeom>
          <a:noFill/>
          <a:ln/>
        </p:spPr>
        <p:txBody>
          <a:bodyPr wrap="square" lIns="0" tIns="0" rIns="0" bIns="0" rtlCol="0" anchor="t"/>
          <a:lstStyle/>
          <a:p>
            <a:pPr indent="0" marL="0">
              <a:lnSpc>
                <a:spcPct val="102000"/>
              </a:lnSpc>
              <a:spcAft>
                <a:spcPts val="500"/>
              </a:spcAft>
              <a:buNone/>
            </a:pPr>
            <a:r>
              <a:rPr lang="en-US" sz="1400" b="1" dirty="0">
                <a:solidFill>
                  <a:srgbClr val="E6EDF7"/>
                </a:solidFill>
                <a:latin typeface="Calibri" pitchFamily="34" charset="0"/>
                <a:ea typeface="Calibri" pitchFamily="34" charset="-122"/>
                <a:cs typeface="Calibri" pitchFamily="34" charset="-120"/>
              </a:rPr>
              <a:t>Market-hours preset:  </a:t>
            </a:r>
            <a:pPr indent="0" marL="0">
              <a:lnSpc>
                <a:spcPct val="102000"/>
              </a:lnSpc>
              <a:spcAft>
                <a:spcPts val="500"/>
              </a:spcAft>
              <a:buNone/>
            </a:pPr>
            <a:r>
              <a:rPr lang="en-US" sz="1400" dirty="0">
                <a:solidFill>
                  <a:srgbClr val="38BDF8"/>
                </a:solidFill>
                <a:latin typeface="Courier New" pitchFamily="34" charset="0"/>
                <a:ea typeface="Courier New" pitchFamily="34" charset="-122"/>
                <a:cs typeface="Courier New" pitchFamily="34" charset="-120"/>
              </a:rPr>
              <a:t>09:15 – 15:30, Mon–Fri</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  (SEBI/BSE).</a:t>
            </a:r>
            <a:endParaRPr lang="en-US" sz="1400" dirty="0"/>
          </a:p>
        </p:txBody>
      </p:sp>
      <p:sp>
        <p:nvSpPr>
          <p:cNvPr id="7" name="Text 5"/>
          <p:cNvSpPr/>
          <p:nvPr/>
        </p:nvSpPr>
        <p:spPr>
          <a:xfrm>
            <a:off x="548640" y="3749040"/>
            <a:ext cx="7406640" cy="27432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E6EDF7"/>
                </a:solidFill>
                <a:latin typeface="Calibri" pitchFamily="34" charset="0"/>
                <a:ea typeface="Calibri" pitchFamily="34" charset="-122"/>
                <a:cs typeface="Calibri" pitchFamily="34" charset="-120"/>
              </a:rPr>
              <a:t>Minute-accurate — 09:15 and 15:30 are honoured, not rounded to the hour.</a:t>
            </a:r>
            <a:endParaRPr lang="en-US" sz="1300" dirty="0"/>
          </a:p>
          <a:p>
            <a:pPr marL="177800" indent="-177800">
              <a:spcAft>
                <a:spcPts val="600"/>
              </a:spcAft>
              <a:buSzPct val="100000"/>
              <a:buChar char="•"/>
            </a:pPr>
            <a:r>
              <a:rPr lang="en-US" sz="1300" dirty="0">
                <a:solidFill>
                  <a:srgbClr val="E6EDF7"/>
                </a:solidFill>
                <a:latin typeface="Calibri" pitchFamily="34" charset="0"/>
                <a:ea typeface="Calibri" pitchFamily="34" charset="-122"/>
                <a:cs typeface="Calibri" pitchFamily="34" charset="-120"/>
              </a:rPr>
              <a:t>All timestamps sit on one wall-clock (the configured zone), so the report cover, the breach rows and the market-hour flags never disagree across browsers.</a:t>
            </a:r>
            <a:endParaRPr lang="en-US" sz="1300" dirty="0"/>
          </a:p>
          <a:p>
            <a:pPr marL="177800" indent="-177800">
              <a:spcAft>
                <a:spcPts val="600"/>
              </a:spcAft>
              <a:buSzPct val="100000"/>
              <a:buChar char="•"/>
            </a:pPr>
            <a:r>
              <a:rPr lang="en-US" sz="1300" dirty="0">
                <a:solidFill>
                  <a:srgbClr val="93A1BC"/>
                </a:solidFill>
                <a:latin typeface="Calibri" pitchFamily="34" charset="0"/>
                <a:ea typeface="Calibri" pitchFamily="34" charset="-122"/>
                <a:cs typeface="Calibri" pitchFamily="34" charset="-120"/>
              </a:rPr>
              <a:t>Feeds: business-hour breach counts, the upgrade policy, the dow×hour anomaly baseline, heat-maps, and chart shading.</a:t>
            </a:r>
            <a:endParaRPr lang="en-US" sz="1300" dirty="0"/>
          </a:p>
        </p:txBody>
      </p:sp>
      <p:sp>
        <p:nvSpPr>
          <p:cNvPr id="8" name="Shape 6"/>
          <p:cNvSpPr/>
          <p:nvPr/>
        </p:nvSpPr>
        <p:spPr>
          <a:xfrm>
            <a:off x="8229600" y="1737360"/>
            <a:ext cx="3429000" cy="3794760"/>
          </a:xfrm>
          <a:prstGeom prst="roundRect">
            <a:avLst>
              <a:gd name="adj" fmla="val 2400"/>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8458200" y="1874520"/>
            <a:ext cx="2971800" cy="27432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Used by</a:t>
            </a:r>
            <a:endParaRPr lang="en-US" sz="1400" dirty="0"/>
          </a:p>
        </p:txBody>
      </p:sp>
      <p:sp>
        <p:nvSpPr>
          <p:cNvPr id="10" name="Shape 8"/>
          <p:cNvSpPr/>
          <p:nvPr/>
        </p:nvSpPr>
        <p:spPr>
          <a:xfrm>
            <a:off x="8485632" y="2286000"/>
            <a:ext cx="329184" cy="329184"/>
          </a:xfrm>
          <a:prstGeom prst="ellipse">
            <a:avLst/>
          </a:prstGeom>
          <a:solidFill>
            <a:srgbClr val="818CF8"/>
          </a:solidFill>
          <a:ln/>
        </p:spPr>
      </p:sp>
      <p:sp>
        <p:nvSpPr>
          <p:cNvPr id="11" name="Text 9"/>
          <p:cNvSpPr/>
          <p:nvPr/>
        </p:nvSpPr>
        <p:spPr>
          <a:xfrm>
            <a:off x="8485632" y="2286000"/>
            <a:ext cx="329184" cy="329184"/>
          </a:xfrm>
          <a:prstGeom prst="rect">
            <a:avLst/>
          </a:prstGeom>
          <a:noFill/>
          <a:ln/>
        </p:spPr>
        <p:txBody>
          <a:bodyPr wrap="square" lIns="0" tIns="0" rIns="0" bIns="0" rtlCol="0" anchor="ctr"/>
          <a:lstStyle/>
          <a:p>
            <a:pPr algn="ctr" indent="0" marL="0">
              <a:buNone/>
            </a:pPr>
            <a:r>
              <a:rPr lang="en-US" sz="792" b="1" dirty="0">
                <a:solidFill>
                  <a:srgbClr val="0A0E17"/>
                </a:solidFill>
                <a:latin typeface="Calibri" pitchFamily="34" charset="0"/>
                <a:ea typeface="Calibri" pitchFamily="34" charset="-122"/>
                <a:cs typeface="Calibri" pitchFamily="34" charset="-120"/>
              </a:rPr>
              <a:t>⏱</a:t>
            </a:r>
            <a:endParaRPr lang="en-US" sz="792" dirty="0"/>
          </a:p>
        </p:txBody>
      </p:sp>
      <p:sp>
        <p:nvSpPr>
          <p:cNvPr id="12" name="Text 10"/>
          <p:cNvSpPr/>
          <p:nvPr/>
        </p:nvSpPr>
        <p:spPr>
          <a:xfrm>
            <a:off x="8942832" y="2286000"/>
            <a:ext cx="2514600" cy="329184"/>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Business-hour breaches</a:t>
            </a:r>
            <a:endParaRPr lang="en-US" sz="1250" dirty="0"/>
          </a:p>
        </p:txBody>
      </p:sp>
      <p:sp>
        <p:nvSpPr>
          <p:cNvPr id="13" name="Shape 11"/>
          <p:cNvSpPr/>
          <p:nvPr/>
        </p:nvSpPr>
        <p:spPr>
          <a:xfrm>
            <a:off x="8485632" y="2862072"/>
            <a:ext cx="329184" cy="329184"/>
          </a:xfrm>
          <a:prstGeom prst="ellipse">
            <a:avLst/>
          </a:prstGeom>
          <a:solidFill>
            <a:srgbClr val="818CF8"/>
          </a:solidFill>
          <a:ln/>
        </p:spPr>
      </p:sp>
      <p:sp>
        <p:nvSpPr>
          <p:cNvPr id="14" name="Text 12"/>
          <p:cNvSpPr/>
          <p:nvPr/>
        </p:nvSpPr>
        <p:spPr>
          <a:xfrm>
            <a:off x="8485632" y="2862072"/>
            <a:ext cx="329184" cy="329184"/>
          </a:xfrm>
          <a:prstGeom prst="rect">
            <a:avLst/>
          </a:prstGeom>
          <a:noFill/>
          <a:ln/>
        </p:spPr>
        <p:txBody>
          <a:bodyPr wrap="square" lIns="0" tIns="0" rIns="0" bIns="0" rtlCol="0" anchor="ctr"/>
          <a:lstStyle/>
          <a:p>
            <a:pPr algn="ctr" indent="0" marL="0">
              <a:buNone/>
            </a:pPr>
            <a:r>
              <a:rPr lang="en-US" sz="792" b="1" dirty="0">
                <a:solidFill>
                  <a:srgbClr val="0A0E17"/>
                </a:solidFill>
                <a:latin typeface="Calibri" pitchFamily="34" charset="0"/>
                <a:ea typeface="Calibri" pitchFamily="34" charset="-122"/>
                <a:cs typeface="Calibri" pitchFamily="34" charset="-120"/>
              </a:rPr>
              <a:t>↑</a:t>
            </a:r>
            <a:endParaRPr lang="en-US" sz="792" dirty="0"/>
          </a:p>
        </p:txBody>
      </p:sp>
      <p:sp>
        <p:nvSpPr>
          <p:cNvPr id="15" name="Text 13"/>
          <p:cNvSpPr/>
          <p:nvPr/>
        </p:nvSpPr>
        <p:spPr>
          <a:xfrm>
            <a:off x="8942832" y="2862072"/>
            <a:ext cx="2514600" cy="329184"/>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Upgrade policy trigger</a:t>
            </a:r>
            <a:endParaRPr lang="en-US" sz="1250" dirty="0"/>
          </a:p>
        </p:txBody>
      </p:sp>
      <p:sp>
        <p:nvSpPr>
          <p:cNvPr id="16" name="Shape 14"/>
          <p:cNvSpPr/>
          <p:nvPr/>
        </p:nvSpPr>
        <p:spPr>
          <a:xfrm>
            <a:off x="8485632" y="3438144"/>
            <a:ext cx="329184" cy="329184"/>
          </a:xfrm>
          <a:prstGeom prst="ellipse">
            <a:avLst/>
          </a:prstGeom>
          <a:solidFill>
            <a:srgbClr val="818CF8"/>
          </a:solidFill>
          <a:ln/>
        </p:spPr>
      </p:sp>
      <p:sp>
        <p:nvSpPr>
          <p:cNvPr id="17" name="Text 15"/>
          <p:cNvSpPr/>
          <p:nvPr/>
        </p:nvSpPr>
        <p:spPr>
          <a:xfrm>
            <a:off x="8485632" y="3438144"/>
            <a:ext cx="329184" cy="329184"/>
          </a:xfrm>
          <a:prstGeom prst="rect">
            <a:avLst/>
          </a:prstGeom>
          <a:noFill/>
          <a:ln/>
        </p:spPr>
        <p:txBody>
          <a:bodyPr wrap="square" lIns="0" tIns="0" rIns="0" bIns="0" rtlCol="0" anchor="ctr"/>
          <a:lstStyle/>
          <a:p>
            <a:pPr algn="ctr" indent="0" marL="0">
              <a:buNone/>
            </a:pPr>
            <a:r>
              <a:rPr lang="en-US" sz="792" b="1" dirty="0">
                <a:solidFill>
                  <a:srgbClr val="0A0E17"/>
                </a:solidFill>
                <a:latin typeface="Calibri" pitchFamily="34" charset="0"/>
                <a:ea typeface="Calibri" pitchFamily="34" charset="-122"/>
                <a:cs typeface="Calibri" pitchFamily="34" charset="-120"/>
              </a:rPr>
              <a:t>◉</a:t>
            </a:r>
            <a:endParaRPr lang="en-US" sz="792" dirty="0"/>
          </a:p>
        </p:txBody>
      </p:sp>
      <p:sp>
        <p:nvSpPr>
          <p:cNvPr id="18" name="Text 16"/>
          <p:cNvSpPr/>
          <p:nvPr/>
        </p:nvSpPr>
        <p:spPr>
          <a:xfrm>
            <a:off x="8942832" y="3438144"/>
            <a:ext cx="2514600" cy="329184"/>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Anomaly dow×hour baseline</a:t>
            </a:r>
            <a:endParaRPr lang="en-US" sz="1250" dirty="0"/>
          </a:p>
        </p:txBody>
      </p:sp>
      <p:sp>
        <p:nvSpPr>
          <p:cNvPr id="19" name="Shape 17"/>
          <p:cNvSpPr/>
          <p:nvPr/>
        </p:nvSpPr>
        <p:spPr>
          <a:xfrm>
            <a:off x="8485632" y="4014216"/>
            <a:ext cx="329184" cy="329184"/>
          </a:xfrm>
          <a:prstGeom prst="ellipse">
            <a:avLst/>
          </a:prstGeom>
          <a:solidFill>
            <a:srgbClr val="818CF8"/>
          </a:solidFill>
          <a:ln/>
        </p:spPr>
      </p:sp>
      <p:sp>
        <p:nvSpPr>
          <p:cNvPr id="20" name="Text 18"/>
          <p:cNvSpPr/>
          <p:nvPr/>
        </p:nvSpPr>
        <p:spPr>
          <a:xfrm>
            <a:off x="8485632" y="4014216"/>
            <a:ext cx="329184" cy="329184"/>
          </a:xfrm>
          <a:prstGeom prst="rect">
            <a:avLst/>
          </a:prstGeom>
          <a:noFill/>
          <a:ln/>
        </p:spPr>
        <p:txBody>
          <a:bodyPr wrap="square" lIns="0" tIns="0" rIns="0" bIns="0" rtlCol="0" anchor="ctr"/>
          <a:lstStyle/>
          <a:p>
            <a:pPr algn="ctr" indent="0" marL="0">
              <a:buNone/>
            </a:pPr>
            <a:r>
              <a:rPr lang="en-US" sz="792" b="1" dirty="0">
                <a:solidFill>
                  <a:srgbClr val="0A0E17"/>
                </a:solidFill>
                <a:latin typeface="Calibri" pitchFamily="34" charset="0"/>
                <a:ea typeface="Calibri" pitchFamily="34" charset="-122"/>
                <a:cs typeface="Calibri" pitchFamily="34" charset="-120"/>
              </a:rPr>
              <a:t>▦</a:t>
            </a:r>
            <a:endParaRPr lang="en-US" sz="792" dirty="0"/>
          </a:p>
        </p:txBody>
      </p:sp>
      <p:sp>
        <p:nvSpPr>
          <p:cNvPr id="21" name="Text 19"/>
          <p:cNvSpPr/>
          <p:nvPr/>
        </p:nvSpPr>
        <p:spPr>
          <a:xfrm>
            <a:off x="8942832" y="4014216"/>
            <a:ext cx="2514600" cy="329184"/>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Utilization heat-map</a:t>
            </a:r>
            <a:endParaRPr lang="en-US" sz="1250" dirty="0"/>
          </a:p>
        </p:txBody>
      </p:sp>
      <p:sp>
        <p:nvSpPr>
          <p:cNvPr id="22" name="Shape 20"/>
          <p:cNvSpPr/>
          <p:nvPr/>
        </p:nvSpPr>
        <p:spPr>
          <a:xfrm>
            <a:off x="8485632" y="4590288"/>
            <a:ext cx="329184" cy="329184"/>
          </a:xfrm>
          <a:prstGeom prst="ellipse">
            <a:avLst/>
          </a:prstGeom>
          <a:solidFill>
            <a:srgbClr val="818CF8"/>
          </a:solidFill>
          <a:ln/>
        </p:spPr>
      </p:sp>
      <p:sp>
        <p:nvSpPr>
          <p:cNvPr id="23" name="Text 21"/>
          <p:cNvSpPr/>
          <p:nvPr/>
        </p:nvSpPr>
        <p:spPr>
          <a:xfrm>
            <a:off x="8485632" y="4590288"/>
            <a:ext cx="329184" cy="329184"/>
          </a:xfrm>
          <a:prstGeom prst="rect">
            <a:avLst/>
          </a:prstGeom>
          <a:noFill/>
          <a:ln/>
        </p:spPr>
        <p:txBody>
          <a:bodyPr wrap="square" lIns="0" tIns="0" rIns="0" bIns="0" rtlCol="0" anchor="ctr"/>
          <a:lstStyle/>
          <a:p>
            <a:pPr algn="ctr" indent="0" marL="0">
              <a:buNone/>
            </a:pPr>
            <a:r>
              <a:rPr lang="en-US" sz="792" b="1" dirty="0">
                <a:solidFill>
                  <a:srgbClr val="0A0E17"/>
                </a:solidFill>
                <a:latin typeface="Calibri" pitchFamily="34" charset="0"/>
                <a:ea typeface="Calibri" pitchFamily="34" charset="-122"/>
                <a:cs typeface="Calibri" pitchFamily="34" charset="-120"/>
              </a:rPr>
              <a:t>░</a:t>
            </a:r>
            <a:endParaRPr lang="en-US" sz="792" dirty="0"/>
          </a:p>
        </p:txBody>
      </p:sp>
      <p:sp>
        <p:nvSpPr>
          <p:cNvPr id="24" name="Text 22"/>
          <p:cNvSpPr/>
          <p:nvPr/>
        </p:nvSpPr>
        <p:spPr>
          <a:xfrm>
            <a:off x="8942832" y="4590288"/>
            <a:ext cx="2514600" cy="329184"/>
          </a:xfrm>
          <a:prstGeom prst="rect">
            <a:avLst/>
          </a:prstGeom>
          <a:noFill/>
          <a:ln/>
        </p:spPr>
        <p:txBody>
          <a:bodyPr wrap="square" lIns="0" tIns="0" rIns="0" bIns="0" rtlCol="0" anchor="ctr"/>
          <a:lstStyle/>
          <a:p>
            <a:pPr indent="0" marL="0">
              <a:buNone/>
            </a:pPr>
            <a:r>
              <a:rPr lang="en-US" sz="1250" dirty="0">
                <a:solidFill>
                  <a:srgbClr val="E6EDF7"/>
                </a:solidFill>
                <a:latin typeface="Calibri" pitchFamily="34" charset="0"/>
                <a:ea typeface="Calibri" pitchFamily="34" charset="-122"/>
                <a:cs typeface="Calibri" pitchFamily="34" charset="-120"/>
              </a:rPr>
              <a:t>Chart hour shading</a:t>
            </a:r>
            <a:endParaRPr lang="en-US" sz="1250" dirty="0"/>
          </a:p>
        </p:txBody>
      </p:sp>
      <p:sp>
        <p:nvSpPr>
          <p:cNvPr id="25" name="Text 2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26" name="Text 2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HOW MUCH OF THE WINDOW IS SPENT BUSY</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Time-in-state distribution</a:t>
            </a:r>
            <a:endParaRPr lang="en-US" sz="2900" dirty="0"/>
          </a:p>
        </p:txBody>
      </p:sp>
      <p:sp>
        <p:nvSpPr>
          <p:cNvPr id="4" name="Text 2"/>
          <p:cNvSpPr/>
          <p:nvPr/>
        </p:nvSpPr>
        <p:spPr>
          <a:xfrm>
            <a:off x="548640" y="1737360"/>
            <a:ext cx="6949440" cy="274320"/>
          </a:xfrm>
          <a:prstGeom prst="rect">
            <a:avLst/>
          </a:prstGeom>
          <a:noFill/>
          <a:ln/>
        </p:spPr>
        <p:txBody>
          <a:bodyPr wrap="square" lIns="0" tIns="0" rIns="0" bIns="0" rtlCol="0" anchor="t"/>
          <a:lstStyle/>
          <a:p>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Every valid sample is classified, then normalized to a share of time. Off-hours samples use off-hours bands when configured:</a:t>
            </a:r>
            <a:endParaRPr lang="en-US" sz="1400" dirty="0"/>
          </a:p>
        </p:txBody>
      </p:sp>
      <p:sp>
        <p:nvSpPr>
          <p:cNvPr id="5" name="Shape 3"/>
          <p:cNvSpPr/>
          <p:nvPr/>
        </p:nvSpPr>
        <p:spPr>
          <a:xfrm>
            <a:off x="548640" y="2395728"/>
            <a:ext cx="6949440" cy="1234440"/>
          </a:xfrm>
          <a:prstGeom prst="roundRect">
            <a:avLst>
              <a:gd name="adj" fmla="val 6667"/>
            </a:avLst>
          </a:prstGeom>
          <a:solidFill>
            <a:srgbClr val="1E2740"/>
          </a:solidFill>
          <a:ln w="12700">
            <a:solidFill>
              <a:srgbClr val="2A3550"/>
            </a:solidFill>
            <a:prstDash val="solid"/>
          </a:ln>
        </p:spPr>
      </p:sp>
      <p:sp>
        <p:nvSpPr>
          <p:cNvPr id="6" name="Text 4"/>
          <p:cNvSpPr/>
          <p:nvPr/>
        </p:nvSpPr>
        <p:spPr>
          <a:xfrm>
            <a:off x="713232" y="2395728"/>
            <a:ext cx="6620256" cy="1234440"/>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for each sample:</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   dist[ state(util, bandsFor(ts)) ] += 1</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dist[k] /= totalSamples</a:t>
            </a:r>
            <a:endParaRPr lang="en-US" sz="1350" dirty="0"/>
          </a:p>
        </p:txBody>
      </p:sp>
      <p:sp>
        <p:nvSpPr>
          <p:cNvPr id="7" name="Text 5"/>
          <p:cNvSpPr/>
          <p:nvPr/>
        </p:nvSpPr>
        <p:spPr>
          <a:xfrm>
            <a:off x="548640" y="3813048"/>
            <a:ext cx="6949440" cy="274320"/>
          </a:xfrm>
          <a:prstGeom prst="rect">
            <a:avLst/>
          </a:prstGeom>
          <a:noFill/>
          <a:ln/>
        </p:spPr>
        <p:txBody>
          <a:bodyPr wrap="square" lIns="0" tIns="0" rIns="0" bIns="0" rtlCol="0" anchor="t"/>
          <a:lstStyle/>
          <a:p>
            <a:pPr indent="0" marL="0">
              <a:lnSpc>
                <a:spcPct val="102000"/>
              </a:lnSpc>
              <a:spcAft>
                <a:spcPts val="500"/>
              </a:spcAft>
              <a:buNone/>
            </a:pPr>
            <a:r>
              <a:rPr lang="en-US" sz="1400" b="1" dirty="0">
                <a:solidFill>
                  <a:srgbClr val="FB923C"/>
                </a:solidFill>
                <a:latin typeface="Calibri" pitchFamily="34" charset="0"/>
                <a:ea typeface="Calibri" pitchFamily="34" charset="-122"/>
                <a:cs typeface="Calibri" pitchFamily="34" charset="-120"/>
              </a:rPr>
              <a:t>Business-day breach counters</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 drive verdicts:</a:t>
            </a:r>
            <a:endParaRPr lang="en-US" sz="1400" dirty="0"/>
          </a:p>
        </p:txBody>
      </p:sp>
      <p:sp>
        <p:nvSpPr>
          <p:cNvPr id="8" name="Shape 6"/>
          <p:cNvSpPr/>
          <p:nvPr/>
        </p:nvSpPr>
        <p:spPr>
          <a:xfrm>
            <a:off x="548640" y="4224528"/>
            <a:ext cx="6949440" cy="960120"/>
          </a:xfrm>
          <a:prstGeom prst="roundRect">
            <a:avLst>
              <a:gd name="adj" fmla="val 8571"/>
            </a:avLst>
          </a:prstGeom>
          <a:solidFill>
            <a:srgbClr val="1E2740"/>
          </a:solidFill>
          <a:ln w="12700">
            <a:solidFill>
              <a:srgbClr val="2A3550"/>
            </a:solidFill>
            <a:prstDash val="solid"/>
          </a:ln>
        </p:spPr>
      </p:sp>
      <p:sp>
        <p:nvSpPr>
          <p:cNvPr id="9" name="Text 7"/>
          <p:cNvSpPr/>
          <p:nvPr/>
        </p:nvSpPr>
        <p:spPr>
          <a:xfrm>
            <a:off x="713232" y="4224528"/>
            <a:ext cx="6620256" cy="960120"/>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breachesBH = # samples  util ≥ crit  AND isBH</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bhDays     = # distinct days  util ≥ high AND isBH</a:t>
            </a:r>
            <a:endParaRPr lang="en-US" sz="1350" dirty="0"/>
          </a:p>
        </p:txBody>
      </p:sp>
      <p:sp>
        <p:nvSpPr>
          <p:cNvPr id="10" name="Shape 8"/>
          <p:cNvSpPr/>
          <p:nvPr/>
        </p:nvSpPr>
        <p:spPr>
          <a:xfrm>
            <a:off x="7772400" y="1737360"/>
            <a:ext cx="3886200" cy="4389120"/>
          </a:xfrm>
          <a:prstGeom prst="roundRect">
            <a:avLst>
              <a:gd name="adj" fmla="val 2118"/>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1" name="Text 9"/>
          <p:cNvSpPr/>
          <p:nvPr/>
        </p:nvSpPr>
        <p:spPr>
          <a:xfrm>
            <a:off x="8001000" y="1874520"/>
            <a:ext cx="3429000" cy="27432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Example link — share of time</a:t>
            </a:r>
            <a:endParaRPr lang="en-US" sz="1400" dirty="0"/>
          </a:p>
        </p:txBody>
      </p:sp>
      <p:sp>
        <p:nvSpPr>
          <p:cNvPr id="12" name="Text 10"/>
          <p:cNvSpPr/>
          <p:nvPr/>
        </p:nvSpPr>
        <p:spPr>
          <a:xfrm>
            <a:off x="8001000" y="2377440"/>
            <a:ext cx="1280160" cy="310896"/>
          </a:xfrm>
          <a:prstGeom prst="rect">
            <a:avLst/>
          </a:prstGeom>
          <a:noFill/>
          <a:ln/>
        </p:spPr>
        <p:txBody>
          <a:bodyPr wrap="square" lIns="0" tIns="0" rIns="0" bIns="0" rtlCol="0" anchor="ctr"/>
          <a:lstStyle/>
          <a:p>
            <a:pPr indent="0" marL="0">
              <a:buNone/>
            </a:pPr>
            <a:r>
              <a:rPr lang="en-US" sz="1200" b="1" dirty="0">
                <a:solidFill>
                  <a:srgbClr val="34D399"/>
                </a:solidFill>
                <a:latin typeface="Calibri" pitchFamily="34" charset="0"/>
                <a:ea typeface="Calibri" pitchFamily="34" charset="-122"/>
                <a:cs typeface="Calibri" pitchFamily="34" charset="-120"/>
              </a:rPr>
              <a:t>normal</a:t>
            </a:r>
            <a:endParaRPr lang="en-US" sz="1200" dirty="0"/>
          </a:p>
        </p:txBody>
      </p:sp>
      <p:sp>
        <p:nvSpPr>
          <p:cNvPr id="13" name="Shape 11"/>
          <p:cNvSpPr/>
          <p:nvPr/>
        </p:nvSpPr>
        <p:spPr>
          <a:xfrm>
            <a:off x="9189720" y="2404872"/>
            <a:ext cx="1105510" cy="256032"/>
          </a:xfrm>
          <a:prstGeom prst="roundRect">
            <a:avLst>
              <a:gd name="adj" fmla="val 10714"/>
            </a:avLst>
          </a:prstGeom>
          <a:solidFill>
            <a:srgbClr val="34D399"/>
          </a:solidFill>
          <a:ln/>
        </p:spPr>
      </p:sp>
      <p:sp>
        <p:nvSpPr>
          <p:cNvPr id="14" name="Text 12"/>
          <p:cNvSpPr/>
          <p:nvPr/>
        </p:nvSpPr>
        <p:spPr>
          <a:xfrm>
            <a:off x="11000232" y="2377440"/>
            <a:ext cx="502920" cy="310896"/>
          </a:xfrm>
          <a:prstGeom prst="rect">
            <a:avLst/>
          </a:prstGeom>
          <a:noFill/>
          <a:ln/>
        </p:spPr>
        <p:txBody>
          <a:bodyPr wrap="square" lIns="0" tIns="0" rIns="0" bIns="0" rtlCol="0" anchor="ctr"/>
          <a:lstStyle/>
          <a:p>
            <a:pPr algn="r" indent="0" marL="0">
              <a:buNone/>
            </a:pPr>
            <a:r>
              <a:rPr lang="en-US" sz="1200" dirty="0">
                <a:solidFill>
                  <a:srgbClr val="E6EDF7"/>
                </a:solidFill>
                <a:latin typeface="Courier New" pitchFamily="34" charset="0"/>
                <a:ea typeface="Courier New" pitchFamily="34" charset="-122"/>
                <a:cs typeface="Courier New" pitchFamily="34" charset="-120"/>
              </a:rPr>
              <a:t>62%</a:t>
            </a:r>
            <a:endParaRPr lang="en-US" sz="1200" dirty="0"/>
          </a:p>
        </p:txBody>
      </p:sp>
      <p:sp>
        <p:nvSpPr>
          <p:cNvPr id="15" name="Text 13"/>
          <p:cNvSpPr/>
          <p:nvPr/>
        </p:nvSpPr>
        <p:spPr>
          <a:xfrm>
            <a:off x="8001000" y="2880360"/>
            <a:ext cx="1280160" cy="310896"/>
          </a:xfrm>
          <a:prstGeom prst="rect">
            <a:avLst/>
          </a:prstGeom>
          <a:noFill/>
          <a:ln/>
        </p:spPr>
        <p:txBody>
          <a:bodyPr wrap="square" lIns="0" tIns="0" rIns="0" bIns="0" rtlCol="0" anchor="ctr"/>
          <a:lstStyle/>
          <a:p>
            <a:pPr indent="0" marL="0">
              <a:buNone/>
            </a:pPr>
            <a:r>
              <a:rPr lang="en-US" sz="1200" b="1" dirty="0">
                <a:solidFill>
                  <a:srgbClr val="FBBF24"/>
                </a:solidFill>
                <a:latin typeface="Calibri" pitchFamily="34" charset="0"/>
                <a:ea typeface="Calibri" pitchFamily="34" charset="-122"/>
                <a:cs typeface="Calibri" pitchFamily="34" charset="-120"/>
              </a:rPr>
              <a:t>warning</a:t>
            </a:r>
            <a:endParaRPr lang="en-US" sz="1200" dirty="0"/>
          </a:p>
        </p:txBody>
      </p:sp>
      <p:sp>
        <p:nvSpPr>
          <p:cNvPr id="16" name="Shape 14"/>
          <p:cNvSpPr/>
          <p:nvPr/>
        </p:nvSpPr>
        <p:spPr>
          <a:xfrm>
            <a:off x="9189720" y="2907792"/>
            <a:ext cx="374447" cy="256032"/>
          </a:xfrm>
          <a:prstGeom prst="roundRect">
            <a:avLst>
              <a:gd name="adj" fmla="val 10714"/>
            </a:avLst>
          </a:prstGeom>
          <a:solidFill>
            <a:srgbClr val="FBBF24"/>
          </a:solidFill>
          <a:ln/>
        </p:spPr>
      </p:sp>
      <p:sp>
        <p:nvSpPr>
          <p:cNvPr id="17" name="Text 15"/>
          <p:cNvSpPr/>
          <p:nvPr/>
        </p:nvSpPr>
        <p:spPr>
          <a:xfrm>
            <a:off x="11000232" y="2880360"/>
            <a:ext cx="502920" cy="310896"/>
          </a:xfrm>
          <a:prstGeom prst="rect">
            <a:avLst/>
          </a:prstGeom>
          <a:noFill/>
          <a:ln/>
        </p:spPr>
        <p:txBody>
          <a:bodyPr wrap="square" lIns="0" tIns="0" rIns="0" bIns="0" rtlCol="0" anchor="ctr"/>
          <a:lstStyle/>
          <a:p>
            <a:pPr algn="r" indent="0" marL="0">
              <a:buNone/>
            </a:pPr>
            <a:r>
              <a:rPr lang="en-US" sz="1200" dirty="0">
                <a:solidFill>
                  <a:srgbClr val="E6EDF7"/>
                </a:solidFill>
                <a:latin typeface="Courier New" pitchFamily="34" charset="0"/>
                <a:ea typeface="Courier New" pitchFamily="34" charset="-122"/>
                <a:cs typeface="Courier New" pitchFamily="34" charset="-120"/>
              </a:rPr>
              <a:t>21%</a:t>
            </a:r>
            <a:endParaRPr lang="en-US" sz="1200" dirty="0"/>
          </a:p>
        </p:txBody>
      </p:sp>
      <p:sp>
        <p:nvSpPr>
          <p:cNvPr id="18" name="Text 16"/>
          <p:cNvSpPr/>
          <p:nvPr/>
        </p:nvSpPr>
        <p:spPr>
          <a:xfrm>
            <a:off x="8001000" y="3383280"/>
            <a:ext cx="1280160" cy="310896"/>
          </a:xfrm>
          <a:prstGeom prst="rect">
            <a:avLst/>
          </a:prstGeom>
          <a:noFill/>
          <a:ln/>
        </p:spPr>
        <p:txBody>
          <a:bodyPr wrap="square" lIns="0" tIns="0" rIns="0" bIns="0" rtlCol="0" anchor="ctr"/>
          <a:lstStyle/>
          <a:p>
            <a:pPr indent="0" marL="0">
              <a:buNone/>
            </a:pPr>
            <a:r>
              <a:rPr lang="en-US" sz="1200" b="1" dirty="0">
                <a:solidFill>
                  <a:srgbClr val="FB923C"/>
                </a:solidFill>
                <a:latin typeface="Calibri" pitchFamily="34" charset="0"/>
                <a:ea typeface="Calibri" pitchFamily="34" charset="-122"/>
                <a:cs typeface="Calibri" pitchFamily="34" charset="-120"/>
              </a:rPr>
              <a:t>high</a:t>
            </a:r>
            <a:endParaRPr lang="en-US" sz="1200" dirty="0"/>
          </a:p>
        </p:txBody>
      </p:sp>
      <p:sp>
        <p:nvSpPr>
          <p:cNvPr id="19" name="Shape 17"/>
          <p:cNvSpPr/>
          <p:nvPr/>
        </p:nvSpPr>
        <p:spPr>
          <a:xfrm>
            <a:off x="9189720" y="3410712"/>
            <a:ext cx="213970" cy="256032"/>
          </a:xfrm>
          <a:prstGeom prst="roundRect">
            <a:avLst>
              <a:gd name="adj" fmla="val 12820"/>
            </a:avLst>
          </a:prstGeom>
          <a:solidFill>
            <a:srgbClr val="FB923C"/>
          </a:solidFill>
          <a:ln/>
        </p:spPr>
      </p:sp>
      <p:sp>
        <p:nvSpPr>
          <p:cNvPr id="20" name="Text 18"/>
          <p:cNvSpPr/>
          <p:nvPr/>
        </p:nvSpPr>
        <p:spPr>
          <a:xfrm>
            <a:off x="11000232" y="3383280"/>
            <a:ext cx="502920" cy="310896"/>
          </a:xfrm>
          <a:prstGeom prst="rect">
            <a:avLst/>
          </a:prstGeom>
          <a:noFill/>
          <a:ln/>
        </p:spPr>
        <p:txBody>
          <a:bodyPr wrap="square" lIns="0" tIns="0" rIns="0" bIns="0" rtlCol="0" anchor="ctr"/>
          <a:lstStyle/>
          <a:p>
            <a:pPr algn="r" indent="0" marL="0">
              <a:buNone/>
            </a:pPr>
            <a:r>
              <a:rPr lang="en-US" sz="1200" dirty="0">
                <a:solidFill>
                  <a:srgbClr val="E6EDF7"/>
                </a:solidFill>
                <a:latin typeface="Courier New" pitchFamily="34" charset="0"/>
                <a:ea typeface="Courier New" pitchFamily="34" charset="-122"/>
                <a:cs typeface="Courier New" pitchFamily="34" charset="-120"/>
              </a:rPr>
              <a:t>12%</a:t>
            </a:r>
            <a:endParaRPr lang="en-US" sz="1200" dirty="0"/>
          </a:p>
        </p:txBody>
      </p:sp>
      <p:sp>
        <p:nvSpPr>
          <p:cNvPr id="21" name="Text 19"/>
          <p:cNvSpPr/>
          <p:nvPr/>
        </p:nvSpPr>
        <p:spPr>
          <a:xfrm>
            <a:off x="8001000" y="3886200"/>
            <a:ext cx="1280160" cy="310896"/>
          </a:xfrm>
          <a:prstGeom prst="rect">
            <a:avLst/>
          </a:prstGeom>
          <a:noFill/>
          <a:ln/>
        </p:spPr>
        <p:txBody>
          <a:bodyPr wrap="square" lIns="0" tIns="0" rIns="0" bIns="0" rtlCol="0" anchor="ctr"/>
          <a:lstStyle/>
          <a:p>
            <a:pPr indent="0" marL="0">
              <a:buNone/>
            </a:pPr>
            <a:r>
              <a:rPr lang="en-US" sz="1200" b="1" dirty="0">
                <a:solidFill>
                  <a:srgbClr val="F43F5E"/>
                </a:solidFill>
                <a:latin typeface="Calibri" pitchFamily="34" charset="0"/>
                <a:ea typeface="Calibri" pitchFamily="34" charset="-122"/>
                <a:cs typeface="Calibri" pitchFamily="34" charset="-120"/>
              </a:rPr>
              <a:t>critical</a:t>
            </a:r>
            <a:endParaRPr lang="en-US" sz="1200" dirty="0"/>
          </a:p>
        </p:txBody>
      </p:sp>
      <p:sp>
        <p:nvSpPr>
          <p:cNvPr id="22" name="Shape 20"/>
          <p:cNvSpPr/>
          <p:nvPr/>
        </p:nvSpPr>
        <p:spPr>
          <a:xfrm>
            <a:off x="9189720" y="3913632"/>
            <a:ext cx="89154" cy="256032"/>
          </a:xfrm>
          <a:prstGeom prst="roundRect">
            <a:avLst>
              <a:gd name="adj" fmla="val 30769"/>
            </a:avLst>
          </a:prstGeom>
          <a:solidFill>
            <a:srgbClr val="F43F5E"/>
          </a:solidFill>
          <a:ln/>
        </p:spPr>
      </p:sp>
      <p:sp>
        <p:nvSpPr>
          <p:cNvPr id="23" name="Text 21"/>
          <p:cNvSpPr/>
          <p:nvPr/>
        </p:nvSpPr>
        <p:spPr>
          <a:xfrm>
            <a:off x="11000232" y="3886200"/>
            <a:ext cx="502920" cy="310896"/>
          </a:xfrm>
          <a:prstGeom prst="rect">
            <a:avLst/>
          </a:prstGeom>
          <a:noFill/>
          <a:ln/>
        </p:spPr>
        <p:txBody>
          <a:bodyPr wrap="square" lIns="0" tIns="0" rIns="0" bIns="0" rtlCol="0" anchor="ctr"/>
          <a:lstStyle/>
          <a:p>
            <a:pPr algn="r" indent="0" marL="0">
              <a:buNone/>
            </a:pPr>
            <a:r>
              <a:rPr lang="en-US" sz="1200" dirty="0">
                <a:solidFill>
                  <a:srgbClr val="E6EDF7"/>
                </a:solidFill>
                <a:latin typeface="Courier New" pitchFamily="34" charset="0"/>
                <a:ea typeface="Courier New" pitchFamily="34" charset="-122"/>
                <a:cs typeface="Courier New" pitchFamily="34" charset="-120"/>
              </a:rPr>
              <a:t>5%</a:t>
            </a:r>
            <a:endParaRPr lang="en-US" sz="1200" dirty="0"/>
          </a:p>
        </p:txBody>
      </p:sp>
      <p:sp>
        <p:nvSpPr>
          <p:cNvPr id="24" name="Shape 22"/>
          <p:cNvSpPr/>
          <p:nvPr/>
        </p:nvSpPr>
        <p:spPr>
          <a:xfrm>
            <a:off x="8001000" y="4434840"/>
            <a:ext cx="3429000" cy="0"/>
          </a:xfrm>
          <a:prstGeom prst="line">
            <a:avLst/>
          </a:prstGeom>
          <a:noFill/>
          <a:ln w="12700">
            <a:solidFill>
              <a:srgbClr val="2A3550"/>
            </a:solidFill>
            <a:prstDash val="solid"/>
          </a:ln>
        </p:spPr>
      </p:sp>
      <p:sp>
        <p:nvSpPr>
          <p:cNvPr id="25" name="Text 23"/>
          <p:cNvSpPr/>
          <p:nvPr/>
        </p:nvSpPr>
        <p:spPr>
          <a:xfrm>
            <a:off x="8001000" y="4572000"/>
            <a:ext cx="3429000" cy="914400"/>
          </a:xfrm>
          <a:prstGeom prst="rect">
            <a:avLst/>
          </a:prstGeom>
          <a:noFill/>
          <a:ln/>
        </p:spPr>
        <p:txBody>
          <a:bodyPr wrap="square" lIns="0" tIns="0" rIns="0" bIns="0" rtlCol="0" anchor="ctr"/>
          <a:lstStyle/>
          <a:p>
            <a:pPr indent="0" marL="0">
              <a:lnSpc>
                <a:spcPct val="110000"/>
              </a:lnSpc>
              <a:buNone/>
            </a:pPr>
            <a:r>
              <a:rPr lang="en-US" sz="1250" b="1" dirty="0">
                <a:solidFill>
                  <a:srgbClr val="FB923C"/>
                </a:solidFill>
                <a:latin typeface="Calibri" pitchFamily="34" charset="0"/>
                <a:ea typeface="Calibri" pitchFamily="34" charset="-122"/>
                <a:cs typeface="Calibri" pitchFamily="34" charset="-120"/>
              </a:rPr>
              <a:t>17% </a:t>
            </a:r>
            <a:pPr indent="0" marL="0">
              <a:lnSpc>
                <a:spcPct val="110000"/>
              </a:lnSpc>
              <a:buNone/>
            </a:pPr>
            <a:r>
              <a:rPr lang="en-US" sz="1250" dirty="0">
                <a:solidFill>
                  <a:srgbClr val="93A1BC"/>
                </a:solidFill>
                <a:latin typeface="Calibri" pitchFamily="34" charset="0"/>
                <a:ea typeface="Calibri" pitchFamily="34" charset="-122"/>
                <a:cs typeface="Calibri" pitchFamily="34" charset="-120"/>
              </a:rPr>
              <a:t>of time at high+critical
</a:t>
            </a:r>
            <a:pPr indent="0" marL="0">
              <a:lnSpc>
                <a:spcPct val="110000"/>
              </a:lnSpc>
              <a:buNone/>
            </a:pPr>
            <a:r>
              <a:rPr lang="en-US" sz="1250" i="1" dirty="0">
                <a:solidFill>
                  <a:srgbClr val="6B7A96"/>
                </a:solidFill>
                <a:latin typeface="Calibri" pitchFamily="34" charset="0"/>
                <a:ea typeface="Calibri" pitchFamily="34" charset="-122"/>
                <a:cs typeface="Calibri" pitchFamily="34" charset="-120"/>
              </a:rPr>
              <a:t>→ feeds “Recurring Business-Hour Congestion”</a:t>
            </a:r>
            <a:endParaRPr lang="en-US" sz="1250" dirty="0"/>
          </a:p>
        </p:txBody>
      </p:sp>
      <p:sp>
        <p:nvSpPr>
          <p:cNvPr id="26" name="Text 24"/>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27" name="Text 25"/>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A SINGLE SPIKE DAY CANNOT BEND THE TREND</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Capacity forecast · 1 — robust trend (Theil–Sen)</a:t>
            </a:r>
            <a:endParaRPr lang="en-US" sz="2900" dirty="0"/>
          </a:p>
        </p:txBody>
      </p:sp>
      <p:sp>
        <p:nvSpPr>
          <p:cNvPr id="4" name="Text 2"/>
          <p:cNvSpPr/>
          <p:nvPr/>
        </p:nvSpPr>
        <p:spPr>
          <a:xfrm>
            <a:off x="548640" y="1719072"/>
            <a:ext cx="7040880" cy="274320"/>
          </a:xfrm>
          <a:prstGeom prst="rect">
            <a:avLst/>
          </a:prstGeom>
          <a:noFill/>
          <a:ln/>
        </p:spPr>
        <p:txBody>
          <a:bodyPr wrap="square" lIns="0" tIns="0" rIns="0" bIns="0" rtlCol="0" anchor="t"/>
          <a:lstStyle/>
          <a:p>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Build a </a:t>
            </a:r>
            <a:pPr indent="0" marL="0">
              <a:lnSpc>
                <a:spcPct val="102000"/>
              </a:lnSpc>
              <a:spcAft>
                <a:spcPts val="500"/>
              </a:spcAft>
              <a:buNone/>
            </a:pPr>
            <a:r>
              <a:rPr lang="en-US" sz="1400" b="1" dirty="0">
                <a:solidFill>
                  <a:srgbClr val="38BDF8"/>
                </a:solidFill>
                <a:latin typeface="Calibri" pitchFamily="34" charset="0"/>
                <a:ea typeface="Calibri" pitchFamily="34" charset="-122"/>
                <a:cs typeface="Calibri" pitchFamily="34" charset="-120"/>
              </a:rPr>
              <a:t>daily series</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 — each day’s chosen percentile (p95 / p99 / max):</a:t>
            </a:r>
            <a:endParaRPr lang="en-US" sz="1400" dirty="0"/>
          </a:p>
        </p:txBody>
      </p:sp>
      <p:sp>
        <p:nvSpPr>
          <p:cNvPr id="5" name="Shape 3"/>
          <p:cNvSpPr/>
          <p:nvPr/>
        </p:nvSpPr>
        <p:spPr>
          <a:xfrm>
            <a:off x="548640" y="2267712"/>
            <a:ext cx="7040880" cy="384048"/>
          </a:xfrm>
          <a:prstGeom prst="roundRect">
            <a:avLst>
              <a:gd name="adj" fmla="val 21429"/>
            </a:avLst>
          </a:prstGeom>
          <a:solidFill>
            <a:srgbClr val="1E2740"/>
          </a:solidFill>
          <a:ln w="12700">
            <a:solidFill>
              <a:srgbClr val="2A3550"/>
            </a:solidFill>
            <a:prstDash val="solid"/>
          </a:ln>
        </p:spPr>
      </p:sp>
      <p:sp>
        <p:nvSpPr>
          <p:cNvPr id="6" name="Text 4"/>
          <p:cNvSpPr/>
          <p:nvPr/>
        </p:nvSpPr>
        <p:spPr>
          <a:xfrm>
            <a:off x="713232" y="2267712"/>
            <a:ext cx="6711696" cy="384048"/>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daily[d] = percentile( that day’s utils , metric )</a:t>
            </a:r>
            <a:endParaRPr lang="en-US" sz="1350" dirty="0"/>
          </a:p>
        </p:txBody>
      </p:sp>
      <p:sp>
        <p:nvSpPr>
          <p:cNvPr id="7" name="Text 5"/>
          <p:cNvSpPr/>
          <p:nvPr/>
        </p:nvSpPr>
        <p:spPr>
          <a:xfrm>
            <a:off x="548640" y="2834640"/>
            <a:ext cx="7040880" cy="274320"/>
          </a:xfrm>
          <a:prstGeom prst="rect">
            <a:avLst/>
          </a:prstGeom>
          <a:noFill/>
          <a:ln/>
        </p:spPr>
        <p:txBody>
          <a:bodyPr wrap="square" lIns="0" tIns="0" rIns="0" bIns="0" rtlCol="0" anchor="t"/>
          <a:lstStyle/>
          <a:p>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Fit the slope as the </a:t>
            </a:r>
            <a:pPr indent="0" marL="0">
              <a:lnSpc>
                <a:spcPct val="102000"/>
              </a:lnSpc>
              <a:spcAft>
                <a:spcPts val="500"/>
              </a:spcAft>
              <a:buNone/>
            </a:pPr>
            <a:r>
              <a:rPr lang="en-US" sz="1400" b="1" dirty="0">
                <a:solidFill>
                  <a:srgbClr val="38BDF8"/>
                </a:solidFill>
                <a:latin typeface="Calibri" pitchFamily="34" charset="0"/>
                <a:ea typeface="Calibri" pitchFamily="34" charset="-122"/>
                <a:cs typeface="Calibri" pitchFamily="34" charset="-120"/>
              </a:rPr>
              <a:t>median of all pairwise slopes</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 (real day spacing on x):</a:t>
            </a:r>
            <a:endParaRPr lang="en-US" sz="1400" dirty="0"/>
          </a:p>
        </p:txBody>
      </p:sp>
      <p:sp>
        <p:nvSpPr>
          <p:cNvPr id="8" name="Shape 6"/>
          <p:cNvSpPr/>
          <p:nvPr/>
        </p:nvSpPr>
        <p:spPr>
          <a:xfrm>
            <a:off x="548640" y="3364992"/>
            <a:ext cx="7040880" cy="640080"/>
          </a:xfrm>
          <a:prstGeom prst="roundRect">
            <a:avLst>
              <a:gd name="adj" fmla="val 12857"/>
            </a:avLst>
          </a:prstGeom>
          <a:solidFill>
            <a:srgbClr val="1E2740"/>
          </a:solidFill>
          <a:ln w="12700">
            <a:solidFill>
              <a:srgbClr val="2A3550"/>
            </a:solidFill>
            <a:prstDash val="solid"/>
          </a:ln>
        </p:spPr>
      </p:sp>
      <p:sp>
        <p:nvSpPr>
          <p:cNvPr id="9" name="Text 7"/>
          <p:cNvSpPr/>
          <p:nvPr/>
        </p:nvSpPr>
        <p:spPr>
          <a:xfrm>
            <a:off x="713232" y="3364992"/>
            <a:ext cx="6711696" cy="640080"/>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slope = median{ (yj - yi) / (xj - xi) }</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inter = median{ y - slope*x }</a:t>
            </a:r>
            <a:endParaRPr lang="en-US" sz="1350" dirty="0"/>
          </a:p>
        </p:txBody>
      </p:sp>
      <p:sp>
        <p:nvSpPr>
          <p:cNvPr id="10" name="Text 8"/>
          <p:cNvSpPr/>
          <p:nvPr/>
        </p:nvSpPr>
        <p:spPr>
          <a:xfrm>
            <a:off x="548640" y="4187952"/>
            <a:ext cx="7040880" cy="2743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93A1BC"/>
                </a:solidFill>
                <a:latin typeface="Calibri" pitchFamily="34" charset="0"/>
                <a:ea typeface="Calibri" pitchFamily="34" charset="-122"/>
                <a:cs typeface="Calibri" pitchFamily="34" charset="-120"/>
              </a:rPr>
              <a:t>Busy-weekday model: if weekdays run hotter (median &gt; weekend×1.35+0.02), fit weekdays only — a business link is capped by its busy days.</a:t>
            </a:r>
            <a:endParaRPr lang="en-US" sz="1200" dirty="0"/>
          </a:p>
          <a:p>
            <a:pPr marL="177800" indent="-177800">
              <a:spcAft>
                <a:spcPts val="600"/>
              </a:spcAft>
              <a:buSzPct val="100000"/>
              <a:buChar char="•"/>
            </a:pPr>
            <a:r>
              <a:rPr lang="en-US" sz="1200" dirty="0">
                <a:solidFill>
                  <a:srgbClr val="93A1BC"/>
                </a:solidFill>
                <a:latin typeface="Calibri" pitchFamily="34" charset="0"/>
                <a:ea typeface="Calibri" pitchFamily="34" charset="-122"/>
                <a:cs typeface="Calibri" pitchFamily="34" charset="-120"/>
              </a:rPr>
              <a:t>x-axis uses real elapsed days, so polling gaps don’t distort the slope.</a:t>
            </a:r>
            <a:endParaRPr lang="en-US" sz="1200" dirty="0"/>
          </a:p>
        </p:txBody>
      </p:sp>
      <p:sp>
        <p:nvSpPr>
          <p:cNvPr id="11" name="Shape 9"/>
          <p:cNvSpPr/>
          <p:nvPr/>
        </p:nvSpPr>
        <p:spPr>
          <a:xfrm>
            <a:off x="7818120" y="1719072"/>
            <a:ext cx="3840480" cy="4434840"/>
          </a:xfrm>
          <a:prstGeom prst="roundRect">
            <a:avLst>
              <a:gd name="adj" fmla="val 2143"/>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2" name="Text 10"/>
          <p:cNvSpPr/>
          <p:nvPr/>
        </p:nvSpPr>
        <p:spPr>
          <a:xfrm>
            <a:off x="8019288" y="1847088"/>
            <a:ext cx="3474720" cy="274320"/>
          </a:xfrm>
          <a:prstGeom prst="rect">
            <a:avLst/>
          </a:prstGeom>
          <a:noFill/>
          <a:ln/>
        </p:spPr>
        <p:txBody>
          <a:bodyPr wrap="square" lIns="0" tIns="0" rIns="0" bIns="0" rtlCol="0" anchor="ctr"/>
          <a:lstStyle/>
          <a:p>
            <a:pPr indent="0" marL="0">
              <a:buNone/>
            </a:pPr>
            <a:r>
              <a:rPr lang="en-US" sz="1350" b="1" dirty="0">
                <a:solidFill>
                  <a:srgbClr val="E6EDF7"/>
                </a:solidFill>
                <a:latin typeface="Cambria" pitchFamily="34" charset="0"/>
                <a:ea typeface="Cambria" pitchFamily="34" charset="-122"/>
                <a:cs typeface="Cambria" pitchFamily="34" charset="-120"/>
              </a:rPr>
              <a:t>Daily p95 + robust trend</a:t>
            </a:r>
            <a:endParaRPr lang="en-US" sz="1350" dirty="0"/>
          </a:p>
        </p:txBody>
      </p:sp>
      <p:graphicFrame>
        <p:nvGraphicFramePr>
          <p:cNvPr id="13" name="Chart 0" descr=""/>
          <p:cNvGraphicFramePr/>
          <p:nvPr/>
        </p:nvGraphicFramePr>
        <p:xfrm>
          <a:off x="7955280" y="2148840"/>
          <a:ext cx="3566160" cy="384048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15" name="Text 12"/>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BACKTESTED, CLAMPED, TURNED INTO DATES</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Capacity forecast · 2 — selection &amp; outputs</a:t>
            </a:r>
            <a:endParaRPr lang="en-US" sz="2900" dirty="0"/>
          </a:p>
        </p:txBody>
      </p:sp>
      <p:sp>
        <p:nvSpPr>
          <p:cNvPr id="4" name="Text 2"/>
          <p:cNvSpPr/>
          <p:nvPr/>
        </p:nvSpPr>
        <p:spPr>
          <a:xfrm>
            <a:off x="548640" y="1719072"/>
            <a:ext cx="6949440" cy="27432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E6EDF7"/>
                </a:solidFill>
                <a:latin typeface="Calibri" pitchFamily="34" charset="0"/>
                <a:ea typeface="Calibri" pitchFamily="34" charset="-122"/>
                <a:cs typeface="Calibri" pitchFamily="34" charset="-120"/>
              </a:rPr>
              <a:t>Two candidate fits — full-window vs recent (last max(7, n/2) days).</a:t>
            </a:r>
            <a:endParaRPr lang="en-US" sz="1300" dirty="0"/>
          </a:p>
          <a:p>
            <a:pPr marL="177800" indent="-177800">
              <a:spcAft>
                <a:spcPts val="600"/>
              </a:spcAft>
              <a:buSzPct val="100000"/>
              <a:buChar char="•"/>
            </a:pPr>
            <a:r>
              <a:rPr lang="en-US" sz="1300" dirty="0">
                <a:solidFill>
                  <a:srgbClr val="E6EDF7"/>
                </a:solidFill>
                <a:latin typeface="Calibri" pitchFamily="34" charset="0"/>
                <a:ea typeface="Calibri" pitchFamily="34" charset="-122"/>
                <a:cs typeface="Calibri" pitchFamily="34" charset="-120"/>
              </a:rPr>
              <a:t>Pick the one with lower backtest error (MAE) on the held-out last ~20% of days.</a:t>
            </a:r>
            <a:endParaRPr lang="en-US" sz="1300" dirty="0"/>
          </a:p>
          <a:p>
            <a:pPr marL="177800" indent="-177800">
              <a:spcAft>
                <a:spcPts val="600"/>
              </a:spcAft>
              <a:buSzPct val="100000"/>
              <a:buChar char="•"/>
            </a:pPr>
            <a:r>
              <a:rPr lang="en-US" sz="1300" dirty="0">
                <a:solidFill>
                  <a:srgbClr val="93A1BC"/>
                </a:solidFill>
                <a:latin typeface="Calibri" pitchFamily="34" charset="0"/>
                <a:ea typeface="Calibri" pitchFamily="34" charset="-122"/>
                <a:cs typeface="Calibri" pitchFamily="34" charset="-120"/>
              </a:rPr>
              <a:t>Slope clamped to ±0.04/day (±4%/day plausibility ceiling); current &amp; projections clamped to plausible ranges.</a:t>
            </a:r>
            <a:endParaRPr lang="en-US" sz="1300" dirty="0"/>
          </a:p>
        </p:txBody>
      </p:sp>
      <p:sp>
        <p:nvSpPr>
          <p:cNvPr id="5" name="Shape 3"/>
          <p:cNvSpPr/>
          <p:nvPr/>
        </p:nvSpPr>
        <p:spPr>
          <a:xfrm>
            <a:off x="548640" y="3273552"/>
            <a:ext cx="6949440" cy="1737360"/>
          </a:xfrm>
          <a:prstGeom prst="roundRect">
            <a:avLst>
              <a:gd name="adj" fmla="val 4737"/>
            </a:avLst>
          </a:prstGeom>
          <a:solidFill>
            <a:srgbClr val="1E2740"/>
          </a:solidFill>
          <a:ln w="12700">
            <a:solidFill>
              <a:srgbClr val="2A3550"/>
            </a:solidFill>
            <a:prstDash val="solid"/>
          </a:ln>
        </p:spPr>
      </p:sp>
      <p:sp>
        <p:nvSpPr>
          <p:cNvPr id="6" name="Text 4"/>
          <p:cNvSpPr/>
          <p:nvPr/>
        </p:nvSpPr>
        <p:spPr>
          <a:xfrm>
            <a:off x="713232" y="3273552"/>
            <a:ext cx="6620256" cy="1737360"/>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current = clamp( slope · lastDay + inter , 0 , 1.5 )</a:t>
            </a:r>
            <a:endParaRPr lang="en-US" sz="1350" dirty="0"/>
          </a:p>
          <a:p>
            <a:pPr indent="0" marL="0">
              <a:lnSpc>
                <a:spcPct val="106000"/>
              </a:lnSpc>
              <a:buNone/>
            </a:pP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time→T =  current ≥ T   → 0        (already there)</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         slope &gt; 0    → (T − current) / slope</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         else         → —          (never at this trend)</a:t>
            </a:r>
            <a:endParaRPr lang="en-US" sz="1350" dirty="0"/>
          </a:p>
        </p:txBody>
      </p:sp>
      <p:sp>
        <p:nvSpPr>
          <p:cNvPr id="7" name="Shape 5"/>
          <p:cNvSpPr/>
          <p:nvPr/>
        </p:nvSpPr>
        <p:spPr>
          <a:xfrm>
            <a:off x="7772400" y="1719072"/>
            <a:ext cx="3886200" cy="4407408"/>
          </a:xfrm>
          <a:prstGeom prst="roundRect">
            <a:avLst>
              <a:gd name="adj" fmla="val 2118"/>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8001000" y="1856232"/>
            <a:ext cx="3429000" cy="27432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What it produces</a:t>
            </a:r>
            <a:endParaRPr lang="en-US" sz="1400" dirty="0"/>
          </a:p>
        </p:txBody>
      </p:sp>
      <p:sp>
        <p:nvSpPr>
          <p:cNvPr id="9" name="Text 7"/>
          <p:cNvSpPr/>
          <p:nvPr/>
        </p:nvSpPr>
        <p:spPr>
          <a:xfrm>
            <a:off x="8001000" y="2286000"/>
            <a:ext cx="3429000" cy="274320"/>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t80 / t90 / t95</a:t>
            </a:r>
            <a:endParaRPr lang="en-US" sz="1250" dirty="0"/>
          </a:p>
        </p:txBody>
      </p:sp>
      <p:sp>
        <p:nvSpPr>
          <p:cNvPr id="10" name="Text 8"/>
          <p:cNvSpPr/>
          <p:nvPr/>
        </p:nvSpPr>
        <p:spPr>
          <a:xfrm>
            <a:off x="8001000" y="2560320"/>
            <a:ext cx="3429000" cy="411480"/>
          </a:xfrm>
          <a:prstGeom prst="rect">
            <a:avLst/>
          </a:prstGeom>
          <a:noFill/>
          <a:ln/>
        </p:spPr>
        <p:txBody>
          <a:bodyPr wrap="square" lIns="0" tIns="0" rIns="0" bIns="0" rtlCol="0" anchor="t"/>
          <a:lstStyle/>
          <a:p>
            <a:pPr indent="0" marL="0">
              <a:lnSpc>
                <a:spcPct val="102000"/>
              </a:lnSpc>
              <a:buNone/>
            </a:pPr>
            <a:r>
              <a:rPr lang="en-US" sz="1150" dirty="0">
                <a:solidFill>
                  <a:srgbClr val="93A1BC"/>
                </a:solidFill>
                <a:latin typeface="Calibri" pitchFamily="34" charset="0"/>
                <a:ea typeface="Calibri" pitchFamily="34" charset="-122"/>
                <a:cs typeface="Calibri" pitchFamily="34" charset="-120"/>
              </a:rPr>
              <a:t>days until 80 / 90 / 95%</a:t>
            </a:r>
            <a:endParaRPr lang="en-US" sz="1150" dirty="0"/>
          </a:p>
        </p:txBody>
      </p:sp>
      <p:sp>
        <p:nvSpPr>
          <p:cNvPr id="11" name="Text 9"/>
          <p:cNvSpPr/>
          <p:nvPr/>
        </p:nvSpPr>
        <p:spPr>
          <a:xfrm>
            <a:off x="8001000" y="3035808"/>
            <a:ext cx="3429000" cy="274320"/>
          </a:xfrm>
          <a:prstGeom prst="rect">
            <a:avLst/>
          </a:prstGeom>
          <a:noFill/>
          <a:ln/>
        </p:spPr>
        <p:txBody>
          <a:bodyPr wrap="square" lIns="0" tIns="0" rIns="0" bIns="0" rtlCol="0" anchor="ctr"/>
          <a:lstStyle/>
          <a:p>
            <a:pPr indent="0" marL="0">
              <a:buNone/>
            </a:pPr>
            <a:r>
              <a:rPr lang="en-US" sz="1250" b="1" dirty="0">
                <a:solidFill>
                  <a:srgbClr val="818CF8"/>
                </a:solidFill>
                <a:latin typeface="Courier New" pitchFamily="34" charset="0"/>
                <a:ea typeface="Courier New" pitchFamily="34" charset="-122"/>
                <a:cs typeface="Courier New" pitchFamily="34" charset="-120"/>
              </a:rPr>
              <a:t>proj[30/60/90/180]</a:t>
            </a:r>
            <a:endParaRPr lang="en-US" sz="1250" dirty="0"/>
          </a:p>
        </p:txBody>
      </p:sp>
      <p:sp>
        <p:nvSpPr>
          <p:cNvPr id="12" name="Text 10"/>
          <p:cNvSpPr/>
          <p:nvPr/>
        </p:nvSpPr>
        <p:spPr>
          <a:xfrm>
            <a:off x="8001000" y="3310128"/>
            <a:ext cx="3429000" cy="411480"/>
          </a:xfrm>
          <a:prstGeom prst="rect">
            <a:avLst/>
          </a:prstGeom>
          <a:noFill/>
          <a:ln/>
        </p:spPr>
        <p:txBody>
          <a:bodyPr wrap="square" lIns="0" tIns="0" rIns="0" bIns="0" rtlCol="0" anchor="t"/>
          <a:lstStyle/>
          <a:p>
            <a:pPr indent="0" marL="0">
              <a:lnSpc>
                <a:spcPct val="102000"/>
              </a:lnSpc>
              <a:buNone/>
            </a:pPr>
            <a:r>
              <a:rPr lang="en-US" sz="1150" dirty="0">
                <a:solidFill>
                  <a:srgbClr val="93A1BC"/>
                </a:solidFill>
                <a:latin typeface="Calibri" pitchFamily="34" charset="0"/>
                <a:ea typeface="Calibri" pitchFamily="34" charset="-122"/>
                <a:cs typeface="Calibri" pitchFamily="34" charset="-120"/>
              </a:rPr>
              <a:t>projected util at horizon</a:t>
            </a:r>
            <a:endParaRPr lang="en-US" sz="1150" dirty="0"/>
          </a:p>
        </p:txBody>
      </p:sp>
      <p:sp>
        <p:nvSpPr>
          <p:cNvPr id="13" name="Text 11"/>
          <p:cNvSpPr/>
          <p:nvPr/>
        </p:nvSpPr>
        <p:spPr>
          <a:xfrm>
            <a:off x="8001000" y="3785616"/>
            <a:ext cx="3429000" cy="274320"/>
          </a:xfrm>
          <a:prstGeom prst="rect">
            <a:avLst/>
          </a:prstGeom>
          <a:noFill/>
          <a:ln/>
        </p:spPr>
        <p:txBody>
          <a:bodyPr wrap="square" lIns="0" tIns="0" rIns="0" bIns="0" rtlCol="0" anchor="ctr"/>
          <a:lstStyle/>
          <a:p>
            <a:pPr indent="0" marL="0">
              <a:buNone/>
            </a:pPr>
            <a:r>
              <a:rPr lang="en-US" sz="1250" b="1" dirty="0">
                <a:solidFill>
                  <a:srgbClr val="F472B6"/>
                </a:solidFill>
                <a:latin typeface="Courier New" pitchFamily="34" charset="0"/>
                <a:ea typeface="Courier New" pitchFamily="34" charset="-122"/>
                <a:cs typeface="Courier New" pitchFamily="34" charset="-120"/>
              </a:rPr>
              <a:t>growthMoM</a:t>
            </a:r>
            <a:endParaRPr lang="en-US" sz="1250" dirty="0"/>
          </a:p>
        </p:txBody>
      </p:sp>
      <p:sp>
        <p:nvSpPr>
          <p:cNvPr id="14" name="Text 12"/>
          <p:cNvSpPr/>
          <p:nvPr/>
        </p:nvSpPr>
        <p:spPr>
          <a:xfrm>
            <a:off x="8001000" y="4059936"/>
            <a:ext cx="3429000" cy="411480"/>
          </a:xfrm>
          <a:prstGeom prst="rect">
            <a:avLst/>
          </a:prstGeom>
          <a:noFill/>
          <a:ln/>
        </p:spPr>
        <p:txBody>
          <a:bodyPr wrap="square" lIns="0" tIns="0" rIns="0" bIns="0" rtlCol="0" anchor="t"/>
          <a:lstStyle/>
          <a:p>
            <a:pPr indent="0" marL="0">
              <a:lnSpc>
                <a:spcPct val="102000"/>
              </a:lnSpc>
              <a:buNone/>
            </a:pPr>
            <a:r>
              <a:rPr lang="en-US" sz="1150" dirty="0">
                <a:solidFill>
                  <a:srgbClr val="93A1BC"/>
                </a:solidFill>
                <a:latin typeface="Calibri" pitchFamily="34" charset="0"/>
                <a:ea typeface="Calibri" pitchFamily="34" charset="-122"/>
                <a:cs typeface="Calibri" pitchFamily="34" charset="-120"/>
              </a:rPr>
              <a:t>median 1st-third vs last-third, scaled to /30d, clamped ±3</a:t>
            </a:r>
            <a:endParaRPr lang="en-US" sz="1150" dirty="0"/>
          </a:p>
        </p:txBody>
      </p:sp>
      <p:sp>
        <p:nvSpPr>
          <p:cNvPr id="15" name="Text 13"/>
          <p:cNvSpPr/>
          <p:nvPr/>
        </p:nvSpPr>
        <p:spPr>
          <a:xfrm>
            <a:off x="8001000" y="4535424"/>
            <a:ext cx="3429000" cy="274320"/>
          </a:xfrm>
          <a:prstGeom prst="rect">
            <a:avLst/>
          </a:prstGeom>
          <a:noFill/>
          <a:ln/>
        </p:spPr>
        <p:txBody>
          <a:bodyPr wrap="square" lIns="0" tIns="0" rIns="0" bIns="0" rtlCol="0" anchor="ctr"/>
          <a:lstStyle/>
          <a:p>
            <a:pPr indent="0" marL="0">
              <a:buNone/>
            </a:pPr>
            <a:r>
              <a:rPr lang="en-US" sz="1250" b="1" dirty="0">
                <a:solidFill>
                  <a:srgbClr val="FBBF24"/>
                </a:solidFill>
                <a:latin typeface="Courier New" pitchFamily="34" charset="0"/>
                <a:ea typeface="Courier New" pitchFamily="34" charset="-122"/>
                <a:cs typeface="Courier New" pitchFamily="34" charset="-120"/>
              </a:rPr>
              <a:t>window</a:t>
            </a:r>
            <a:endParaRPr lang="en-US" sz="1250" dirty="0"/>
          </a:p>
        </p:txBody>
      </p:sp>
      <p:sp>
        <p:nvSpPr>
          <p:cNvPr id="16" name="Text 14"/>
          <p:cNvSpPr/>
          <p:nvPr/>
        </p:nvSpPr>
        <p:spPr>
          <a:xfrm>
            <a:off x="8001000" y="4809744"/>
            <a:ext cx="3429000" cy="411480"/>
          </a:xfrm>
          <a:prstGeom prst="rect">
            <a:avLst/>
          </a:prstGeom>
          <a:noFill/>
          <a:ln/>
        </p:spPr>
        <p:txBody>
          <a:bodyPr wrap="square" lIns="0" tIns="0" rIns="0" bIns="0" rtlCol="0" anchor="t"/>
          <a:lstStyle/>
          <a:p>
            <a:pPr indent="0" marL="0">
              <a:lnSpc>
                <a:spcPct val="102000"/>
              </a:lnSpc>
              <a:buNone/>
            </a:pPr>
            <a:r>
              <a:rPr lang="en-US" sz="1150" dirty="0">
                <a:solidFill>
                  <a:srgbClr val="93A1BC"/>
                </a:solidFill>
                <a:latin typeface="Calibri" pitchFamily="34" charset="0"/>
                <a:ea typeface="Calibri" pitchFamily="34" charset="-122"/>
                <a:cs typeface="Calibri" pitchFamily="34" charset="-120"/>
              </a:rPr>
              <a:t>[t90 − lead , t90] upgrade window</a:t>
            </a:r>
            <a:endParaRPr lang="en-US" sz="1150" dirty="0"/>
          </a:p>
        </p:txBody>
      </p:sp>
      <p:sp>
        <p:nvSpPr>
          <p:cNvPr id="17" name="Text 15"/>
          <p:cNvSpPr/>
          <p:nvPr/>
        </p:nvSpPr>
        <p:spPr>
          <a:xfrm>
            <a:off x="8001000" y="5285232"/>
            <a:ext cx="3429000" cy="274320"/>
          </a:xfrm>
          <a:prstGeom prst="rect">
            <a:avLst/>
          </a:prstGeom>
          <a:noFill/>
          <a:ln/>
        </p:spPr>
        <p:txBody>
          <a:bodyPr wrap="square" lIns="0" tIns="0" rIns="0" bIns="0" rtlCol="0" anchor="ctr"/>
          <a:lstStyle/>
          <a:p>
            <a:pPr indent="0" marL="0">
              <a:buNone/>
            </a:pPr>
            <a:r>
              <a:rPr lang="en-US" sz="1250" b="1" dirty="0">
                <a:solidFill>
                  <a:srgbClr val="34D399"/>
                </a:solidFill>
                <a:latin typeface="Courier New" pitchFamily="34" charset="0"/>
                <a:ea typeface="Courier New" pitchFamily="34" charset="-122"/>
                <a:cs typeface="Courier New" pitchFamily="34" charset="-120"/>
              </a:rPr>
              <a:t>conf</a:t>
            </a:r>
            <a:endParaRPr lang="en-US" sz="1250" dirty="0"/>
          </a:p>
        </p:txBody>
      </p:sp>
      <p:sp>
        <p:nvSpPr>
          <p:cNvPr id="18" name="Text 16"/>
          <p:cNvSpPr/>
          <p:nvPr/>
        </p:nvSpPr>
        <p:spPr>
          <a:xfrm>
            <a:off x="8001000" y="5559552"/>
            <a:ext cx="3429000" cy="411480"/>
          </a:xfrm>
          <a:prstGeom prst="rect">
            <a:avLst/>
          </a:prstGeom>
          <a:noFill/>
          <a:ln/>
        </p:spPr>
        <p:txBody>
          <a:bodyPr wrap="square" lIns="0" tIns="0" rIns="0" bIns="0" rtlCol="0" anchor="t"/>
          <a:lstStyle/>
          <a:p>
            <a:pPr indent="0" marL="0">
              <a:lnSpc>
                <a:spcPct val="102000"/>
              </a:lnSpc>
              <a:buNone/>
            </a:pPr>
            <a:r>
              <a:rPr lang="en-US" sz="1150" dirty="0">
                <a:solidFill>
                  <a:srgbClr val="93A1BC"/>
                </a:solidFill>
                <a:latin typeface="Calibri" pitchFamily="34" charset="0"/>
                <a:ea typeface="Calibri" pitchFamily="34" charset="-122"/>
                <a:cs typeface="Calibri" pitchFamily="34" charset="-120"/>
              </a:rPr>
              <a:t>history span + backtest + model agreement (≤ 0.95)</a:t>
            </a:r>
            <a:endParaRPr lang="en-US" sz="1150" dirty="0"/>
          </a:p>
        </p:txBody>
      </p:sp>
      <p:sp>
        <p:nvSpPr>
          <p:cNvPr id="19" name="Text 17"/>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20" name="Text 1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WHICH WAY SATURATES FIRST, AND HOW MUCH HEADROOM</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Forecast direction &amp; provisioning target</a:t>
            </a:r>
            <a:endParaRPr lang="en-US" sz="2900" dirty="0"/>
          </a:p>
        </p:txBody>
      </p:sp>
      <p:sp>
        <p:nvSpPr>
          <p:cNvPr id="4" name="Text 2"/>
          <p:cNvSpPr/>
          <p:nvPr/>
        </p:nvSpPr>
        <p:spPr>
          <a:xfrm>
            <a:off x="548640" y="1737360"/>
            <a:ext cx="6949440" cy="274320"/>
          </a:xfrm>
          <a:prstGeom prst="rect">
            <a:avLst/>
          </a:prstGeom>
          <a:noFill/>
          <a:ln/>
        </p:spPr>
        <p:txBody>
          <a:bodyPr wrap="square" lIns="0" tIns="0" rIns="0" bIns="0" rtlCol="0" anchor="t"/>
          <a:lstStyle/>
          <a:p>
            <a:pPr indent="0" marL="0">
              <a:lnSpc>
                <a:spcPct val="102000"/>
              </a:lnSpc>
              <a:spcAft>
                <a:spcPts val="500"/>
              </a:spcAft>
              <a:buNone/>
            </a:pPr>
            <a:r>
              <a:rPr lang="en-US" sz="1400" b="1" dirty="0">
                <a:solidFill>
                  <a:srgbClr val="38BDF8"/>
                </a:solidFill>
                <a:latin typeface="Calibri" pitchFamily="34" charset="0"/>
                <a:ea typeface="Calibri" pitchFamily="34" charset="-122"/>
                <a:cs typeface="Calibri" pitchFamily="34" charset="-120"/>
              </a:rPr>
              <a:t>Direction knob — </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combined (overall util) or split (TX &amp; RX forecast separately). In split mode the </a:t>
            </a:r>
            <a:pPr indent="0" marL="0">
              <a:lnSpc>
                <a:spcPct val="102000"/>
              </a:lnSpc>
              <a:spcAft>
                <a:spcPts val="500"/>
              </a:spcAft>
              <a:buNone/>
            </a:pPr>
            <a:r>
              <a:rPr lang="en-US" sz="1400" b="1" dirty="0">
                <a:solidFill>
                  <a:srgbClr val="E6EDF7"/>
                </a:solidFill>
                <a:latin typeface="Calibri" pitchFamily="34" charset="0"/>
                <a:ea typeface="Calibri" pitchFamily="34" charset="-122"/>
                <a:cs typeface="Calibri" pitchFamily="34" charset="-120"/>
              </a:rPr>
              <a:t>binding</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 direction is the one that saturates first:</a:t>
            </a:r>
            <a:endParaRPr lang="en-US" sz="1400" dirty="0"/>
          </a:p>
        </p:txBody>
      </p:sp>
      <p:sp>
        <p:nvSpPr>
          <p:cNvPr id="5" name="Shape 3"/>
          <p:cNvSpPr/>
          <p:nvPr/>
        </p:nvSpPr>
        <p:spPr>
          <a:xfrm>
            <a:off x="548640" y="2514600"/>
            <a:ext cx="6949440" cy="384048"/>
          </a:xfrm>
          <a:prstGeom prst="roundRect">
            <a:avLst>
              <a:gd name="adj" fmla="val 21429"/>
            </a:avLst>
          </a:prstGeom>
          <a:solidFill>
            <a:srgbClr val="1E2740"/>
          </a:solidFill>
          <a:ln w="12700">
            <a:solidFill>
              <a:srgbClr val="2A3550"/>
            </a:solidFill>
            <a:prstDash val="solid"/>
          </a:ln>
        </p:spPr>
      </p:sp>
      <p:sp>
        <p:nvSpPr>
          <p:cNvPr id="6" name="Text 4"/>
          <p:cNvSpPr/>
          <p:nvPr/>
        </p:nvSpPr>
        <p:spPr>
          <a:xfrm>
            <a:off x="713232" y="2514600"/>
            <a:ext cx="6620256" cy="384048"/>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bindingDir = argmin( t90_TX , t90_RX )</a:t>
            </a:r>
            <a:endParaRPr lang="en-US" sz="1350" dirty="0"/>
          </a:p>
        </p:txBody>
      </p:sp>
      <p:sp>
        <p:nvSpPr>
          <p:cNvPr id="7" name="Text 5"/>
          <p:cNvSpPr/>
          <p:nvPr/>
        </p:nvSpPr>
        <p:spPr>
          <a:xfrm>
            <a:off x="548640" y="3154680"/>
            <a:ext cx="6949440" cy="274320"/>
          </a:xfrm>
          <a:prstGeom prst="rect">
            <a:avLst/>
          </a:prstGeom>
          <a:noFill/>
          <a:ln/>
        </p:spPr>
        <p:txBody>
          <a:bodyPr wrap="square" lIns="0" tIns="0" rIns="0" bIns="0" rtlCol="0" anchor="t"/>
          <a:lstStyle/>
          <a:p>
            <a:pPr indent="0" marL="0">
              <a:lnSpc>
                <a:spcPct val="102000"/>
              </a:lnSpc>
              <a:spcAft>
                <a:spcPts val="500"/>
              </a:spcAft>
              <a:buNone/>
            </a:pPr>
            <a:r>
              <a:rPr lang="en-US" sz="1400" b="1" dirty="0">
                <a:solidFill>
                  <a:srgbClr val="38BDF8"/>
                </a:solidFill>
                <a:latin typeface="Calibri" pitchFamily="34" charset="0"/>
                <a:ea typeface="Calibri" pitchFamily="34" charset="-122"/>
                <a:cs typeface="Calibri" pitchFamily="34" charset="-120"/>
              </a:rPr>
              <a:t>Metric knob:</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  p95 (sustained) · p99 · max — sets which daily level the trend is fit to.</a:t>
            </a:r>
            <a:endParaRPr lang="en-US" sz="1400" dirty="0"/>
          </a:p>
        </p:txBody>
      </p:sp>
      <p:sp>
        <p:nvSpPr>
          <p:cNvPr id="8" name="Text 6"/>
          <p:cNvSpPr/>
          <p:nvPr/>
        </p:nvSpPr>
        <p:spPr>
          <a:xfrm>
            <a:off x="548640" y="3840480"/>
            <a:ext cx="6949440" cy="274320"/>
          </a:xfrm>
          <a:prstGeom prst="rect">
            <a:avLst/>
          </a:prstGeom>
          <a:noFill/>
          <a:ln/>
        </p:spPr>
        <p:txBody>
          <a:bodyPr wrap="square" lIns="0" tIns="0" rIns="0" bIns="0" rtlCol="0" anchor="t"/>
          <a:lstStyle/>
          <a:p>
            <a:pPr indent="0" marL="0">
              <a:lnSpc>
                <a:spcPct val="102000"/>
              </a:lnSpc>
              <a:spcAft>
                <a:spcPts val="500"/>
              </a:spcAft>
              <a:buNone/>
            </a:pPr>
            <a:r>
              <a:rPr lang="en-US" sz="1400" b="1" dirty="0">
                <a:solidFill>
                  <a:srgbClr val="FBBF24"/>
                </a:solidFill>
                <a:latin typeface="Calibri" pitchFamily="34" charset="0"/>
                <a:ea typeface="Calibri" pitchFamily="34" charset="-122"/>
                <a:cs typeface="Calibri" pitchFamily="34" charset="-120"/>
              </a:rPr>
              <a:t>Provisioning target — </a:t>
            </a:r>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“provision to N× peak”:</a:t>
            </a:r>
            <a:endParaRPr lang="en-US" sz="1400" dirty="0"/>
          </a:p>
        </p:txBody>
      </p:sp>
      <p:sp>
        <p:nvSpPr>
          <p:cNvPr id="9" name="Shape 7"/>
          <p:cNvSpPr/>
          <p:nvPr/>
        </p:nvSpPr>
        <p:spPr>
          <a:xfrm>
            <a:off x="548640" y="4297680"/>
            <a:ext cx="6949440" cy="960120"/>
          </a:xfrm>
          <a:prstGeom prst="roundRect">
            <a:avLst>
              <a:gd name="adj" fmla="val 8571"/>
            </a:avLst>
          </a:prstGeom>
          <a:solidFill>
            <a:srgbClr val="1E2740"/>
          </a:solidFill>
          <a:ln w="12700">
            <a:solidFill>
              <a:srgbClr val="2A3550"/>
            </a:solidFill>
            <a:prstDash val="solid"/>
          </a:ln>
        </p:spPr>
      </p:sp>
      <p:sp>
        <p:nvSpPr>
          <p:cNvPr id="10" name="Text 8"/>
          <p:cNvSpPr/>
          <p:nvPr/>
        </p:nvSpPr>
        <p:spPr>
          <a:xfrm>
            <a:off x="713232" y="4297680"/>
            <a:ext cx="6620256" cy="960120"/>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recommendedCapacity = peak × speed × N</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peak-utilization ceiling = 100 / N  %</a:t>
            </a:r>
            <a:endParaRPr lang="en-US" sz="1350" dirty="0"/>
          </a:p>
        </p:txBody>
      </p:sp>
      <p:sp>
        <p:nvSpPr>
          <p:cNvPr id="11" name="Shape 9"/>
          <p:cNvSpPr/>
          <p:nvPr/>
        </p:nvSpPr>
        <p:spPr>
          <a:xfrm>
            <a:off x="7772400" y="1737360"/>
            <a:ext cx="3886200" cy="4389120"/>
          </a:xfrm>
          <a:prstGeom prst="roundRect">
            <a:avLst>
              <a:gd name="adj" fmla="val 2118"/>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2" name="Text 10"/>
          <p:cNvSpPr/>
          <p:nvPr/>
        </p:nvSpPr>
        <p:spPr>
          <a:xfrm>
            <a:off x="8001000" y="1874520"/>
            <a:ext cx="3429000" cy="27432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N× peak → ceiling</a:t>
            </a:r>
            <a:endParaRPr lang="en-US" sz="1400" dirty="0"/>
          </a:p>
        </p:txBody>
      </p:sp>
      <p:sp>
        <p:nvSpPr>
          <p:cNvPr id="13" name="Text 11"/>
          <p:cNvSpPr/>
          <p:nvPr/>
        </p:nvSpPr>
        <p:spPr>
          <a:xfrm>
            <a:off x="8001000" y="2331720"/>
            <a:ext cx="1143000" cy="310896"/>
          </a:xfrm>
          <a:prstGeom prst="rect">
            <a:avLst/>
          </a:prstGeom>
          <a:noFill/>
          <a:ln/>
        </p:spPr>
        <p:txBody>
          <a:bodyPr wrap="square" lIns="0" tIns="0" rIns="0" bIns="0" rtlCol="0" anchor="ctr"/>
          <a:lstStyle/>
          <a:p>
            <a:pPr algn="l" indent="0" marL="0">
              <a:buNone/>
            </a:pPr>
            <a:r>
              <a:rPr lang="en-US" sz="1200" b="1" dirty="0">
                <a:solidFill>
                  <a:srgbClr val="38BDF8"/>
                </a:solidFill>
                <a:latin typeface="Calibri" pitchFamily="34" charset="0"/>
                <a:ea typeface="Calibri" pitchFamily="34" charset="-122"/>
                <a:cs typeface="Calibri" pitchFamily="34" charset="-120"/>
              </a:rPr>
              <a:t>N</a:t>
            </a:r>
            <a:endParaRPr lang="en-US" sz="1200" dirty="0"/>
          </a:p>
        </p:txBody>
      </p:sp>
      <p:sp>
        <p:nvSpPr>
          <p:cNvPr id="14" name="Text 12"/>
          <p:cNvSpPr/>
          <p:nvPr/>
        </p:nvSpPr>
        <p:spPr>
          <a:xfrm>
            <a:off x="9171432" y="2331720"/>
            <a:ext cx="1143000" cy="310896"/>
          </a:xfrm>
          <a:prstGeom prst="rect">
            <a:avLst/>
          </a:prstGeom>
          <a:noFill/>
          <a:ln/>
        </p:spPr>
        <p:txBody>
          <a:bodyPr wrap="square" lIns="0" tIns="0" rIns="0" bIns="0" rtlCol="0" anchor="ctr"/>
          <a:lstStyle/>
          <a:p>
            <a:pPr algn="ctr" indent="0" marL="0">
              <a:buNone/>
            </a:pPr>
            <a:r>
              <a:rPr lang="en-US" sz="1200" b="1" dirty="0">
                <a:solidFill>
                  <a:srgbClr val="38BDF8"/>
                </a:solidFill>
                <a:latin typeface="Calibri" pitchFamily="34" charset="0"/>
                <a:ea typeface="Calibri" pitchFamily="34" charset="-122"/>
                <a:cs typeface="Calibri" pitchFamily="34" charset="-120"/>
              </a:rPr>
              <a:t>ceiling</a:t>
            </a:r>
            <a:endParaRPr lang="en-US" sz="1200" dirty="0"/>
          </a:p>
        </p:txBody>
      </p:sp>
      <p:sp>
        <p:nvSpPr>
          <p:cNvPr id="15" name="Text 13"/>
          <p:cNvSpPr/>
          <p:nvPr/>
        </p:nvSpPr>
        <p:spPr>
          <a:xfrm>
            <a:off x="10341864" y="2331720"/>
            <a:ext cx="1143000" cy="310896"/>
          </a:xfrm>
          <a:prstGeom prst="rect">
            <a:avLst/>
          </a:prstGeom>
          <a:noFill/>
          <a:ln/>
        </p:spPr>
        <p:txBody>
          <a:bodyPr wrap="square" lIns="0" tIns="0" rIns="0" bIns="0" rtlCol="0" anchor="ctr"/>
          <a:lstStyle/>
          <a:p>
            <a:pPr algn="ctr" indent="0" marL="0">
              <a:buNone/>
            </a:pPr>
            <a:r>
              <a:rPr lang="en-US" sz="1200" b="1" dirty="0">
                <a:solidFill>
                  <a:srgbClr val="38BDF8"/>
                </a:solidFill>
                <a:latin typeface="Calibri" pitchFamily="34" charset="0"/>
                <a:ea typeface="Calibri" pitchFamily="34" charset="-122"/>
                <a:cs typeface="Calibri" pitchFamily="34" charset="-120"/>
              </a:rPr>
              <a:t>headroom</a:t>
            </a:r>
            <a:endParaRPr lang="en-US" sz="1200" dirty="0"/>
          </a:p>
        </p:txBody>
      </p:sp>
      <p:sp>
        <p:nvSpPr>
          <p:cNvPr id="16" name="Shape 14"/>
          <p:cNvSpPr/>
          <p:nvPr/>
        </p:nvSpPr>
        <p:spPr>
          <a:xfrm>
            <a:off x="8001000" y="2670048"/>
            <a:ext cx="3429000" cy="0"/>
          </a:xfrm>
          <a:prstGeom prst="line">
            <a:avLst/>
          </a:prstGeom>
          <a:noFill/>
          <a:ln w="12700">
            <a:solidFill>
              <a:srgbClr val="2A3550"/>
            </a:solidFill>
            <a:prstDash val="solid"/>
          </a:ln>
        </p:spPr>
      </p:sp>
      <p:sp>
        <p:nvSpPr>
          <p:cNvPr id="17" name="Text 15"/>
          <p:cNvSpPr/>
          <p:nvPr/>
        </p:nvSpPr>
        <p:spPr>
          <a:xfrm>
            <a:off x="8001000" y="2715768"/>
            <a:ext cx="1143000" cy="310896"/>
          </a:xfrm>
          <a:prstGeom prst="rect">
            <a:avLst/>
          </a:prstGeom>
          <a:noFill/>
          <a:ln/>
        </p:spPr>
        <p:txBody>
          <a:bodyPr wrap="square" lIns="0" tIns="0" rIns="0" bIns="0" rtlCol="0" anchor="ctr"/>
          <a:lstStyle/>
          <a:p>
            <a:pPr algn="l" indent="0" marL="0">
              <a:buNone/>
            </a:pPr>
            <a:r>
              <a:rPr lang="en-US" sz="1200" dirty="0">
                <a:solidFill>
                  <a:srgbClr val="E6EDF7"/>
                </a:solidFill>
                <a:latin typeface="Courier New" pitchFamily="34" charset="0"/>
                <a:ea typeface="Courier New" pitchFamily="34" charset="-122"/>
                <a:cs typeface="Courier New" pitchFamily="34" charset="-120"/>
              </a:rPr>
              <a:t>1.25</a:t>
            </a:r>
            <a:endParaRPr lang="en-US" sz="1200" dirty="0"/>
          </a:p>
        </p:txBody>
      </p:sp>
      <p:sp>
        <p:nvSpPr>
          <p:cNvPr id="18" name="Text 16"/>
          <p:cNvSpPr/>
          <p:nvPr/>
        </p:nvSpPr>
        <p:spPr>
          <a:xfrm>
            <a:off x="9171432" y="2715768"/>
            <a:ext cx="1143000" cy="310896"/>
          </a:xfrm>
          <a:prstGeom prst="rect">
            <a:avLst/>
          </a:prstGeom>
          <a:noFill/>
          <a:ln/>
        </p:spPr>
        <p:txBody>
          <a:bodyPr wrap="square" lIns="0" tIns="0" rIns="0" bIns="0" rtlCol="0" anchor="ctr"/>
          <a:lstStyle/>
          <a:p>
            <a:pPr algn="ctr" indent="0" marL="0">
              <a:buNone/>
            </a:pPr>
            <a:r>
              <a:rPr lang="en-US" sz="1200" dirty="0">
                <a:solidFill>
                  <a:srgbClr val="E6EDF7"/>
                </a:solidFill>
                <a:latin typeface="Courier New" pitchFamily="34" charset="0"/>
                <a:ea typeface="Courier New" pitchFamily="34" charset="-122"/>
                <a:cs typeface="Courier New" pitchFamily="34" charset="-120"/>
              </a:rPr>
              <a:t>80%</a:t>
            </a:r>
            <a:endParaRPr lang="en-US" sz="1200" dirty="0"/>
          </a:p>
        </p:txBody>
      </p:sp>
      <p:sp>
        <p:nvSpPr>
          <p:cNvPr id="19" name="Text 17"/>
          <p:cNvSpPr/>
          <p:nvPr/>
        </p:nvSpPr>
        <p:spPr>
          <a:xfrm>
            <a:off x="10341864" y="2715768"/>
            <a:ext cx="1143000" cy="310896"/>
          </a:xfrm>
          <a:prstGeom prst="rect">
            <a:avLst/>
          </a:prstGeom>
          <a:noFill/>
          <a:ln/>
        </p:spPr>
        <p:txBody>
          <a:bodyPr wrap="square" lIns="0" tIns="0" rIns="0" bIns="0" rtlCol="0" anchor="ctr"/>
          <a:lstStyle/>
          <a:p>
            <a:pPr algn="ctr" indent="0" marL="0">
              <a:buNone/>
            </a:pPr>
            <a:r>
              <a:rPr lang="en-US" sz="1200" dirty="0">
                <a:solidFill>
                  <a:srgbClr val="E6EDF7"/>
                </a:solidFill>
                <a:latin typeface="Courier New" pitchFamily="34" charset="0"/>
                <a:ea typeface="Courier New" pitchFamily="34" charset="-122"/>
                <a:cs typeface="Courier New" pitchFamily="34" charset="-120"/>
              </a:rPr>
              <a:t>1.25×</a:t>
            </a:r>
            <a:endParaRPr lang="en-US" sz="1200" dirty="0"/>
          </a:p>
        </p:txBody>
      </p:sp>
      <p:sp>
        <p:nvSpPr>
          <p:cNvPr id="20" name="Text 18"/>
          <p:cNvSpPr/>
          <p:nvPr/>
        </p:nvSpPr>
        <p:spPr>
          <a:xfrm>
            <a:off x="8001000" y="3099816"/>
            <a:ext cx="1143000" cy="310896"/>
          </a:xfrm>
          <a:prstGeom prst="rect">
            <a:avLst/>
          </a:prstGeom>
          <a:noFill/>
          <a:ln/>
        </p:spPr>
        <p:txBody>
          <a:bodyPr wrap="square" lIns="0" tIns="0" rIns="0" bIns="0" rtlCol="0" anchor="ctr"/>
          <a:lstStyle/>
          <a:p>
            <a:pPr algn="l" indent="0" marL="0">
              <a:buNone/>
            </a:pPr>
            <a:r>
              <a:rPr lang="en-US" sz="1200" dirty="0">
                <a:solidFill>
                  <a:srgbClr val="E6EDF7"/>
                </a:solidFill>
                <a:latin typeface="Courier New" pitchFamily="34" charset="0"/>
                <a:ea typeface="Courier New" pitchFamily="34" charset="-122"/>
                <a:cs typeface="Courier New" pitchFamily="34" charset="-120"/>
              </a:rPr>
              <a:t>1.5</a:t>
            </a:r>
            <a:endParaRPr lang="en-US" sz="1200" dirty="0"/>
          </a:p>
        </p:txBody>
      </p:sp>
      <p:sp>
        <p:nvSpPr>
          <p:cNvPr id="21" name="Text 19"/>
          <p:cNvSpPr/>
          <p:nvPr/>
        </p:nvSpPr>
        <p:spPr>
          <a:xfrm>
            <a:off x="9171432" y="3099816"/>
            <a:ext cx="1143000" cy="310896"/>
          </a:xfrm>
          <a:prstGeom prst="rect">
            <a:avLst/>
          </a:prstGeom>
          <a:noFill/>
          <a:ln/>
        </p:spPr>
        <p:txBody>
          <a:bodyPr wrap="square" lIns="0" tIns="0" rIns="0" bIns="0" rtlCol="0" anchor="ctr"/>
          <a:lstStyle/>
          <a:p>
            <a:pPr algn="ctr" indent="0" marL="0">
              <a:buNone/>
            </a:pPr>
            <a:r>
              <a:rPr lang="en-US" sz="1200" dirty="0">
                <a:solidFill>
                  <a:srgbClr val="E6EDF7"/>
                </a:solidFill>
                <a:latin typeface="Courier New" pitchFamily="34" charset="0"/>
                <a:ea typeface="Courier New" pitchFamily="34" charset="-122"/>
                <a:cs typeface="Courier New" pitchFamily="34" charset="-120"/>
              </a:rPr>
              <a:t>67%</a:t>
            </a:r>
            <a:endParaRPr lang="en-US" sz="1200" dirty="0"/>
          </a:p>
        </p:txBody>
      </p:sp>
      <p:sp>
        <p:nvSpPr>
          <p:cNvPr id="22" name="Text 20"/>
          <p:cNvSpPr/>
          <p:nvPr/>
        </p:nvSpPr>
        <p:spPr>
          <a:xfrm>
            <a:off x="10341864" y="3099816"/>
            <a:ext cx="1143000" cy="310896"/>
          </a:xfrm>
          <a:prstGeom prst="rect">
            <a:avLst/>
          </a:prstGeom>
          <a:noFill/>
          <a:ln/>
        </p:spPr>
        <p:txBody>
          <a:bodyPr wrap="square" lIns="0" tIns="0" rIns="0" bIns="0" rtlCol="0" anchor="ctr"/>
          <a:lstStyle/>
          <a:p>
            <a:pPr algn="ctr" indent="0" marL="0">
              <a:buNone/>
            </a:pPr>
            <a:r>
              <a:rPr lang="en-US" sz="1200" dirty="0">
                <a:solidFill>
                  <a:srgbClr val="E6EDF7"/>
                </a:solidFill>
                <a:latin typeface="Courier New" pitchFamily="34" charset="0"/>
                <a:ea typeface="Courier New" pitchFamily="34" charset="-122"/>
                <a:cs typeface="Courier New" pitchFamily="34" charset="-120"/>
              </a:rPr>
              <a:t>1.5×</a:t>
            </a:r>
            <a:endParaRPr lang="en-US" sz="1200" dirty="0"/>
          </a:p>
        </p:txBody>
      </p:sp>
      <p:sp>
        <p:nvSpPr>
          <p:cNvPr id="23" name="Text 21"/>
          <p:cNvSpPr/>
          <p:nvPr/>
        </p:nvSpPr>
        <p:spPr>
          <a:xfrm>
            <a:off x="8001000" y="3483864"/>
            <a:ext cx="1143000" cy="310896"/>
          </a:xfrm>
          <a:prstGeom prst="rect">
            <a:avLst/>
          </a:prstGeom>
          <a:noFill/>
          <a:ln/>
        </p:spPr>
        <p:txBody>
          <a:bodyPr wrap="square" lIns="0" tIns="0" rIns="0" bIns="0" rtlCol="0" anchor="ctr"/>
          <a:lstStyle/>
          <a:p>
            <a:pPr algn="l" indent="0" marL="0">
              <a:buNone/>
            </a:pPr>
            <a:r>
              <a:rPr lang="en-US" sz="1200" dirty="0">
                <a:solidFill>
                  <a:srgbClr val="E6EDF7"/>
                </a:solidFill>
                <a:latin typeface="Courier New" pitchFamily="34" charset="0"/>
                <a:ea typeface="Courier New" pitchFamily="34" charset="-122"/>
                <a:cs typeface="Courier New" pitchFamily="34" charset="-120"/>
              </a:rPr>
              <a:t>2.0</a:t>
            </a:r>
            <a:endParaRPr lang="en-US" sz="1200" dirty="0"/>
          </a:p>
        </p:txBody>
      </p:sp>
      <p:sp>
        <p:nvSpPr>
          <p:cNvPr id="24" name="Text 22"/>
          <p:cNvSpPr/>
          <p:nvPr/>
        </p:nvSpPr>
        <p:spPr>
          <a:xfrm>
            <a:off x="9171432" y="3483864"/>
            <a:ext cx="1143000" cy="310896"/>
          </a:xfrm>
          <a:prstGeom prst="rect">
            <a:avLst/>
          </a:prstGeom>
          <a:noFill/>
          <a:ln/>
        </p:spPr>
        <p:txBody>
          <a:bodyPr wrap="square" lIns="0" tIns="0" rIns="0" bIns="0" rtlCol="0" anchor="ctr"/>
          <a:lstStyle/>
          <a:p>
            <a:pPr algn="ctr" indent="0" marL="0">
              <a:buNone/>
            </a:pPr>
            <a:r>
              <a:rPr lang="en-US" sz="1200" dirty="0">
                <a:solidFill>
                  <a:srgbClr val="E6EDF7"/>
                </a:solidFill>
                <a:latin typeface="Courier New" pitchFamily="34" charset="0"/>
                <a:ea typeface="Courier New" pitchFamily="34" charset="-122"/>
                <a:cs typeface="Courier New" pitchFamily="34" charset="-120"/>
              </a:rPr>
              <a:t>50%</a:t>
            </a:r>
            <a:endParaRPr lang="en-US" sz="1200" dirty="0"/>
          </a:p>
        </p:txBody>
      </p:sp>
      <p:sp>
        <p:nvSpPr>
          <p:cNvPr id="25" name="Text 23"/>
          <p:cNvSpPr/>
          <p:nvPr/>
        </p:nvSpPr>
        <p:spPr>
          <a:xfrm>
            <a:off x="10341864" y="3483864"/>
            <a:ext cx="1143000" cy="310896"/>
          </a:xfrm>
          <a:prstGeom prst="rect">
            <a:avLst/>
          </a:prstGeom>
          <a:noFill/>
          <a:ln/>
        </p:spPr>
        <p:txBody>
          <a:bodyPr wrap="square" lIns="0" tIns="0" rIns="0" bIns="0" rtlCol="0" anchor="ctr"/>
          <a:lstStyle/>
          <a:p>
            <a:pPr algn="ctr" indent="0" marL="0">
              <a:buNone/>
            </a:pPr>
            <a:r>
              <a:rPr lang="en-US" sz="1200" dirty="0">
                <a:solidFill>
                  <a:srgbClr val="E6EDF7"/>
                </a:solidFill>
                <a:latin typeface="Courier New" pitchFamily="34" charset="0"/>
                <a:ea typeface="Courier New" pitchFamily="34" charset="-122"/>
                <a:cs typeface="Courier New" pitchFamily="34" charset="-120"/>
              </a:rPr>
              <a:t>2.0×</a:t>
            </a:r>
            <a:endParaRPr lang="en-US" sz="1200" dirty="0"/>
          </a:p>
        </p:txBody>
      </p:sp>
      <p:sp>
        <p:nvSpPr>
          <p:cNvPr id="26" name="Text 24"/>
          <p:cNvSpPr/>
          <p:nvPr/>
        </p:nvSpPr>
        <p:spPr>
          <a:xfrm>
            <a:off x="8001000" y="3867912"/>
            <a:ext cx="1143000" cy="310896"/>
          </a:xfrm>
          <a:prstGeom prst="rect">
            <a:avLst/>
          </a:prstGeom>
          <a:noFill/>
          <a:ln/>
        </p:spPr>
        <p:txBody>
          <a:bodyPr wrap="square" lIns="0" tIns="0" rIns="0" bIns="0" rtlCol="0" anchor="ctr"/>
          <a:lstStyle/>
          <a:p>
            <a:pPr algn="l" indent="0" marL="0">
              <a:buNone/>
            </a:pPr>
            <a:r>
              <a:rPr lang="en-US" sz="1200" dirty="0">
                <a:solidFill>
                  <a:srgbClr val="E6EDF7"/>
                </a:solidFill>
                <a:latin typeface="Courier New" pitchFamily="34" charset="0"/>
                <a:ea typeface="Courier New" pitchFamily="34" charset="-122"/>
                <a:cs typeface="Courier New" pitchFamily="34" charset="-120"/>
              </a:rPr>
              <a:t>3.0</a:t>
            </a:r>
            <a:endParaRPr lang="en-US" sz="1200" dirty="0"/>
          </a:p>
        </p:txBody>
      </p:sp>
      <p:sp>
        <p:nvSpPr>
          <p:cNvPr id="27" name="Text 25"/>
          <p:cNvSpPr/>
          <p:nvPr/>
        </p:nvSpPr>
        <p:spPr>
          <a:xfrm>
            <a:off x="9171432" y="3867912"/>
            <a:ext cx="1143000" cy="310896"/>
          </a:xfrm>
          <a:prstGeom prst="rect">
            <a:avLst/>
          </a:prstGeom>
          <a:noFill/>
          <a:ln/>
        </p:spPr>
        <p:txBody>
          <a:bodyPr wrap="square" lIns="0" tIns="0" rIns="0" bIns="0" rtlCol="0" anchor="ctr"/>
          <a:lstStyle/>
          <a:p>
            <a:pPr algn="ctr" indent="0" marL="0">
              <a:buNone/>
            </a:pPr>
            <a:r>
              <a:rPr lang="en-US" sz="1200" dirty="0">
                <a:solidFill>
                  <a:srgbClr val="E6EDF7"/>
                </a:solidFill>
                <a:latin typeface="Courier New" pitchFamily="34" charset="0"/>
                <a:ea typeface="Courier New" pitchFamily="34" charset="-122"/>
                <a:cs typeface="Courier New" pitchFamily="34" charset="-120"/>
              </a:rPr>
              <a:t>33%</a:t>
            </a:r>
            <a:endParaRPr lang="en-US" sz="1200" dirty="0"/>
          </a:p>
        </p:txBody>
      </p:sp>
      <p:sp>
        <p:nvSpPr>
          <p:cNvPr id="28" name="Text 26"/>
          <p:cNvSpPr/>
          <p:nvPr/>
        </p:nvSpPr>
        <p:spPr>
          <a:xfrm>
            <a:off x="10341864" y="3867912"/>
            <a:ext cx="1143000" cy="310896"/>
          </a:xfrm>
          <a:prstGeom prst="rect">
            <a:avLst/>
          </a:prstGeom>
          <a:noFill/>
          <a:ln/>
        </p:spPr>
        <p:txBody>
          <a:bodyPr wrap="square" lIns="0" tIns="0" rIns="0" bIns="0" rtlCol="0" anchor="ctr"/>
          <a:lstStyle/>
          <a:p>
            <a:pPr algn="ctr" indent="0" marL="0">
              <a:buNone/>
            </a:pPr>
            <a:r>
              <a:rPr lang="en-US" sz="1200" dirty="0">
                <a:solidFill>
                  <a:srgbClr val="E6EDF7"/>
                </a:solidFill>
                <a:latin typeface="Courier New" pitchFamily="34" charset="0"/>
                <a:ea typeface="Courier New" pitchFamily="34" charset="-122"/>
                <a:cs typeface="Courier New" pitchFamily="34" charset="-120"/>
              </a:rPr>
              <a:t>3.0×</a:t>
            </a:r>
            <a:endParaRPr lang="en-US" sz="1200" dirty="0"/>
          </a:p>
        </p:txBody>
      </p:sp>
      <p:sp>
        <p:nvSpPr>
          <p:cNvPr id="29" name="Text 27"/>
          <p:cNvSpPr/>
          <p:nvPr/>
        </p:nvSpPr>
        <p:spPr>
          <a:xfrm>
            <a:off x="8001000" y="4572000"/>
            <a:ext cx="3429000" cy="1280160"/>
          </a:xfrm>
          <a:prstGeom prst="rect">
            <a:avLst/>
          </a:prstGeom>
          <a:noFill/>
          <a:ln/>
        </p:spPr>
        <p:txBody>
          <a:bodyPr wrap="square" lIns="0" tIns="0" rIns="0" bIns="0" rtlCol="0" anchor="t"/>
          <a:lstStyle/>
          <a:p>
            <a:pPr indent="0" marL="0">
              <a:lnSpc>
                <a:spcPct val="110000"/>
              </a:lnSpc>
              <a:buNone/>
            </a:pPr>
            <a:r>
              <a:rPr lang="en-US" sz="1200" dirty="0">
                <a:solidFill>
                  <a:srgbClr val="93A1BC"/>
                </a:solidFill>
                <a:latin typeface="Calibri" pitchFamily="34" charset="0"/>
                <a:ea typeface="Calibri" pitchFamily="34" charset="-122"/>
                <a:cs typeface="Calibri" pitchFamily="34" charset="-120"/>
              </a:rPr>
              <a:t>peak = </a:t>
            </a:r>
            <a:pPr indent="0" marL="0">
              <a:lnSpc>
                <a:spcPct val="110000"/>
              </a:lnSpc>
              <a:buNone/>
            </a:pPr>
            <a:r>
              <a:rPr lang="en-US" sz="1200" dirty="0">
                <a:solidFill>
                  <a:srgbClr val="E6EDF7"/>
                </a:solidFill>
                <a:latin typeface="Courier New" pitchFamily="34" charset="0"/>
                <a:ea typeface="Courier New" pitchFamily="34" charset="-122"/>
                <a:cs typeface="Courier New" pitchFamily="34" charset="-120"/>
              </a:rPr>
              <a:t>max(pkP95, max)</a:t>
            </a:r>
            <a:pPr indent="0" marL="0">
              <a:lnSpc>
                <a:spcPct val="110000"/>
              </a:lnSpc>
              <a:buNone/>
            </a:pPr>
            <a:endParaRPr lang="en-US" sz="1200" dirty="0"/>
          </a:p>
          <a:p>
            <a:pPr indent="0" marL="0">
              <a:lnSpc>
                <a:spcPct val="110000"/>
              </a:lnSpc>
              <a:buNone/>
            </a:pPr>
            <a:r>
              <a:rPr lang="en-US" sz="1200" i="1" dirty="0">
                <a:solidFill>
                  <a:srgbClr val="6B7A96"/>
                </a:solidFill>
                <a:latin typeface="Calibri" pitchFamily="34" charset="0"/>
                <a:ea typeface="Calibri" pitchFamily="34" charset="-122"/>
                <a:cs typeface="Calibri" pitchFamily="34" charset="-120"/>
              </a:rPr>
              <a:t>A link at 50% peak with N=2 already meets the target.</a:t>
            </a:r>
            <a:endParaRPr lang="en-US" sz="1200" dirty="0"/>
          </a:p>
        </p:txBody>
      </p:sp>
      <p:sp>
        <p:nvSpPr>
          <p:cNvPr id="30" name="Text 28"/>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31" name="Text 29"/>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SIX WEIGHTED FACTORS × BUSINESS IMPACT</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Risk score — 0 to 100</a:t>
            </a:r>
            <a:endParaRPr lang="en-US" sz="2900" dirty="0"/>
          </a:p>
        </p:txBody>
      </p:sp>
      <p:sp>
        <p:nvSpPr>
          <p:cNvPr id="4" name="Shape 2"/>
          <p:cNvSpPr/>
          <p:nvPr/>
        </p:nvSpPr>
        <p:spPr>
          <a:xfrm>
            <a:off x="548640" y="1719072"/>
            <a:ext cx="6858000" cy="1600200"/>
          </a:xfrm>
          <a:prstGeom prst="roundRect">
            <a:avLst>
              <a:gd name="adj" fmla="val 5143"/>
            </a:avLst>
          </a:prstGeom>
          <a:solidFill>
            <a:srgbClr val="1E2740"/>
          </a:solidFill>
          <a:ln w="12700">
            <a:solidFill>
              <a:srgbClr val="2A3550"/>
            </a:solidFill>
            <a:prstDash val="solid"/>
          </a:ln>
        </p:spPr>
      </p:sp>
      <p:sp>
        <p:nvSpPr>
          <p:cNvPr id="5" name="Text 3"/>
          <p:cNvSpPr/>
          <p:nvPr/>
        </p:nvSpPr>
        <p:spPr>
          <a:xfrm>
            <a:off x="713232" y="1719072"/>
            <a:ext cx="6528816" cy="1600200"/>
          </a:xfrm>
          <a:prstGeom prst="rect">
            <a:avLst/>
          </a:prstGeom>
          <a:noFill/>
          <a:ln/>
        </p:spPr>
        <p:txBody>
          <a:bodyPr wrap="square" lIns="0" tIns="0" rIns="0" bIns="0" rtlCol="0" anchor="ctr"/>
          <a:lstStyle/>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nl(v)  = clamp(v,0,1) ^ 1.4     (hot links hurt more)</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raw    = SUM(factor_i) / SUM(weight_i)</a:t>
            </a:r>
            <a:endParaRPr lang="en-US" sz="1350" dirty="0"/>
          </a:p>
          <a:p>
            <a:pPr indent="0" marL="0">
              <a:lnSpc>
                <a:spcPct val="106000"/>
              </a:lnSpc>
              <a:buNone/>
            </a:pPr>
            <a:r>
              <a:rPr lang="en-US" sz="1350" dirty="0">
                <a:solidFill>
                  <a:srgbClr val="A9E7FF"/>
                </a:solidFill>
                <a:latin typeface="Courier New" pitchFamily="34" charset="0"/>
                <a:ea typeface="Courier New" pitchFamily="34" charset="-122"/>
                <a:cs typeface="Courier New" pitchFamily="34" charset="-120"/>
              </a:rPr>
              <a:t>score  = round( clamp(raw * impactMul, 0,1) * 100 )</a:t>
            </a:r>
            <a:endParaRPr lang="en-US" sz="1350" dirty="0"/>
          </a:p>
        </p:txBody>
      </p:sp>
      <p:sp>
        <p:nvSpPr>
          <p:cNvPr id="6" name="Shape 4"/>
          <p:cNvSpPr/>
          <p:nvPr/>
        </p:nvSpPr>
        <p:spPr>
          <a:xfrm>
            <a:off x="548640" y="3520440"/>
            <a:ext cx="256032" cy="256032"/>
          </a:xfrm>
          <a:prstGeom prst="ellipse">
            <a:avLst/>
          </a:prstGeom>
          <a:solidFill>
            <a:srgbClr val="F472B6"/>
          </a:solidFill>
          <a:ln/>
        </p:spPr>
      </p:sp>
      <p:sp>
        <p:nvSpPr>
          <p:cNvPr id="7" name="Text 5"/>
          <p:cNvSpPr/>
          <p:nvPr/>
        </p:nvSpPr>
        <p:spPr>
          <a:xfrm>
            <a:off x="914400" y="3502152"/>
            <a:ext cx="1371600" cy="274320"/>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Peak util</a:t>
            </a:r>
            <a:endParaRPr lang="en-US" sz="1200" dirty="0"/>
          </a:p>
        </p:txBody>
      </p:sp>
      <p:sp>
        <p:nvSpPr>
          <p:cNvPr id="8" name="Text 6"/>
          <p:cNvSpPr/>
          <p:nvPr/>
        </p:nvSpPr>
        <p:spPr>
          <a:xfrm>
            <a:off x="1965960" y="3502152"/>
            <a:ext cx="2103120" cy="274320"/>
          </a:xfrm>
          <a:prstGeom prst="rect">
            <a:avLst/>
          </a:prstGeom>
          <a:noFill/>
          <a:ln/>
        </p:spPr>
        <p:txBody>
          <a:bodyPr wrap="square" lIns="0" tIns="0" rIns="0" bIns="0" rtlCol="0" anchor="ctr"/>
          <a:lstStyle/>
          <a:p>
            <a:pPr indent="0" marL="0">
              <a:buNone/>
            </a:pPr>
            <a:r>
              <a:rPr lang="en-US" sz="1050" dirty="0">
                <a:solidFill>
                  <a:srgbClr val="93A1BC"/>
                </a:solidFill>
                <a:latin typeface="Courier New" pitchFamily="34" charset="0"/>
                <a:ea typeface="Courier New" pitchFamily="34" charset="-122"/>
                <a:cs typeface="Courier New" pitchFamily="34" charset="-120"/>
              </a:rPr>
              <a:t>nl(pkP95) × 0.9</a:t>
            </a:r>
            <a:endParaRPr lang="en-US" sz="1050" dirty="0"/>
          </a:p>
        </p:txBody>
      </p:sp>
      <p:sp>
        <p:nvSpPr>
          <p:cNvPr id="9" name="Shape 7"/>
          <p:cNvSpPr/>
          <p:nvPr/>
        </p:nvSpPr>
        <p:spPr>
          <a:xfrm>
            <a:off x="4114800" y="3520440"/>
            <a:ext cx="256032" cy="256032"/>
          </a:xfrm>
          <a:prstGeom prst="ellipse">
            <a:avLst/>
          </a:prstGeom>
          <a:solidFill>
            <a:srgbClr val="818CF8"/>
          </a:solidFill>
          <a:ln/>
        </p:spPr>
      </p:sp>
      <p:sp>
        <p:nvSpPr>
          <p:cNvPr id="10" name="Text 8"/>
          <p:cNvSpPr/>
          <p:nvPr/>
        </p:nvSpPr>
        <p:spPr>
          <a:xfrm>
            <a:off x="4480560" y="3502152"/>
            <a:ext cx="1371600" cy="274320"/>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Avg util</a:t>
            </a:r>
            <a:endParaRPr lang="en-US" sz="1200" dirty="0"/>
          </a:p>
        </p:txBody>
      </p:sp>
      <p:sp>
        <p:nvSpPr>
          <p:cNvPr id="11" name="Text 9"/>
          <p:cNvSpPr/>
          <p:nvPr/>
        </p:nvSpPr>
        <p:spPr>
          <a:xfrm>
            <a:off x="5532120" y="3502152"/>
            <a:ext cx="2103120" cy="274320"/>
          </a:xfrm>
          <a:prstGeom prst="rect">
            <a:avLst/>
          </a:prstGeom>
          <a:noFill/>
          <a:ln/>
        </p:spPr>
        <p:txBody>
          <a:bodyPr wrap="square" lIns="0" tIns="0" rIns="0" bIns="0" rtlCol="0" anchor="ctr"/>
          <a:lstStyle/>
          <a:p>
            <a:pPr indent="0" marL="0">
              <a:buNone/>
            </a:pPr>
            <a:r>
              <a:rPr lang="en-US" sz="1050" dirty="0">
                <a:solidFill>
                  <a:srgbClr val="93A1BC"/>
                </a:solidFill>
                <a:latin typeface="Courier New" pitchFamily="34" charset="0"/>
                <a:ea typeface="Courier New" pitchFamily="34" charset="-122"/>
                <a:cs typeface="Courier New" pitchFamily="34" charset="-120"/>
              </a:rPr>
              <a:t>nl(avg) × 0.7</a:t>
            </a:r>
            <a:endParaRPr lang="en-US" sz="1050" dirty="0"/>
          </a:p>
        </p:txBody>
      </p:sp>
      <p:sp>
        <p:nvSpPr>
          <p:cNvPr id="12" name="Shape 10"/>
          <p:cNvSpPr/>
          <p:nvPr/>
        </p:nvSpPr>
        <p:spPr>
          <a:xfrm>
            <a:off x="548640" y="4087368"/>
            <a:ext cx="256032" cy="256032"/>
          </a:xfrm>
          <a:prstGeom prst="ellipse">
            <a:avLst/>
          </a:prstGeom>
          <a:solidFill>
            <a:srgbClr val="38BDF8"/>
          </a:solidFill>
          <a:ln/>
        </p:spPr>
      </p:sp>
      <p:sp>
        <p:nvSpPr>
          <p:cNvPr id="13" name="Text 11"/>
          <p:cNvSpPr/>
          <p:nvPr/>
        </p:nvSpPr>
        <p:spPr>
          <a:xfrm>
            <a:off x="914400" y="4069080"/>
            <a:ext cx="1371600" cy="274320"/>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Trend</a:t>
            </a:r>
            <a:endParaRPr lang="en-US" sz="1200" dirty="0"/>
          </a:p>
        </p:txBody>
      </p:sp>
      <p:sp>
        <p:nvSpPr>
          <p:cNvPr id="14" name="Text 12"/>
          <p:cNvSpPr/>
          <p:nvPr/>
        </p:nvSpPr>
        <p:spPr>
          <a:xfrm>
            <a:off x="1965960" y="4069080"/>
            <a:ext cx="2103120" cy="274320"/>
          </a:xfrm>
          <a:prstGeom prst="rect">
            <a:avLst/>
          </a:prstGeom>
          <a:noFill/>
          <a:ln/>
        </p:spPr>
        <p:txBody>
          <a:bodyPr wrap="square" lIns="0" tIns="0" rIns="0" bIns="0" rtlCol="0" anchor="ctr"/>
          <a:lstStyle/>
          <a:p>
            <a:pPr indent="0" marL="0">
              <a:buNone/>
            </a:pPr>
            <a:r>
              <a:rPr lang="en-US" sz="1050" dirty="0">
                <a:solidFill>
                  <a:srgbClr val="93A1BC"/>
                </a:solidFill>
                <a:latin typeface="Courier New" pitchFamily="34" charset="0"/>
                <a:ea typeface="Courier New" pitchFamily="34" charset="-122"/>
                <a:cs typeface="Courier New" pitchFamily="34" charset="-120"/>
              </a:rPr>
              <a:t>clamp(slope·60/0.5) × 0.8</a:t>
            </a:r>
            <a:endParaRPr lang="en-US" sz="1050" dirty="0"/>
          </a:p>
        </p:txBody>
      </p:sp>
      <p:sp>
        <p:nvSpPr>
          <p:cNvPr id="15" name="Shape 13"/>
          <p:cNvSpPr/>
          <p:nvPr/>
        </p:nvSpPr>
        <p:spPr>
          <a:xfrm>
            <a:off x="4114800" y="4087368"/>
            <a:ext cx="256032" cy="256032"/>
          </a:xfrm>
          <a:prstGeom prst="ellipse">
            <a:avLst/>
          </a:prstGeom>
          <a:solidFill>
            <a:srgbClr val="FBBF24"/>
          </a:solidFill>
          <a:ln/>
        </p:spPr>
      </p:sp>
      <p:sp>
        <p:nvSpPr>
          <p:cNvPr id="16" name="Text 14"/>
          <p:cNvSpPr/>
          <p:nvPr/>
        </p:nvSpPr>
        <p:spPr>
          <a:xfrm>
            <a:off x="4480560" y="4069080"/>
            <a:ext cx="1371600" cy="274320"/>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Growth</a:t>
            </a:r>
            <a:endParaRPr lang="en-US" sz="1200" dirty="0"/>
          </a:p>
        </p:txBody>
      </p:sp>
      <p:sp>
        <p:nvSpPr>
          <p:cNvPr id="17" name="Text 15"/>
          <p:cNvSpPr/>
          <p:nvPr/>
        </p:nvSpPr>
        <p:spPr>
          <a:xfrm>
            <a:off x="5532120" y="4069080"/>
            <a:ext cx="2103120" cy="274320"/>
          </a:xfrm>
          <a:prstGeom prst="rect">
            <a:avLst/>
          </a:prstGeom>
          <a:noFill/>
          <a:ln/>
        </p:spPr>
        <p:txBody>
          <a:bodyPr wrap="square" lIns="0" tIns="0" rIns="0" bIns="0" rtlCol="0" anchor="ctr"/>
          <a:lstStyle/>
          <a:p>
            <a:pPr indent="0" marL="0">
              <a:buNone/>
            </a:pPr>
            <a:r>
              <a:rPr lang="en-US" sz="1050" dirty="0">
                <a:solidFill>
                  <a:srgbClr val="93A1BC"/>
                </a:solidFill>
                <a:latin typeface="Courier New" pitchFamily="34" charset="0"/>
                <a:ea typeface="Courier New" pitchFamily="34" charset="-122"/>
                <a:cs typeface="Courier New" pitchFamily="34" charset="-120"/>
              </a:rPr>
              <a:t>clamp(growth/0.3) × 0.7</a:t>
            </a:r>
            <a:endParaRPr lang="en-US" sz="1050" dirty="0"/>
          </a:p>
        </p:txBody>
      </p:sp>
      <p:sp>
        <p:nvSpPr>
          <p:cNvPr id="18" name="Shape 16"/>
          <p:cNvSpPr/>
          <p:nvPr/>
        </p:nvSpPr>
        <p:spPr>
          <a:xfrm>
            <a:off x="548640" y="4654296"/>
            <a:ext cx="256032" cy="256032"/>
          </a:xfrm>
          <a:prstGeom prst="ellipse">
            <a:avLst/>
          </a:prstGeom>
          <a:solidFill>
            <a:srgbClr val="FB923C"/>
          </a:solidFill>
          <a:ln/>
        </p:spPr>
      </p:sp>
      <p:sp>
        <p:nvSpPr>
          <p:cNvPr id="19" name="Text 17"/>
          <p:cNvSpPr/>
          <p:nvPr/>
        </p:nvSpPr>
        <p:spPr>
          <a:xfrm>
            <a:off x="914400" y="4636008"/>
            <a:ext cx="1371600" cy="274320"/>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Violations</a:t>
            </a:r>
            <a:endParaRPr lang="en-US" sz="1200" dirty="0"/>
          </a:p>
        </p:txBody>
      </p:sp>
      <p:sp>
        <p:nvSpPr>
          <p:cNvPr id="20" name="Text 18"/>
          <p:cNvSpPr/>
          <p:nvPr/>
        </p:nvSpPr>
        <p:spPr>
          <a:xfrm>
            <a:off x="1965960" y="4636008"/>
            <a:ext cx="2103120" cy="274320"/>
          </a:xfrm>
          <a:prstGeom prst="rect">
            <a:avLst/>
          </a:prstGeom>
          <a:noFill/>
          <a:ln/>
        </p:spPr>
        <p:txBody>
          <a:bodyPr wrap="square" lIns="0" tIns="0" rIns="0" bIns="0" rtlCol="0" anchor="ctr"/>
          <a:lstStyle/>
          <a:p>
            <a:pPr indent="0" marL="0">
              <a:buNone/>
            </a:pPr>
            <a:r>
              <a:rPr lang="en-US" sz="1050" dirty="0">
                <a:solidFill>
                  <a:srgbClr val="93A1BC"/>
                </a:solidFill>
                <a:latin typeface="Courier New" pitchFamily="34" charset="0"/>
                <a:ea typeface="Courier New" pitchFamily="34" charset="-122"/>
                <a:cs typeface="Courier New" pitchFamily="34" charset="-120"/>
              </a:rPr>
              <a:t>clamp(bhDays/14) × 1.0</a:t>
            </a:r>
            <a:endParaRPr lang="en-US" sz="1050" dirty="0"/>
          </a:p>
        </p:txBody>
      </p:sp>
      <p:sp>
        <p:nvSpPr>
          <p:cNvPr id="21" name="Shape 19"/>
          <p:cNvSpPr/>
          <p:nvPr/>
        </p:nvSpPr>
        <p:spPr>
          <a:xfrm>
            <a:off x="4114800" y="4654296"/>
            <a:ext cx="256032" cy="256032"/>
          </a:xfrm>
          <a:prstGeom prst="ellipse">
            <a:avLst/>
          </a:prstGeom>
          <a:solidFill>
            <a:srgbClr val="34D399"/>
          </a:solidFill>
          <a:ln/>
        </p:spPr>
      </p:sp>
      <p:sp>
        <p:nvSpPr>
          <p:cNvPr id="22" name="Text 20"/>
          <p:cNvSpPr/>
          <p:nvPr/>
        </p:nvSpPr>
        <p:spPr>
          <a:xfrm>
            <a:off x="4480560" y="4636008"/>
            <a:ext cx="1371600" cy="274320"/>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Anomalies</a:t>
            </a:r>
            <a:endParaRPr lang="en-US" sz="1200" dirty="0"/>
          </a:p>
        </p:txBody>
      </p:sp>
      <p:sp>
        <p:nvSpPr>
          <p:cNvPr id="23" name="Text 21"/>
          <p:cNvSpPr/>
          <p:nvPr/>
        </p:nvSpPr>
        <p:spPr>
          <a:xfrm>
            <a:off x="5532120" y="4636008"/>
            <a:ext cx="2103120" cy="274320"/>
          </a:xfrm>
          <a:prstGeom prst="rect">
            <a:avLst/>
          </a:prstGeom>
          <a:noFill/>
          <a:ln/>
        </p:spPr>
        <p:txBody>
          <a:bodyPr wrap="square" lIns="0" tIns="0" rIns="0" bIns="0" rtlCol="0" anchor="ctr"/>
          <a:lstStyle/>
          <a:p>
            <a:pPr indent="0" marL="0">
              <a:buNone/>
            </a:pPr>
            <a:r>
              <a:rPr lang="en-US" sz="1050" dirty="0">
                <a:solidFill>
                  <a:srgbClr val="93A1BC"/>
                </a:solidFill>
                <a:latin typeface="Courier New" pitchFamily="34" charset="0"/>
                <a:ea typeface="Courier New" pitchFamily="34" charset="-122"/>
                <a:cs typeface="Courier New" pitchFamily="34" charset="-120"/>
              </a:rPr>
              <a:t>clamp(anoms/4) × 0.6</a:t>
            </a:r>
            <a:endParaRPr lang="en-US" sz="1050" dirty="0"/>
          </a:p>
        </p:txBody>
      </p:sp>
      <p:sp>
        <p:nvSpPr>
          <p:cNvPr id="24" name="Shape 22"/>
          <p:cNvSpPr/>
          <p:nvPr/>
        </p:nvSpPr>
        <p:spPr>
          <a:xfrm>
            <a:off x="7772400" y="1719072"/>
            <a:ext cx="3886200" cy="4407408"/>
          </a:xfrm>
          <a:prstGeom prst="roundRect">
            <a:avLst>
              <a:gd name="adj" fmla="val 2118"/>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25" name="Text 23"/>
          <p:cNvSpPr/>
          <p:nvPr/>
        </p:nvSpPr>
        <p:spPr>
          <a:xfrm>
            <a:off x="8001000" y="1847088"/>
            <a:ext cx="3429000" cy="274320"/>
          </a:xfrm>
          <a:prstGeom prst="rect">
            <a:avLst/>
          </a:prstGeom>
          <a:noFill/>
          <a:ln/>
        </p:spPr>
        <p:txBody>
          <a:bodyPr wrap="square" lIns="0" tIns="0" rIns="0" bIns="0" rtlCol="0" anchor="ctr"/>
          <a:lstStyle/>
          <a:p>
            <a:pPr indent="0" marL="0">
              <a:buNone/>
            </a:pPr>
            <a:r>
              <a:rPr lang="en-US" sz="1350" b="1" dirty="0">
                <a:solidFill>
                  <a:srgbClr val="E6EDF7"/>
                </a:solidFill>
                <a:latin typeface="Cambria" pitchFamily="34" charset="0"/>
                <a:ea typeface="Cambria" pitchFamily="34" charset="-122"/>
                <a:cs typeface="Cambria" pitchFamily="34" charset="-120"/>
              </a:rPr>
              <a:t>Business-impact multiplier</a:t>
            </a:r>
            <a:endParaRPr lang="en-US" sz="1350" dirty="0"/>
          </a:p>
        </p:txBody>
      </p:sp>
      <p:sp>
        <p:nvSpPr>
          <p:cNvPr id="26" name="Text 24"/>
          <p:cNvSpPr/>
          <p:nvPr/>
        </p:nvSpPr>
        <p:spPr>
          <a:xfrm>
            <a:off x="8046720" y="2286000"/>
            <a:ext cx="1828800" cy="292608"/>
          </a:xfrm>
          <a:prstGeom prst="rect">
            <a:avLst/>
          </a:prstGeom>
          <a:noFill/>
          <a:ln/>
        </p:spPr>
        <p:txBody>
          <a:bodyPr wrap="square" lIns="0" tIns="0" rIns="0" bIns="0" rtlCol="0" anchor="ctr"/>
          <a:lstStyle/>
          <a:p>
            <a:pPr indent="0" marL="0">
              <a:buNone/>
            </a:pPr>
            <a:r>
              <a:rPr lang="en-US" sz="1250" b="1" dirty="0">
                <a:solidFill>
                  <a:srgbClr val="F43F5E"/>
                </a:solidFill>
                <a:latin typeface="Calibri" pitchFamily="34" charset="0"/>
                <a:ea typeface="Calibri" pitchFamily="34" charset="-122"/>
                <a:cs typeface="Calibri" pitchFamily="34" charset="-120"/>
              </a:rPr>
              <a:t>Critical</a:t>
            </a:r>
            <a:endParaRPr lang="en-US" sz="1250" dirty="0"/>
          </a:p>
        </p:txBody>
      </p:sp>
      <p:sp>
        <p:nvSpPr>
          <p:cNvPr id="27" name="Text 25"/>
          <p:cNvSpPr/>
          <p:nvPr/>
        </p:nvSpPr>
        <p:spPr>
          <a:xfrm>
            <a:off x="10469880" y="2286000"/>
            <a:ext cx="914400" cy="292608"/>
          </a:xfrm>
          <a:prstGeom prst="rect">
            <a:avLst/>
          </a:prstGeom>
          <a:noFill/>
          <a:ln/>
        </p:spPr>
        <p:txBody>
          <a:bodyPr wrap="square" lIns="0" tIns="0" rIns="0" bIns="0" rtlCol="0" anchor="ctr"/>
          <a:lstStyle/>
          <a:p>
            <a:pPr algn="r" indent="0" marL="0">
              <a:buNone/>
            </a:pPr>
            <a:r>
              <a:rPr lang="en-US" sz="1300" dirty="0">
                <a:solidFill>
                  <a:srgbClr val="E6EDF7"/>
                </a:solidFill>
                <a:latin typeface="Courier New" pitchFamily="34" charset="0"/>
                <a:ea typeface="Courier New" pitchFamily="34" charset="-122"/>
                <a:cs typeface="Courier New" pitchFamily="34" charset="-120"/>
              </a:rPr>
              <a:t>×1.25</a:t>
            </a:r>
            <a:endParaRPr lang="en-US" sz="1300" dirty="0"/>
          </a:p>
        </p:txBody>
      </p:sp>
      <p:sp>
        <p:nvSpPr>
          <p:cNvPr id="28" name="Text 26"/>
          <p:cNvSpPr/>
          <p:nvPr/>
        </p:nvSpPr>
        <p:spPr>
          <a:xfrm>
            <a:off x="8046720" y="2688336"/>
            <a:ext cx="1828800" cy="292608"/>
          </a:xfrm>
          <a:prstGeom prst="rect">
            <a:avLst/>
          </a:prstGeom>
          <a:noFill/>
          <a:ln/>
        </p:spPr>
        <p:txBody>
          <a:bodyPr wrap="square" lIns="0" tIns="0" rIns="0" bIns="0" rtlCol="0" anchor="ctr"/>
          <a:lstStyle/>
          <a:p>
            <a:pPr indent="0" marL="0">
              <a:buNone/>
            </a:pPr>
            <a:r>
              <a:rPr lang="en-US" sz="1250" b="1" dirty="0">
                <a:solidFill>
                  <a:srgbClr val="FB923C"/>
                </a:solidFill>
                <a:latin typeface="Calibri" pitchFamily="34" charset="0"/>
                <a:ea typeface="Calibri" pitchFamily="34" charset="-122"/>
                <a:cs typeface="Calibri" pitchFamily="34" charset="-120"/>
              </a:rPr>
              <a:t>High</a:t>
            </a:r>
            <a:endParaRPr lang="en-US" sz="1250" dirty="0"/>
          </a:p>
        </p:txBody>
      </p:sp>
      <p:sp>
        <p:nvSpPr>
          <p:cNvPr id="29" name="Text 27"/>
          <p:cNvSpPr/>
          <p:nvPr/>
        </p:nvSpPr>
        <p:spPr>
          <a:xfrm>
            <a:off x="10469880" y="2688336"/>
            <a:ext cx="914400" cy="292608"/>
          </a:xfrm>
          <a:prstGeom prst="rect">
            <a:avLst/>
          </a:prstGeom>
          <a:noFill/>
          <a:ln/>
        </p:spPr>
        <p:txBody>
          <a:bodyPr wrap="square" lIns="0" tIns="0" rIns="0" bIns="0" rtlCol="0" anchor="ctr"/>
          <a:lstStyle/>
          <a:p>
            <a:pPr algn="r" indent="0" marL="0">
              <a:buNone/>
            </a:pPr>
            <a:r>
              <a:rPr lang="en-US" sz="1300" dirty="0">
                <a:solidFill>
                  <a:srgbClr val="E6EDF7"/>
                </a:solidFill>
                <a:latin typeface="Courier New" pitchFamily="34" charset="0"/>
                <a:ea typeface="Courier New" pitchFamily="34" charset="-122"/>
                <a:cs typeface="Courier New" pitchFamily="34" charset="-120"/>
              </a:rPr>
              <a:t>×1.05</a:t>
            </a:r>
            <a:endParaRPr lang="en-US" sz="1300" dirty="0"/>
          </a:p>
        </p:txBody>
      </p:sp>
      <p:sp>
        <p:nvSpPr>
          <p:cNvPr id="30" name="Text 28"/>
          <p:cNvSpPr/>
          <p:nvPr/>
        </p:nvSpPr>
        <p:spPr>
          <a:xfrm>
            <a:off x="8046720" y="3090672"/>
            <a:ext cx="1828800" cy="292608"/>
          </a:xfrm>
          <a:prstGeom prst="rect">
            <a:avLst/>
          </a:prstGeom>
          <a:noFill/>
          <a:ln/>
        </p:spPr>
        <p:txBody>
          <a:bodyPr wrap="square" lIns="0" tIns="0" rIns="0" bIns="0" rtlCol="0" anchor="ctr"/>
          <a:lstStyle/>
          <a:p>
            <a:pPr indent="0" marL="0">
              <a:buNone/>
            </a:pPr>
            <a:r>
              <a:rPr lang="en-US" sz="1250" b="1" dirty="0">
                <a:solidFill>
                  <a:srgbClr val="FBBF24"/>
                </a:solidFill>
                <a:latin typeface="Calibri" pitchFamily="34" charset="0"/>
                <a:ea typeface="Calibri" pitchFamily="34" charset="-122"/>
                <a:cs typeface="Calibri" pitchFamily="34" charset="-120"/>
              </a:rPr>
              <a:t>Medium</a:t>
            </a:r>
            <a:endParaRPr lang="en-US" sz="1250" dirty="0"/>
          </a:p>
        </p:txBody>
      </p:sp>
      <p:sp>
        <p:nvSpPr>
          <p:cNvPr id="31" name="Text 29"/>
          <p:cNvSpPr/>
          <p:nvPr/>
        </p:nvSpPr>
        <p:spPr>
          <a:xfrm>
            <a:off x="10469880" y="3090672"/>
            <a:ext cx="914400" cy="292608"/>
          </a:xfrm>
          <a:prstGeom prst="rect">
            <a:avLst/>
          </a:prstGeom>
          <a:noFill/>
          <a:ln/>
        </p:spPr>
        <p:txBody>
          <a:bodyPr wrap="square" lIns="0" tIns="0" rIns="0" bIns="0" rtlCol="0" anchor="ctr"/>
          <a:lstStyle/>
          <a:p>
            <a:pPr algn="r" indent="0" marL="0">
              <a:buNone/>
            </a:pPr>
            <a:r>
              <a:rPr lang="en-US" sz="1300" dirty="0">
                <a:solidFill>
                  <a:srgbClr val="E6EDF7"/>
                </a:solidFill>
                <a:latin typeface="Courier New" pitchFamily="34" charset="0"/>
                <a:ea typeface="Courier New" pitchFamily="34" charset="-122"/>
                <a:cs typeface="Courier New" pitchFamily="34" charset="-120"/>
              </a:rPr>
              <a:t>×0.85</a:t>
            </a:r>
            <a:endParaRPr lang="en-US" sz="1300" dirty="0"/>
          </a:p>
        </p:txBody>
      </p:sp>
      <p:sp>
        <p:nvSpPr>
          <p:cNvPr id="32" name="Text 30"/>
          <p:cNvSpPr/>
          <p:nvPr/>
        </p:nvSpPr>
        <p:spPr>
          <a:xfrm>
            <a:off x="8046720" y="3493008"/>
            <a:ext cx="1828800" cy="292608"/>
          </a:xfrm>
          <a:prstGeom prst="rect">
            <a:avLst/>
          </a:prstGeom>
          <a:noFill/>
          <a:ln/>
        </p:spPr>
        <p:txBody>
          <a:bodyPr wrap="square" lIns="0" tIns="0" rIns="0" bIns="0" rtlCol="0" anchor="ctr"/>
          <a:lstStyle/>
          <a:p>
            <a:pPr indent="0" marL="0">
              <a:buNone/>
            </a:pPr>
            <a:r>
              <a:rPr lang="en-US" sz="1250" b="1" dirty="0">
                <a:solidFill>
                  <a:srgbClr val="34D399"/>
                </a:solidFill>
                <a:latin typeface="Calibri" pitchFamily="34" charset="0"/>
                <a:ea typeface="Calibri" pitchFamily="34" charset="-122"/>
                <a:cs typeface="Calibri" pitchFamily="34" charset="-120"/>
              </a:rPr>
              <a:t>Low</a:t>
            </a:r>
            <a:endParaRPr lang="en-US" sz="1250" dirty="0"/>
          </a:p>
        </p:txBody>
      </p:sp>
      <p:sp>
        <p:nvSpPr>
          <p:cNvPr id="33" name="Text 31"/>
          <p:cNvSpPr/>
          <p:nvPr/>
        </p:nvSpPr>
        <p:spPr>
          <a:xfrm>
            <a:off x="10469880" y="3493008"/>
            <a:ext cx="914400" cy="292608"/>
          </a:xfrm>
          <a:prstGeom prst="rect">
            <a:avLst/>
          </a:prstGeom>
          <a:noFill/>
          <a:ln/>
        </p:spPr>
        <p:txBody>
          <a:bodyPr wrap="square" lIns="0" tIns="0" rIns="0" bIns="0" rtlCol="0" anchor="ctr"/>
          <a:lstStyle/>
          <a:p>
            <a:pPr algn="r" indent="0" marL="0">
              <a:buNone/>
            </a:pPr>
            <a:r>
              <a:rPr lang="en-US" sz="1300" dirty="0">
                <a:solidFill>
                  <a:srgbClr val="E6EDF7"/>
                </a:solidFill>
                <a:latin typeface="Courier New" pitchFamily="34" charset="0"/>
                <a:ea typeface="Courier New" pitchFamily="34" charset="-122"/>
                <a:cs typeface="Courier New" pitchFamily="34" charset="-120"/>
              </a:rPr>
              <a:t>×0.65</a:t>
            </a:r>
            <a:endParaRPr lang="en-US" sz="1300" dirty="0"/>
          </a:p>
        </p:txBody>
      </p:sp>
      <p:sp>
        <p:nvSpPr>
          <p:cNvPr id="34" name="Shape 32"/>
          <p:cNvSpPr/>
          <p:nvPr/>
        </p:nvSpPr>
        <p:spPr>
          <a:xfrm>
            <a:off x="8046720" y="3922776"/>
            <a:ext cx="3337560" cy="0"/>
          </a:xfrm>
          <a:prstGeom prst="line">
            <a:avLst/>
          </a:prstGeom>
          <a:noFill/>
          <a:ln w="12700">
            <a:solidFill>
              <a:srgbClr val="2A3550"/>
            </a:solidFill>
            <a:prstDash val="solid"/>
          </a:ln>
        </p:spPr>
      </p:sp>
      <p:sp>
        <p:nvSpPr>
          <p:cNvPr id="35" name="Text 33"/>
          <p:cNvSpPr/>
          <p:nvPr/>
        </p:nvSpPr>
        <p:spPr>
          <a:xfrm>
            <a:off x="8046720" y="4078224"/>
            <a:ext cx="3337560" cy="274320"/>
          </a:xfrm>
          <a:prstGeom prst="rect">
            <a:avLst/>
          </a:prstGeom>
          <a:noFill/>
          <a:ln/>
        </p:spPr>
        <p:txBody>
          <a:bodyPr wrap="square" lIns="0" tIns="0" rIns="0" bIns="0" rtlCol="0" anchor="ctr"/>
          <a:lstStyle/>
          <a:p>
            <a:pPr indent="0" marL="0">
              <a:buNone/>
            </a:pPr>
            <a:r>
              <a:rPr lang="en-US" sz="1250" b="1" dirty="0">
                <a:solidFill>
                  <a:srgbClr val="38BDF8"/>
                </a:solidFill>
                <a:latin typeface="Cambria" pitchFamily="34" charset="0"/>
                <a:ea typeface="Cambria" pitchFamily="34" charset="-122"/>
                <a:cs typeface="Cambria" pitchFamily="34" charset="-120"/>
              </a:rPr>
              <a:t>Device / site / infra risk</a:t>
            </a:r>
            <a:endParaRPr lang="en-US" sz="1250" dirty="0"/>
          </a:p>
        </p:txBody>
      </p:sp>
      <p:sp>
        <p:nvSpPr>
          <p:cNvPr id="36" name="Text 34"/>
          <p:cNvSpPr/>
          <p:nvPr/>
        </p:nvSpPr>
        <p:spPr>
          <a:xfrm>
            <a:off x="8046720" y="4462272"/>
            <a:ext cx="3337560" cy="640080"/>
          </a:xfrm>
          <a:prstGeom prst="rect">
            <a:avLst/>
          </a:prstGeom>
          <a:noFill/>
          <a:ln/>
        </p:spPr>
        <p:txBody>
          <a:bodyPr wrap="square" lIns="0" tIns="0" rIns="0" bIns="0" rtlCol="0" anchor="t"/>
          <a:lstStyle/>
          <a:p>
            <a:pPr indent="0" marL="0">
              <a:lnSpc>
                <a:spcPct val="110000"/>
              </a:lnSpc>
              <a:buNone/>
            </a:pPr>
            <a:r>
              <a:rPr lang="en-US" sz="1050" dirty="0">
                <a:solidFill>
                  <a:srgbClr val="93A1BC"/>
                </a:solidFill>
                <a:latin typeface="Courier New" pitchFamily="34" charset="0"/>
                <a:ea typeface="Courier New" pitchFamily="34" charset="-122"/>
                <a:cs typeface="Courier New" pitchFamily="34" charset="-120"/>
              </a:rPr>
              <a:t>agg = 0.6·(impact-weighted mean) + 0.4·(worst link)</a:t>
            </a:r>
            <a:endParaRPr lang="en-US" sz="1050" dirty="0"/>
          </a:p>
        </p:txBody>
      </p:sp>
      <p:sp>
        <p:nvSpPr>
          <p:cNvPr id="37" name="Text 35"/>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38" name="Text 36"/>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BASELINE-RELATIVE, GUARDED AGAINST FALSE POSITIVES</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Anomaly detection — three detectors</a:t>
            </a:r>
            <a:endParaRPr lang="en-US" sz="2900" dirty="0"/>
          </a:p>
        </p:txBody>
      </p:sp>
      <p:sp>
        <p:nvSpPr>
          <p:cNvPr id="4" name="Shape 2"/>
          <p:cNvSpPr/>
          <p:nvPr/>
        </p:nvSpPr>
        <p:spPr>
          <a:xfrm>
            <a:off x="548640" y="1737360"/>
            <a:ext cx="3611880" cy="4114800"/>
          </a:xfrm>
          <a:prstGeom prst="roundRect">
            <a:avLst>
              <a:gd name="adj" fmla="val 2278"/>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77240" y="1965960"/>
            <a:ext cx="384048" cy="384048"/>
          </a:xfrm>
          <a:prstGeom prst="ellipse">
            <a:avLst/>
          </a:prstGeom>
          <a:solidFill>
            <a:srgbClr val="38BDF8"/>
          </a:solidFill>
          <a:ln/>
        </p:spPr>
      </p:sp>
      <p:sp>
        <p:nvSpPr>
          <p:cNvPr id="6" name="Text 4"/>
          <p:cNvSpPr/>
          <p:nvPr/>
        </p:nvSpPr>
        <p:spPr>
          <a:xfrm>
            <a:off x="1280160" y="1956816"/>
            <a:ext cx="2743200" cy="548640"/>
          </a:xfrm>
          <a:prstGeom prst="rect">
            <a:avLst/>
          </a:prstGeom>
          <a:noFill/>
          <a:ln/>
        </p:spPr>
        <p:txBody>
          <a:bodyPr wrap="square" lIns="0" tIns="0" rIns="0" bIns="0" rtlCol="0" anchor="ctr"/>
          <a:lstStyle/>
          <a:p>
            <a:pPr indent="0" marL="0">
              <a:buNone/>
            </a:pPr>
            <a:r>
              <a:rPr lang="en-US" sz="1500" b="1" dirty="0">
                <a:solidFill>
                  <a:srgbClr val="E6EDF7"/>
                </a:solidFill>
                <a:latin typeface="Cambria" pitchFamily="34" charset="0"/>
                <a:ea typeface="Cambria" pitchFamily="34" charset="-122"/>
                <a:cs typeface="Cambria" pitchFamily="34" charset="-120"/>
              </a:rPr>
              <a:t>Traffic spike</a:t>
            </a:r>
            <a:endParaRPr lang="en-US" sz="1500" dirty="0"/>
          </a:p>
        </p:txBody>
      </p:sp>
      <p:sp>
        <p:nvSpPr>
          <p:cNvPr id="7" name="Text 5"/>
          <p:cNvSpPr/>
          <p:nvPr/>
        </p:nvSpPr>
        <p:spPr>
          <a:xfrm>
            <a:off x="777240" y="2606040"/>
            <a:ext cx="3154680" cy="914400"/>
          </a:xfrm>
          <a:prstGeom prst="rect">
            <a:avLst/>
          </a:prstGeom>
          <a:noFill/>
          <a:ln/>
        </p:spPr>
        <p:txBody>
          <a:bodyPr wrap="square" lIns="0" tIns="0" rIns="0" bIns="0" rtlCol="0" anchor="t"/>
          <a:lstStyle/>
          <a:p>
            <a:pPr indent="0" marL="0">
              <a:lnSpc>
                <a:spcPct val="106000"/>
              </a:lnSpc>
              <a:buNone/>
            </a:pPr>
            <a:r>
              <a:rPr lang="en-US" sz="1200" dirty="0">
                <a:solidFill>
                  <a:srgbClr val="93A1BC"/>
                </a:solidFill>
                <a:latin typeface="Calibri" pitchFamily="34" charset="0"/>
                <a:ea typeface="Calibri" pitchFamily="34" charset="-122"/>
                <a:cs typeface="Calibri" pitchFamily="34" charset="-120"/>
              </a:rPr>
              <a:t>Same weekday+hour baseline (mean m, std sd, n).</a:t>
            </a:r>
            <a:endParaRPr lang="en-US" sz="1200" dirty="0"/>
          </a:p>
        </p:txBody>
      </p:sp>
      <p:sp>
        <p:nvSpPr>
          <p:cNvPr id="8" name="Shape 6"/>
          <p:cNvSpPr/>
          <p:nvPr/>
        </p:nvSpPr>
        <p:spPr>
          <a:xfrm>
            <a:off x="749808" y="3611880"/>
            <a:ext cx="3209544" cy="2057400"/>
          </a:xfrm>
          <a:prstGeom prst="roundRect">
            <a:avLst>
              <a:gd name="adj" fmla="val 4000"/>
            </a:avLst>
          </a:prstGeom>
          <a:solidFill>
            <a:srgbClr val="1E2740"/>
          </a:solidFill>
          <a:ln w="12700">
            <a:solidFill>
              <a:srgbClr val="2A3550"/>
            </a:solidFill>
            <a:prstDash val="solid"/>
          </a:ln>
        </p:spPr>
      </p:sp>
      <p:sp>
        <p:nvSpPr>
          <p:cNvPr id="9" name="Text 7"/>
          <p:cNvSpPr/>
          <p:nvPr/>
        </p:nvSpPr>
        <p:spPr>
          <a:xfrm>
            <a:off x="896112" y="3703320"/>
            <a:ext cx="2953512" cy="1874520"/>
          </a:xfrm>
          <a:prstGeom prst="rect">
            <a:avLst/>
          </a:prstGeom>
          <a:noFill/>
          <a:ln/>
        </p:spPr>
        <p:txBody>
          <a:bodyPr wrap="square" lIns="0" tIns="0" rIns="0" bIns="0" rtlCol="0" anchor="t"/>
          <a:lstStyle/>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z = (util − m) / sd</a:t>
            </a:r>
            <a:endParaRPr lang="en-US" sz="1100" dirty="0"/>
          </a:p>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fire if  n≥5  AND  sd&gt;0.001</a:t>
            </a:r>
            <a:endParaRPr lang="en-US" sz="1100" dirty="0"/>
          </a:p>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         AND z&gt;3.2  AND jump≥8pp</a:t>
            </a:r>
            <a:endParaRPr lang="en-US" sz="1100" dirty="0"/>
          </a:p>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         AND util&gt;15%</a:t>
            </a:r>
            <a:endParaRPr lang="en-US" sz="1100" dirty="0"/>
          </a:p>
        </p:txBody>
      </p:sp>
      <p:sp>
        <p:nvSpPr>
          <p:cNvPr id="10" name="Shape 8"/>
          <p:cNvSpPr/>
          <p:nvPr/>
        </p:nvSpPr>
        <p:spPr>
          <a:xfrm>
            <a:off x="4279392" y="1737360"/>
            <a:ext cx="3611880" cy="4114800"/>
          </a:xfrm>
          <a:prstGeom prst="roundRect">
            <a:avLst>
              <a:gd name="adj" fmla="val 2278"/>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1" name="Shape 9"/>
          <p:cNvSpPr/>
          <p:nvPr/>
        </p:nvSpPr>
        <p:spPr>
          <a:xfrm>
            <a:off x="4507992" y="1965960"/>
            <a:ext cx="384048" cy="384048"/>
          </a:xfrm>
          <a:prstGeom prst="ellipse">
            <a:avLst/>
          </a:prstGeom>
          <a:solidFill>
            <a:srgbClr val="F472B6"/>
          </a:solidFill>
          <a:ln/>
        </p:spPr>
      </p:sp>
      <p:sp>
        <p:nvSpPr>
          <p:cNvPr id="12" name="Text 10"/>
          <p:cNvSpPr/>
          <p:nvPr/>
        </p:nvSpPr>
        <p:spPr>
          <a:xfrm>
            <a:off x="5010912" y="1956816"/>
            <a:ext cx="2743200" cy="548640"/>
          </a:xfrm>
          <a:prstGeom prst="rect">
            <a:avLst/>
          </a:prstGeom>
          <a:noFill/>
          <a:ln/>
        </p:spPr>
        <p:txBody>
          <a:bodyPr wrap="square" lIns="0" tIns="0" rIns="0" bIns="0" rtlCol="0" anchor="ctr"/>
          <a:lstStyle/>
          <a:p>
            <a:pPr indent="0" marL="0">
              <a:buNone/>
            </a:pPr>
            <a:r>
              <a:rPr lang="en-US" sz="1500" b="1" dirty="0">
                <a:solidFill>
                  <a:srgbClr val="E6EDF7"/>
                </a:solidFill>
                <a:latin typeface="Cambria" pitchFamily="34" charset="0"/>
                <a:ea typeface="Cambria" pitchFamily="34" charset="-122"/>
                <a:cs typeface="Cambria" pitchFamily="34" charset="-120"/>
              </a:rPr>
              <a:t>Weekend on business link</a:t>
            </a:r>
            <a:endParaRPr lang="en-US" sz="1500" dirty="0"/>
          </a:p>
        </p:txBody>
      </p:sp>
      <p:sp>
        <p:nvSpPr>
          <p:cNvPr id="13" name="Text 11"/>
          <p:cNvSpPr/>
          <p:nvPr/>
        </p:nvSpPr>
        <p:spPr>
          <a:xfrm>
            <a:off x="4507992" y="2606040"/>
            <a:ext cx="3154680" cy="914400"/>
          </a:xfrm>
          <a:prstGeom prst="rect">
            <a:avLst/>
          </a:prstGeom>
          <a:noFill/>
          <a:ln/>
        </p:spPr>
        <p:txBody>
          <a:bodyPr wrap="square" lIns="0" tIns="0" rIns="0" bIns="0" rtlCol="0" anchor="t"/>
          <a:lstStyle/>
          <a:p>
            <a:pPr indent="0" marL="0">
              <a:lnSpc>
                <a:spcPct val="106000"/>
              </a:lnSpc>
              <a:buNone/>
            </a:pPr>
            <a:r>
              <a:rPr lang="en-US" sz="1200" dirty="0">
                <a:solidFill>
                  <a:srgbClr val="93A1BC"/>
                </a:solidFill>
                <a:latin typeface="Calibri" pitchFamily="34" charset="0"/>
                <a:ea typeface="Calibri" pitchFamily="34" charset="-122"/>
                <a:cs typeface="Calibri" pitchFamily="34" charset="-120"/>
              </a:rPr>
              <a:t>Compares medians, not a fixed cut — so a 24×7 link won’t false-fire.</a:t>
            </a:r>
            <a:endParaRPr lang="en-US" sz="1200" dirty="0"/>
          </a:p>
        </p:txBody>
      </p:sp>
      <p:sp>
        <p:nvSpPr>
          <p:cNvPr id="14" name="Shape 12"/>
          <p:cNvSpPr/>
          <p:nvPr/>
        </p:nvSpPr>
        <p:spPr>
          <a:xfrm>
            <a:off x="4480560" y="3611880"/>
            <a:ext cx="3209544" cy="2057400"/>
          </a:xfrm>
          <a:prstGeom prst="roundRect">
            <a:avLst>
              <a:gd name="adj" fmla="val 4000"/>
            </a:avLst>
          </a:prstGeom>
          <a:solidFill>
            <a:srgbClr val="1E2740"/>
          </a:solidFill>
          <a:ln w="12700">
            <a:solidFill>
              <a:srgbClr val="2A3550"/>
            </a:solidFill>
            <a:prstDash val="solid"/>
          </a:ln>
        </p:spPr>
      </p:sp>
      <p:sp>
        <p:nvSpPr>
          <p:cNvPr id="15" name="Text 13"/>
          <p:cNvSpPr/>
          <p:nvPr/>
        </p:nvSpPr>
        <p:spPr>
          <a:xfrm>
            <a:off x="4626864" y="3703320"/>
            <a:ext cx="2953512" cy="1874520"/>
          </a:xfrm>
          <a:prstGeom prst="rect">
            <a:avLst/>
          </a:prstGeom>
          <a:noFill/>
          <a:ln/>
        </p:spPr>
        <p:txBody>
          <a:bodyPr wrap="square" lIns="0" tIns="0" rIns="0" bIns="0" rtlCol="0" anchor="t"/>
          <a:lstStyle/>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fire if class in {Core,Trading,</a:t>
            </a:r>
            <a:endParaRPr lang="en-US" sz="1100" dirty="0"/>
          </a:p>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   Internet,Customer}</a:t>
            </a:r>
            <a:endParaRPr lang="en-US" sz="1100" dirty="0"/>
          </a:p>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   AND wkendMed &gt; 20%</a:t>
            </a:r>
            <a:endParaRPr lang="en-US" sz="1100" dirty="0"/>
          </a:p>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   AND wkendMed &gt;= 0.6 * weekdayMed</a:t>
            </a:r>
            <a:endParaRPr lang="en-US" sz="1100" dirty="0"/>
          </a:p>
        </p:txBody>
      </p:sp>
      <p:sp>
        <p:nvSpPr>
          <p:cNvPr id="16" name="Shape 14"/>
          <p:cNvSpPr/>
          <p:nvPr/>
        </p:nvSpPr>
        <p:spPr>
          <a:xfrm>
            <a:off x="8010144" y="1737360"/>
            <a:ext cx="3611880" cy="4114800"/>
          </a:xfrm>
          <a:prstGeom prst="roundRect">
            <a:avLst>
              <a:gd name="adj" fmla="val 2278"/>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7" name="Shape 15"/>
          <p:cNvSpPr/>
          <p:nvPr/>
        </p:nvSpPr>
        <p:spPr>
          <a:xfrm>
            <a:off x="8238744" y="1965960"/>
            <a:ext cx="384048" cy="384048"/>
          </a:xfrm>
          <a:prstGeom prst="ellipse">
            <a:avLst/>
          </a:prstGeom>
          <a:solidFill>
            <a:srgbClr val="FBBF24"/>
          </a:solidFill>
          <a:ln/>
        </p:spPr>
      </p:sp>
      <p:sp>
        <p:nvSpPr>
          <p:cNvPr id="18" name="Text 16"/>
          <p:cNvSpPr/>
          <p:nvPr/>
        </p:nvSpPr>
        <p:spPr>
          <a:xfrm>
            <a:off x="8741664" y="1956816"/>
            <a:ext cx="2743200" cy="548640"/>
          </a:xfrm>
          <a:prstGeom prst="rect">
            <a:avLst/>
          </a:prstGeom>
          <a:noFill/>
          <a:ln/>
        </p:spPr>
        <p:txBody>
          <a:bodyPr wrap="square" lIns="0" tIns="0" rIns="0" bIns="0" rtlCol="0" anchor="ctr"/>
          <a:lstStyle/>
          <a:p>
            <a:pPr indent="0" marL="0">
              <a:buNone/>
            </a:pPr>
            <a:r>
              <a:rPr lang="en-US" sz="1500" b="1" dirty="0">
                <a:solidFill>
                  <a:srgbClr val="E6EDF7"/>
                </a:solidFill>
                <a:latin typeface="Cambria" pitchFamily="34" charset="0"/>
                <a:ea typeface="Cambria" pitchFamily="34" charset="-122"/>
                <a:cs typeface="Cambria" pitchFamily="34" charset="-120"/>
              </a:rPr>
              <a:t>RX/TX imbalance</a:t>
            </a:r>
            <a:endParaRPr lang="en-US" sz="1500" dirty="0"/>
          </a:p>
        </p:txBody>
      </p:sp>
      <p:sp>
        <p:nvSpPr>
          <p:cNvPr id="19" name="Text 17"/>
          <p:cNvSpPr/>
          <p:nvPr/>
        </p:nvSpPr>
        <p:spPr>
          <a:xfrm>
            <a:off x="8238744" y="2606040"/>
            <a:ext cx="3154680" cy="914400"/>
          </a:xfrm>
          <a:prstGeom prst="rect">
            <a:avLst/>
          </a:prstGeom>
          <a:noFill/>
          <a:ln/>
        </p:spPr>
        <p:txBody>
          <a:bodyPr wrap="square" lIns="0" tIns="0" rIns="0" bIns="0" rtlCol="0" anchor="t"/>
          <a:lstStyle/>
          <a:p>
            <a:pPr indent="0" marL="0">
              <a:lnSpc>
                <a:spcPct val="106000"/>
              </a:lnSpc>
              <a:buNone/>
            </a:pPr>
            <a:r>
              <a:rPr lang="en-US" sz="1200" dirty="0">
                <a:solidFill>
                  <a:srgbClr val="93A1BC"/>
                </a:solidFill>
                <a:latin typeface="Calibri" pitchFamily="34" charset="0"/>
                <a:ea typeface="Calibri" pitchFamily="34" charset="-122"/>
                <a:cs typeface="Calibri" pitchFamily="34" charset="-120"/>
              </a:rPr>
              <a:t>Sustained directional asymmetry across dual-direction samples.</a:t>
            </a:r>
            <a:endParaRPr lang="en-US" sz="1200" dirty="0"/>
          </a:p>
        </p:txBody>
      </p:sp>
      <p:sp>
        <p:nvSpPr>
          <p:cNvPr id="20" name="Shape 18"/>
          <p:cNvSpPr/>
          <p:nvPr/>
        </p:nvSpPr>
        <p:spPr>
          <a:xfrm>
            <a:off x="8211312" y="3611880"/>
            <a:ext cx="3209544" cy="2057400"/>
          </a:xfrm>
          <a:prstGeom prst="roundRect">
            <a:avLst>
              <a:gd name="adj" fmla="val 4000"/>
            </a:avLst>
          </a:prstGeom>
          <a:solidFill>
            <a:srgbClr val="1E2740"/>
          </a:solidFill>
          <a:ln w="12700">
            <a:solidFill>
              <a:srgbClr val="2A3550"/>
            </a:solidFill>
            <a:prstDash val="solid"/>
          </a:ln>
        </p:spPr>
      </p:sp>
      <p:sp>
        <p:nvSpPr>
          <p:cNvPr id="21" name="Text 19"/>
          <p:cNvSpPr/>
          <p:nvPr/>
        </p:nvSpPr>
        <p:spPr>
          <a:xfrm>
            <a:off x="8357616" y="3703320"/>
            <a:ext cx="2953512" cy="1874520"/>
          </a:xfrm>
          <a:prstGeom prst="rect">
            <a:avLst/>
          </a:prstGeom>
          <a:noFill/>
          <a:ln/>
        </p:spPr>
        <p:txBody>
          <a:bodyPr wrap="square" lIns="0" tIns="0" rIns="0" bIns="0" rtlCol="0" anchor="t"/>
          <a:lstStyle/>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ratios = max(tx,rx)/min(tx,rx)</a:t>
            </a:r>
            <a:endParaRPr lang="en-US" sz="1100" dirty="0"/>
          </a:p>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fire if median(ratios) &gt; 6</a:t>
            </a:r>
            <a:endParaRPr lang="en-US" sz="1100" dirty="0"/>
          </a:p>
          <a:p>
            <a:pPr indent="0" marL="0">
              <a:lnSpc>
                <a:spcPct val="112000"/>
              </a:lnSpc>
              <a:buNone/>
            </a:pPr>
            <a:r>
              <a:rPr lang="en-US" sz="1100" dirty="0">
                <a:solidFill>
                  <a:srgbClr val="A9E7FF"/>
                </a:solidFill>
                <a:latin typeface="Courier New" pitchFamily="34" charset="0"/>
                <a:ea typeface="Courier New" pitchFamily="34" charset="-122"/>
                <a:cs typeface="Courier New" pitchFamily="34" charset="-120"/>
              </a:rPr>
              <a:t>         AND ≥10 samples</a:t>
            </a:r>
            <a:endParaRPr lang="en-US" sz="1100" dirty="0"/>
          </a:p>
        </p:txBody>
      </p:sp>
      <p:sp>
        <p:nvSpPr>
          <p:cNvPr id="22" name="Text 20"/>
          <p:cNvSpPr/>
          <p:nvPr/>
        </p:nvSpPr>
        <p:spPr>
          <a:xfrm>
            <a:off x="548640" y="5989320"/>
            <a:ext cx="10972800" cy="320040"/>
          </a:xfrm>
          <a:prstGeom prst="rect">
            <a:avLst/>
          </a:prstGeom>
          <a:noFill/>
          <a:ln/>
        </p:spPr>
        <p:txBody>
          <a:bodyPr wrap="square" lIns="0" tIns="0" rIns="0" bIns="0" rtlCol="0" anchor="ctr"/>
          <a:lstStyle/>
          <a:p>
            <a:pPr indent="0" marL="0">
              <a:buNone/>
            </a:pPr>
            <a:r>
              <a:rPr lang="en-US" sz="1150" dirty="0">
                <a:solidFill>
                  <a:srgbClr val="93A1BC"/>
                </a:solidFill>
                <a:latin typeface="Courier New" pitchFamily="34" charset="0"/>
                <a:ea typeface="Courier New" pitchFamily="34" charset="-122"/>
                <a:cs typeface="Courier New" pitchFamily="34" charset="-120"/>
              </a:rPr>
              <a:t>std = </a:t>
            </a:r>
            <a:pPr indent="0" marL="0">
              <a:buNone/>
            </a:pPr>
            <a:r>
              <a:rPr lang="en-US" sz="1150" dirty="0">
                <a:solidFill>
                  <a:srgbClr val="A9E7FF"/>
                </a:solidFill>
                <a:latin typeface="Courier New" pitchFamily="34" charset="0"/>
                <a:ea typeface="Courier New" pitchFamily="34" charset="-122"/>
                <a:cs typeface="Courier New" pitchFamily="34" charset="-120"/>
              </a:rPr>
              <a:t>sqrt( mean((x - m)^2) )</a:t>
            </a:r>
            <a:pPr indent="0" marL="0">
              <a:buNone/>
            </a:pPr>
            <a:r>
              <a:rPr lang="en-US" sz="1150" i="1" dirty="0">
                <a:solidFill>
                  <a:srgbClr val="6B7A96"/>
                </a:solidFill>
                <a:latin typeface="Calibri" pitchFamily="34" charset="0"/>
                <a:ea typeface="Calibri" pitchFamily="34" charset="-122"/>
                <a:cs typeface="Calibri" pitchFamily="34" charset="-120"/>
              </a:rPr>
              <a:t>   ·   every detector requires a meaningful sample so a thin baseline can’t manufacture a spike.</a:t>
            </a:r>
            <a:endParaRPr lang="en-US" sz="1150" dirty="0"/>
          </a:p>
        </p:txBody>
      </p:sp>
      <p:sp>
        <p:nvSpPr>
          <p:cNvPr id="23" name="Text 21"/>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24" name="Text 22"/>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FIRST MATCHING RULE WINS → LEVEL · REASON · ACTION</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Verdict engine — the decision ladder</a:t>
            </a:r>
            <a:endParaRPr lang="en-US" sz="2900" dirty="0"/>
          </a:p>
        </p:txBody>
      </p:sp>
      <p:sp>
        <p:nvSpPr>
          <p:cNvPr id="4" name="Shape 2"/>
          <p:cNvSpPr/>
          <p:nvPr/>
        </p:nvSpPr>
        <p:spPr>
          <a:xfrm>
            <a:off x="548640" y="1664208"/>
            <a:ext cx="7818120" cy="384048"/>
          </a:xfrm>
          <a:prstGeom prst="rect">
            <a:avLst/>
          </a:prstGeom>
          <a:solidFill>
            <a:srgbClr val="151C2C"/>
          </a:solidFill>
          <a:ln/>
        </p:spPr>
      </p:sp>
      <p:sp>
        <p:nvSpPr>
          <p:cNvPr id="5" name="Shape 3"/>
          <p:cNvSpPr/>
          <p:nvPr/>
        </p:nvSpPr>
        <p:spPr>
          <a:xfrm>
            <a:off x="640080" y="1746504"/>
            <a:ext cx="219456" cy="219456"/>
          </a:xfrm>
          <a:prstGeom prst="roundRect">
            <a:avLst>
              <a:gd name="adj" fmla="val 12500"/>
            </a:avLst>
          </a:prstGeom>
          <a:solidFill>
            <a:srgbClr val="FBBF24"/>
          </a:solidFill>
          <a:ln/>
        </p:spPr>
      </p:sp>
      <p:sp>
        <p:nvSpPr>
          <p:cNvPr id="6" name="Text 4"/>
          <p:cNvSpPr/>
          <p:nvPr/>
        </p:nvSpPr>
        <p:spPr>
          <a:xfrm>
            <a:off x="1005840" y="1664208"/>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Data Quality Issue</a:t>
            </a:r>
            <a:endParaRPr lang="en-US" sz="1200" dirty="0"/>
          </a:p>
        </p:txBody>
      </p:sp>
      <p:sp>
        <p:nvSpPr>
          <p:cNvPr id="7" name="Text 5"/>
          <p:cNvSpPr/>
          <p:nvPr/>
        </p:nvSpPr>
        <p:spPr>
          <a:xfrm>
            <a:off x="4892040" y="1664208"/>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badCount ≥ 30% of samples</a:t>
            </a:r>
            <a:endParaRPr lang="en-US" sz="980" dirty="0"/>
          </a:p>
        </p:txBody>
      </p:sp>
      <p:sp>
        <p:nvSpPr>
          <p:cNvPr id="8" name="Shape 6"/>
          <p:cNvSpPr/>
          <p:nvPr/>
        </p:nvSpPr>
        <p:spPr>
          <a:xfrm>
            <a:off x="640080" y="2130552"/>
            <a:ext cx="219456" cy="219456"/>
          </a:xfrm>
          <a:prstGeom prst="roundRect">
            <a:avLst>
              <a:gd name="adj" fmla="val 12500"/>
            </a:avLst>
          </a:prstGeom>
          <a:solidFill>
            <a:srgbClr val="FBBF24"/>
          </a:solidFill>
          <a:ln/>
        </p:spPr>
      </p:sp>
      <p:sp>
        <p:nvSpPr>
          <p:cNvPr id="9" name="Text 7"/>
          <p:cNvSpPr/>
          <p:nvPr/>
        </p:nvSpPr>
        <p:spPr>
          <a:xfrm>
            <a:off x="1005840" y="2048256"/>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Insufficient Data</a:t>
            </a:r>
            <a:endParaRPr lang="en-US" sz="1200" dirty="0"/>
          </a:p>
        </p:txBody>
      </p:sp>
      <p:sp>
        <p:nvSpPr>
          <p:cNvPr id="10" name="Text 8"/>
          <p:cNvSpPr/>
          <p:nvPr/>
        </p:nvSpPr>
        <p:spPr>
          <a:xfrm>
            <a:off x="4892040" y="2048256"/>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count &lt; 8 samples</a:t>
            </a:r>
            <a:endParaRPr lang="en-US" sz="980" dirty="0"/>
          </a:p>
        </p:txBody>
      </p:sp>
      <p:sp>
        <p:nvSpPr>
          <p:cNvPr id="11" name="Shape 9"/>
          <p:cNvSpPr/>
          <p:nvPr/>
        </p:nvSpPr>
        <p:spPr>
          <a:xfrm>
            <a:off x="548640" y="2432304"/>
            <a:ext cx="7818120" cy="384048"/>
          </a:xfrm>
          <a:prstGeom prst="rect">
            <a:avLst/>
          </a:prstGeom>
          <a:solidFill>
            <a:srgbClr val="151C2C"/>
          </a:solidFill>
          <a:ln/>
        </p:spPr>
      </p:sp>
      <p:sp>
        <p:nvSpPr>
          <p:cNvPr id="12" name="Shape 10"/>
          <p:cNvSpPr/>
          <p:nvPr/>
        </p:nvSpPr>
        <p:spPr>
          <a:xfrm>
            <a:off x="640080" y="2514600"/>
            <a:ext cx="219456" cy="219456"/>
          </a:xfrm>
          <a:prstGeom prst="roundRect">
            <a:avLst>
              <a:gd name="adj" fmla="val 12500"/>
            </a:avLst>
          </a:prstGeom>
          <a:solidFill>
            <a:srgbClr val="F43F5E"/>
          </a:solidFill>
          <a:ln/>
        </p:spPr>
      </p:sp>
      <p:sp>
        <p:nvSpPr>
          <p:cNvPr id="13" name="Text 11"/>
          <p:cNvSpPr/>
          <p:nvPr/>
        </p:nvSpPr>
        <p:spPr>
          <a:xfrm>
            <a:off x="1005840" y="2432304"/>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Link Upgrade Recommended</a:t>
            </a:r>
            <a:endParaRPr lang="en-US" sz="1200" dirty="0"/>
          </a:p>
        </p:txBody>
      </p:sp>
      <p:sp>
        <p:nvSpPr>
          <p:cNvPr id="14" name="Text 12"/>
          <p:cNvSpPr/>
          <p:nvPr/>
        </p:nvSpPr>
        <p:spPr>
          <a:xfrm>
            <a:off x="4892040" y="2432304"/>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upgradeDays ≥ policy days (in look-back window)</a:t>
            </a:r>
            <a:endParaRPr lang="en-US" sz="980" dirty="0"/>
          </a:p>
        </p:txBody>
      </p:sp>
      <p:sp>
        <p:nvSpPr>
          <p:cNvPr id="15" name="Shape 13"/>
          <p:cNvSpPr/>
          <p:nvPr/>
        </p:nvSpPr>
        <p:spPr>
          <a:xfrm>
            <a:off x="640080" y="2898648"/>
            <a:ext cx="219456" cy="219456"/>
          </a:xfrm>
          <a:prstGeom prst="roundRect">
            <a:avLst>
              <a:gd name="adj" fmla="val 12500"/>
            </a:avLst>
          </a:prstGeom>
          <a:solidFill>
            <a:srgbClr val="F43F5E"/>
          </a:solidFill>
          <a:ln/>
        </p:spPr>
      </p:sp>
      <p:sp>
        <p:nvSpPr>
          <p:cNvPr id="16" name="Text 14"/>
          <p:cNvSpPr/>
          <p:nvPr/>
        </p:nvSpPr>
        <p:spPr>
          <a:xfrm>
            <a:off x="1005840" y="2816352"/>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Recurring BH Congestion</a:t>
            </a:r>
            <a:endParaRPr lang="en-US" sz="1200" dirty="0"/>
          </a:p>
        </p:txBody>
      </p:sp>
      <p:sp>
        <p:nvSpPr>
          <p:cNvPr id="17" name="Text 15"/>
          <p:cNvSpPr/>
          <p:nvPr/>
        </p:nvSpPr>
        <p:spPr>
          <a:xfrm>
            <a:off x="4892040" y="2816352"/>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bhDays ≥ 5  AND  (crit&gt;2%  OR  high&gt;10%)</a:t>
            </a:r>
            <a:endParaRPr lang="en-US" sz="980" dirty="0"/>
          </a:p>
        </p:txBody>
      </p:sp>
      <p:sp>
        <p:nvSpPr>
          <p:cNvPr id="18" name="Shape 16"/>
          <p:cNvSpPr/>
          <p:nvPr/>
        </p:nvSpPr>
        <p:spPr>
          <a:xfrm>
            <a:off x="548640" y="3200400"/>
            <a:ext cx="7818120" cy="384048"/>
          </a:xfrm>
          <a:prstGeom prst="rect">
            <a:avLst/>
          </a:prstGeom>
          <a:solidFill>
            <a:srgbClr val="151C2C"/>
          </a:solidFill>
          <a:ln/>
        </p:spPr>
      </p:sp>
      <p:sp>
        <p:nvSpPr>
          <p:cNvPr id="19" name="Shape 17"/>
          <p:cNvSpPr/>
          <p:nvPr/>
        </p:nvSpPr>
        <p:spPr>
          <a:xfrm>
            <a:off x="640080" y="3282696"/>
            <a:ext cx="219456" cy="219456"/>
          </a:xfrm>
          <a:prstGeom prst="roundRect">
            <a:avLst>
              <a:gd name="adj" fmla="val 12500"/>
            </a:avLst>
          </a:prstGeom>
          <a:solidFill>
            <a:srgbClr val="F43F5E"/>
          </a:solidFill>
          <a:ln/>
        </p:spPr>
      </p:sp>
      <p:sp>
        <p:nvSpPr>
          <p:cNvPr id="20" name="Text 18"/>
          <p:cNvSpPr/>
          <p:nvPr/>
        </p:nvSpPr>
        <p:spPr>
          <a:xfrm>
            <a:off x="1005840" y="3200400"/>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Critical Congestion</a:t>
            </a:r>
            <a:endParaRPr lang="en-US" sz="1200" dirty="0"/>
          </a:p>
        </p:txBody>
      </p:sp>
      <p:sp>
        <p:nvSpPr>
          <p:cNvPr id="21" name="Text 19"/>
          <p:cNvSpPr/>
          <p:nvPr/>
        </p:nvSpPr>
        <p:spPr>
          <a:xfrm>
            <a:off x="4892040" y="3200400"/>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critical share &gt; 3%</a:t>
            </a:r>
            <a:endParaRPr lang="en-US" sz="980" dirty="0"/>
          </a:p>
        </p:txBody>
      </p:sp>
      <p:sp>
        <p:nvSpPr>
          <p:cNvPr id="22" name="Shape 20"/>
          <p:cNvSpPr/>
          <p:nvPr/>
        </p:nvSpPr>
        <p:spPr>
          <a:xfrm>
            <a:off x="640080" y="3666744"/>
            <a:ext cx="219456" cy="219456"/>
          </a:xfrm>
          <a:prstGeom prst="roundRect">
            <a:avLst>
              <a:gd name="adj" fmla="val 12500"/>
            </a:avLst>
          </a:prstGeom>
          <a:solidFill>
            <a:srgbClr val="FB923C"/>
          </a:solidFill>
          <a:ln/>
        </p:spPr>
      </p:sp>
      <p:sp>
        <p:nvSpPr>
          <p:cNvPr id="23" name="Text 21"/>
          <p:cNvSpPr/>
          <p:nvPr/>
        </p:nvSpPr>
        <p:spPr>
          <a:xfrm>
            <a:off x="1005840" y="3584448"/>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Capacity Planning Required</a:t>
            </a:r>
            <a:endParaRPr lang="en-US" sz="1200" dirty="0"/>
          </a:p>
        </p:txBody>
      </p:sp>
      <p:sp>
        <p:nvSpPr>
          <p:cNvPr id="24" name="Text 22"/>
          <p:cNvSpPr/>
          <p:nvPr/>
        </p:nvSpPr>
        <p:spPr>
          <a:xfrm>
            <a:off x="4892040" y="3584448"/>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t90 ≤ horizon  AND  growing</a:t>
            </a:r>
            <a:endParaRPr lang="en-US" sz="980" dirty="0"/>
          </a:p>
        </p:txBody>
      </p:sp>
      <p:sp>
        <p:nvSpPr>
          <p:cNvPr id="25" name="Shape 23"/>
          <p:cNvSpPr/>
          <p:nvPr/>
        </p:nvSpPr>
        <p:spPr>
          <a:xfrm>
            <a:off x="548640" y="3968496"/>
            <a:ext cx="7818120" cy="384048"/>
          </a:xfrm>
          <a:prstGeom prst="rect">
            <a:avLst/>
          </a:prstGeom>
          <a:solidFill>
            <a:srgbClr val="151C2C"/>
          </a:solidFill>
          <a:ln/>
        </p:spPr>
      </p:sp>
      <p:sp>
        <p:nvSpPr>
          <p:cNvPr id="26" name="Shape 24"/>
          <p:cNvSpPr/>
          <p:nvPr/>
        </p:nvSpPr>
        <p:spPr>
          <a:xfrm>
            <a:off x="640080" y="4050792"/>
            <a:ext cx="219456" cy="219456"/>
          </a:xfrm>
          <a:prstGeom prst="roundRect">
            <a:avLst>
              <a:gd name="adj" fmla="val 12500"/>
            </a:avLst>
          </a:prstGeom>
          <a:solidFill>
            <a:srgbClr val="FBBF24"/>
          </a:solidFill>
          <a:ln/>
        </p:spPr>
      </p:sp>
      <p:sp>
        <p:nvSpPr>
          <p:cNvPr id="27" name="Text 25"/>
          <p:cNvSpPr/>
          <p:nvPr/>
        </p:nvSpPr>
        <p:spPr>
          <a:xfrm>
            <a:off x="1005840" y="3968496"/>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Weekend / Imbalance / Microbursts</a:t>
            </a:r>
            <a:endParaRPr lang="en-US" sz="1200" dirty="0"/>
          </a:p>
        </p:txBody>
      </p:sp>
      <p:sp>
        <p:nvSpPr>
          <p:cNvPr id="28" name="Text 26"/>
          <p:cNvSpPr/>
          <p:nvPr/>
        </p:nvSpPr>
        <p:spPr>
          <a:xfrm>
            <a:off x="4892040" y="3968496"/>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matching anomaly, or pkP95≥crit while p95&lt;high</a:t>
            </a:r>
            <a:endParaRPr lang="en-US" sz="980" dirty="0"/>
          </a:p>
        </p:txBody>
      </p:sp>
      <p:sp>
        <p:nvSpPr>
          <p:cNvPr id="29" name="Shape 27"/>
          <p:cNvSpPr/>
          <p:nvPr/>
        </p:nvSpPr>
        <p:spPr>
          <a:xfrm>
            <a:off x="640080" y="4434840"/>
            <a:ext cx="219456" cy="219456"/>
          </a:xfrm>
          <a:prstGeom prst="roundRect">
            <a:avLst>
              <a:gd name="adj" fmla="val 12500"/>
            </a:avLst>
          </a:prstGeom>
          <a:solidFill>
            <a:srgbClr val="FBBF24"/>
          </a:solidFill>
          <a:ln/>
        </p:spPr>
      </p:sp>
      <p:sp>
        <p:nvSpPr>
          <p:cNvPr id="30" name="Text 28"/>
          <p:cNvSpPr/>
          <p:nvPr/>
        </p:nvSpPr>
        <p:spPr>
          <a:xfrm>
            <a:off x="1005840" y="4352544"/>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Traffic Pattern Changed</a:t>
            </a:r>
            <a:endParaRPr lang="en-US" sz="1200" dirty="0"/>
          </a:p>
        </p:txBody>
      </p:sp>
      <p:sp>
        <p:nvSpPr>
          <p:cNvPr id="31" name="Text 29"/>
          <p:cNvSpPr/>
          <p:nvPr/>
        </p:nvSpPr>
        <p:spPr>
          <a:xfrm>
            <a:off x="4892040" y="4352544"/>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 1 behavioural anomaly</a:t>
            </a:r>
            <a:endParaRPr lang="en-US" sz="980" dirty="0"/>
          </a:p>
        </p:txBody>
      </p:sp>
      <p:sp>
        <p:nvSpPr>
          <p:cNvPr id="32" name="Shape 30"/>
          <p:cNvSpPr/>
          <p:nvPr/>
        </p:nvSpPr>
        <p:spPr>
          <a:xfrm>
            <a:off x="548640" y="4736592"/>
            <a:ext cx="7818120" cy="384048"/>
          </a:xfrm>
          <a:prstGeom prst="rect">
            <a:avLst/>
          </a:prstGeom>
          <a:solidFill>
            <a:srgbClr val="151C2C"/>
          </a:solidFill>
          <a:ln/>
        </p:spPr>
      </p:sp>
      <p:sp>
        <p:nvSpPr>
          <p:cNvPr id="33" name="Shape 31"/>
          <p:cNvSpPr/>
          <p:nvPr/>
        </p:nvSpPr>
        <p:spPr>
          <a:xfrm>
            <a:off x="640080" y="4818888"/>
            <a:ext cx="219456" cy="219456"/>
          </a:xfrm>
          <a:prstGeom prst="roundRect">
            <a:avLst>
              <a:gd name="adj" fmla="val 12500"/>
            </a:avLst>
          </a:prstGeom>
          <a:solidFill>
            <a:srgbClr val="34D399"/>
          </a:solidFill>
          <a:ln/>
        </p:spPr>
      </p:sp>
      <p:sp>
        <p:nvSpPr>
          <p:cNvPr id="34" name="Text 32"/>
          <p:cNvSpPr/>
          <p:nvPr/>
        </p:nvSpPr>
        <p:spPr>
          <a:xfrm>
            <a:off x="1005840" y="4736592"/>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Idle / Under-utilized</a:t>
            </a:r>
            <a:endParaRPr lang="en-US" sz="1200" dirty="0"/>
          </a:p>
        </p:txBody>
      </p:sp>
      <p:sp>
        <p:nvSpPr>
          <p:cNvPr id="35" name="Text 33"/>
          <p:cNvSpPr/>
          <p:nvPr/>
        </p:nvSpPr>
        <p:spPr>
          <a:xfrm>
            <a:off x="4892040" y="4736592"/>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p95 &lt; 3%</a:t>
            </a:r>
            <a:endParaRPr lang="en-US" sz="980" dirty="0"/>
          </a:p>
        </p:txBody>
      </p:sp>
      <p:sp>
        <p:nvSpPr>
          <p:cNvPr id="36" name="Shape 34"/>
          <p:cNvSpPr/>
          <p:nvPr/>
        </p:nvSpPr>
        <p:spPr>
          <a:xfrm>
            <a:off x="640080" y="5202936"/>
            <a:ext cx="219456" cy="219456"/>
          </a:xfrm>
          <a:prstGeom prst="roundRect">
            <a:avLst>
              <a:gd name="adj" fmla="val 12500"/>
            </a:avLst>
          </a:prstGeom>
          <a:solidFill>
            <a:srgbClr val="FBBF24"/>
          </a:solidFill>
          <a:ln/>
        </p:spPr>
      </p:sp>
      <p:sp>
        <p:nvSpPr>
          <p:cNvPr id="37" name="Text 35"/>
          <p:cNvSpPr/>
          <p:nvPr/>
        </p:nvSpPr>
        <p:spPr>
          <a:xfrm>
            <a:off x="1005840" y="5120640"/>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Monitor</a:t>
            </a:r>
            <a:endParaRPr lang="en-US" sz="1200" dirty="0"/>
          </a:p>
        </p:txBody>
      </p:sp>
      <p:sp>
        <p:nvSpPr>
          <p:cNvPr id="38" name="Text 36"/>
          <p:cNvSpPr/>
          <p:nvPr/>
        </p:nvSpPr>
        <p:spPr>
          <a:xfrm>
            <a:off x="4892040" y="5120640"/>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high+warning share &gt; 15%  OR  growing</a:t>
            </a:r>
            <a:endParaRPr lang="en-US" sz="980" dirty="0"/>
          </a:p>
        </p:txBody>
      </p:sp>
      <p:sp>
        <p:nvSpPr>
          <p:cNvPr id="39" name="Shape 37"/>
          <p:cNvSpPr/>
          <p:nvPr/>
        </p:nvSpPr>
        <p:spPr>
          <a:xfrm>
            <a:off x="548640" y="5504688"/>
            <a:ext cx="7818120" cy="384048"/>
          </a:xfrm>
          <a:prstGeom prst="rect">
            <a:avLst/>
          </a:prstGeom>
          <a:solidFill>
            <a:srgbClr val="151C2C"/>
          </a:solidFill>
          <a:ln/>
        </p:spPr>
      </p:sp>
      <p:sp>
        <p:nvSpPr>
          <p:cNvPr id="40" name="Shape 38"/>
          <p:cNvSpPr/>
          <p:nvPr/>
        </p:nvSpPr>
        <p:spPr>
          <a:xfrm>
            <a:off x="640080" y="5586984"/>
            <a:ext cx="219456" cy="219456"/>
          </a:xfrm>
          <a:prstGeom prst="roundRect">
            <a:avLst>
              <a:gd name="adj" fmla="val 12500"/>
            </a:avLst>
          </a:prstGeom>
          <a:solidFill>
            <a:srgbClr val="34D399"/>
          </a:solidFill>
          <a:ln/>
        </p:spPr>
      </p:sp>
      <p:sp>
        <p:nvSpPr>
          <p:cNvPr id="41" name="Text 39"/>
          <p:cNvSpPr/>
          <p:nvPr/>
        </p:nvSpPr>
        <p:spPr>
          <a:xfrm>
            <a:off x="1005840" y="5504688"/>
            <a:ext cx="3931920" cy="384048"/>
          </a:xfrm>
          <a:prstGeom prst="rect">
            <a:avLst/>
          </a:prstGeom>
          <a:noFill/>
          <a:ln/>
        </p:spPr>
        <p:txBody>
          <a:bodyPr wrap="square" lIns="0" tIns="0" rIns="0" bIns="0" rtlCol="0" anchor="ctr"/>
          <a:lstStyle/>
          <a:p>
            <a:pPr indent="0" marL="0">
              <a:buNone/>
            </a:pPr>
            <a:r>
              <a:rPr lang="en-US" sz="1200" b="1" dirty="0">
                <a:solidFill>
                  <a:srgbClr val="E6EDF7"/>
                </a:solidFill>
                <a:latin typeface="Calibri" pitchFamily="34" charset="0"/>
                <a:ea typeface="Calibri" pitchFamily="34" charset="-122"/>
                <a:cs typeface="Calibri" pitchFamily="34" charset="-120"/>
              </a:rPr>
              <a:t>Healthy</a:t>
            </a:r>
            <a:endParaRPr lang="en-US" sz="1200" dirty="0"/>
          </a:p>
        </p:txBody>
      </p:sp>
      <p:sp>
        <p:nvSpPr>
          <p:cNvPr id="42" name="Text 40"/>
          <p:cNvSpPr/>
          <p:nvPr/>
        </p:nvSpPr>
        <p:spPr>
          <a:xfrm>
            <a:off x="4892040" y="5504688"/>
            <a:ext cx="3383280" cy="384048"/>
          </a:xfrm>
          <a:prstGeom prst="rect">
            <a:avLst/>
          </a:prstGeom>
          <a:noFill/>
          <a:ln/>
        </p:spPr>
        <p:txBody>
          <a:bodyPr wrap="square" lIns="0" tIns="0" rIns="0" bIns="0" rtlCol="0" anchor="ctr"/>
          <a:lstStyle/>
          <a:p>
            <a:pPr indent="0" marL="0">
              <a:buNone/>
            </a:pPr>
            <a:r>
              <a:rPr lang="en-US" sz="980" dirty="0">
                <a:solidFill>
                  <a:srgbClr val="93A1BC"/>
                </a:solidFill>
                <a:latin typeface="Courier New" pitchFamily="34" charset="0"/>
                <a:ea typeface="Courier New" pitchFamily="34" charset="-122"/>
                <a:cs typeface="Courier New" pitchFamily="34" charset="-120"/>
              </a:rPr>
              <a:t>none of the above</a:t>
            </a:r>
            <a:endParaRPr lang="en-US" sz="980" dirty="0"/>
          </a:p>
        </p:txBody>
      </p:sp>
      <p:sp>
        <p:nvSpPr>
          <p:cNvPr id="43" name="Shape 41"/>
          <p:cNvSpPr/>
          <p:nvPr/>
        </p:nvSpPr>
        <p:spPr>
          <a:xfrm>
            <a:off x="8595360" y="1664208"/>
            <a:ext cx="3063240" cy="4434840"/>
          </a:xfrm>
          <a:prstGeom prst="roundRect">
            <a:avLst>
              <a:gd name="adj" fmla="val 2687"/>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44" name="Text 42"/>
          <p:cNvSpPr/>
          <p:nvPr/>
        </p:nvSpPr>
        <p:spPr>
          <a:xfrm>
            <a:off x="8796528" y="1792224"/>
            <a:ext cx="2660904" cy="274320"/>
          </a:xfrm>
          <a:prstGeom prst="rect">
            <a:avLst/>
          </a:prstGeom>
          <a:noFill/>
          <a:ln/>
        </p:spPr>
        <p:txBody>
          <a:bodyPr wrap="square" lIns="0" tIns="0" rIns="0" bIns="0" rtlCol="0" anchor="ctr"/>
          <a:lstStyle/>
          <a:p>
            <a:pPr indent="0" marL="0">
              <a:buNone/>
            </a:pPr>
            <a:r>
              <a:rPr lang="en-US" sz="1300" b="1" dirty="0">
                <a:solidFill>
                  <a:srgbClr val="E6EDF7"/>
                </a:solidFill>
                <a:latin typeface="Cambria" pitchFamily="34" charset="0"/>
                <a:ea typeface="Cambria" pitchFamily="34" charset="-122"/>
                <a:cs typeface="Cambria" pitchFamily="34" charset="-120"/>
              </a:rPr>
              <a:t>Each verdict carries</a:t>
            </a:r>
            <a:endParaRPr lang="en-US" sz="1300" dirty="0"/>
          </a:p>
        </p:txBody>
      </p:sp>
      <p:sp>
        <p:nvSpPr>
          <p:cNvPr id="45" name="Text 43"/>
          <p:cNvSpPr/>
          <p:nvPr/>
        </p:nvSpPr>
        <p:spPr>
          <a:xfrm>
            <a:off x="8796528" y="2194560"/>
            <a:ext cx="2660904" cy="27432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38BDF8"/>
                </a:solidFill>
                <a:latin typeface="Calibri" pitchFamily="34" charset="0"/>
                <a:ea typeface="Calibri" pitchFamily="34" charset="-122"/>
                <a:cs typeface="Calibri" pitchFamily="34" charset="-120"/>
              </a:rPr>
              <a:t>level (colour)</a:t>
            </a:r>
            <a:endParaRPr lang="en-US" sz="1200" dirty="0"/>
          </a:p>
          <a:p>
            <a:pPr marL="177800" indent="-177800">
              <a:spcAft>
                <a:spcPts val="600"/>
              </a:spcAft>
              <a:buSzPct val="100000"/>
              <a:buChar char="•"/>
            </a:pPr>
            <a:r>
              <a:rPr lang="en-US" sz="1200" dirty="0">
                <a:solidFill>
                  <a:srgbClr val="E6EDF7"/>
                </a:solidFill>
                <a:latin typeface="Calibri" pitchFamily="34" charset="0"/>
                <a:ea typeface="Calibri" pitchFamily="34" charset="-122"/>
                <a:cs typeface="Calibri" pitchFamily="34" charset="-120"/>
              </a:rPr>
              <a:t>plain reason</a:t>
            </a:r>
            <a:endParaRPr lang="en-US" sz="1200" dirty="0"/>
          </a:p>
          <a:p>
            <a:pPr marL="177800" indent="-177800">
              <a:spcAft>
                <a:spcPts val="600"/>
              </a:spcAft>
              <a:buSzPct val="100000"/>
              <a:buChar char="•"/>
            </a:pPr>
            <a:r>
              <a:rPr lang="en-US" sz="1200" dirty="0">
                <a:solidFill>
                  <a:srgbClr val="E6EDF7"/>
                </a:solidFill>
                <a:latin typeface="Calibri" pitchFamily="34" charset="0"/>
                <a:ea typeface="Calibri" pitchFamily="34" charset="-122"/>
                <a:cs typeface="Calibri" pitchFamily="34" charset="-120"/>
              </a:rPr>
              <a:t>recommended action</a:t>
            </a:r>
            <a:endParaRPr lang="en-US" sz="1200" dirty="0"/>
          </a:p>
          <a:p>
            <a:pPr marL="177800" indent="-177800">
              <a:spcAft>
                <a:spcPts val="600"/>
              </a:spcAft>
              <a:buSzPct val="100000"/>
              <a:buChar char="•"/>
            </a:pPr>
            <a:r>
              <a:rPr lang="en-US" sz="1200" dirty="0">
                <a:solidFill>
                  <a:srgbClr val="E6EDF7"/>
                </a:solidFill>
                <a:latin typeface="Calibri" pitchFamily="34" charset="0"/>
                <a:ea typeface="Calibri" pitchFamily="34" charset="-122"/>
                <a:cs typeface="Calibri" pitchFamily="34" charset="-120"/>
              </a:rPr>
              <a:t>confidence + comparison</a:t>
            </a:r>
            <a:endParaRPr lang="en-US" sz="1200" dirty="0"/>
          </a:p>
        </p:txBody>
      </p:sp>
      <p:sp>
        <p:nvSpPr>
          <p:cNvPr id="46" name="Shape 44"/>
          <p:cNvSpPr/>
          <p:nvPr/>
        </p:nvSpPr>
        <p:spPr>
          <a:xfrm>
            <a:off x="8796528" y="3703320"/>
            <a:ext cx="2660904" cy="0"/>
          </a:xfrm>
          <a:prstGeom prst="line">
            <a:avLst/>
          </a:prstGeom>
          <a:noFill/>
          <a:ln w="12700">
            <a:solidFill>
              <a:srgbClr val="2A3550"/>
            </a:solidFill>
            <a:prstDash val="solid"/>
          </a:ln>
        </p:spPr>
      </p:sp>
      <p:sp>
        <p:nvSpPr>
          <p:cNvPr id="47" name="Text 45"/>
          <p:cNvSpPr/>
          <p:nvPr/>
        </p:nvSpPr>
        <p:spPr>
          <a:xfrm>
            <a:off x="8796528" y="3794760"/>
            <a:ext cx="2660904" cy="274320"/>
          </a:xfrm>
          <a:prstGeom prst="rect">
            <a:avLst/>
          </a:prstGeom>
          <a:noFill/>
          <a:ln/>
        </p:spPr>
        <p:txBody>
          <a:bodyPr wrap="square" lIns="0" tIns="0" rIns="0" bIns="0" rtlCol="0" anchor="ctr"/>
          <a:lstStyle/>
          <a:p>
            <a:pPr indent="0" marL="0">
              <a:buNone/>
            </a:pPr>
            <a:r>
              <a:rPr lang="en-US" sz="1200" b="1" dirty="0">
                <a:solidFill>
                  <a:srgbClr val="38BDF8"/>
                </a:solidFill>
                <a:latin typeface="Courier New" pitchFamily="34" charset="0"/>
                <a:ea typeface="Courier New" pitchFamily="34" charset="-122"/>
                <a:cs typeface="Courier New" pitchFamily="34" charset="-120"/>
              </a:rPr>
              <a:t>confidence</a:t>
            </a:r>
            <a:endParaRPr lang="en-US" sz="1200" dirty="0"/>
          </a:p>
        </p:txBody>
      </p:sp>
      <p:sp>
        <p:nvSpPr>
          <p:cNvPr id="48" name="Text 46"/>
          <p:cNvSpPr/>
          <p:nvPr/>
        </p:nvSpPr>
        <p:spPr>
          <a:xfrm>
            <a:off x="8796528" y="4114800"/>
            <a:ext cx="2660904" cy="1097280"/>
          </a:xfrm>
          <a:prstGeom prst="rect">
            <a:avLst/>
          </a:prstGeom>
          <a:noFill/>
          <a:ln/>
        </p:spPr>
        <p:txBody>
          <a:bodyPr wrap="square" lIns="0" tIns="0" rIns="0" bIns="0" rtlCol="0" anchor="t"/>
          <a:lstStyle/>
          <a:p>
            <a:pPr indent="0" marL="0">
              <a:lnSpc>
                <a:spcPct val="114000"/>
              </a:lnSpc>
              <a:buNone/>
            </a:pPr>
            <a:r>
              <a:rPr lang="en-US" sz="1100" dirty="0">
                <a:solidFill>
                  <a:srgbClr val="93A1BC"/>
                </a:solidFill>
                <a:latin typeface="Courier New" pitchFamily="34" charset="0"/>
                <a:ea typeface="Courier New" pitchFamily="34" charset="-122"/>
                <a:cs typeface="Courier New" pitchFamily="34" charset="-120"/>
              </a:rPr>
              <a:t>0.4 + count/300·0.35</a:t>
            </a:r>
            <a:endParaRPr lang="en-US" sz="1100" dirty="0"/>
          </a:p>
          <a:p>
            <a:pPr indent="0" marL="0">
              <a:lnSpc>
                <a:spcPct val="114000"/>
              </a:lnSpc>
              <a:buNone/>
            </a:pPr>
            <a:r>
              <a:rPr lang="en-US" sz="1100" dirty="0">
                <a:solidFill>
                  <a:srgbClr val="93A1BC"/>
                </a:solidFill>
                <a:latin typeface="Courier New" pitchFamily="34" charset="0"/>
                <a:ea typeface="Courier New" pitchFamily="34" charset="-122"/>
                <a:cs typeface="Courier New" pitchFamily="34" charset="-120"/>
              </a:rPr>
              <a:t>   + r²·0.2 + bhDays/7</a:t>
            </a:r>
            <a:endParaRPr lang="en-US" sz="1100" dirty="0"/>
          </a:p>
          <a:p>
            <a:pPr indent="0" marL="0">
              <a:lnSpc>
                <a:spcPct val="114000"/>
              </a:lnSpc>
              <a:buNone/>
            </a:pPr>
            <a:r>
              <a:rPr lang="en-US" sz="1100" dirty="0">
                <a:solidFill>
                  <a:srgbClr val="93A1BC"/>
                </a:solidFill>
                <a:latin typeface="Courier New" pitchFamily="34" charset="0"/>
                <a:ea typeface="Courier New" pitchFamily="34" charset="-122"/>
                <a:cs typeface="Courier New" pitchFamily="34" charset="-120"/>
              </a:rPr>
              <a:t>   (capped 0.97)</a:t>
            </a:r>
            <a:endParaRPr lang="en-US" sz="1100" dirty="0"/>
          </a:p>
        </p:txBody>
      </p:sp>
      <p:sp>
        <p:nvSpPr>
          <p:cNvPr id="49" name="Text 47"/>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50" name="Text 4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TEMPLATED FROM THE COMPUTED FACTS (NO BLACK BOX)</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AI summary — technical</a:t>
            </a:r>
            <a:endParaRPr lang="en-US" sz="2900" dirty="0"/>
          </a:p>
        </p:txBody>
      </p:sp>
      <p:sp>
        <p:nvSpPr>
          <p:cNvPr id="4" name="Text 2"/>
          <p:cNvSpPr/>
          <p:nvPr/>
        </p:nvSpPr>
        <p:spPr>
          <a:xfrm>
            <a:off x="548640" y="1737360"/>
            <a:ext cx="7040880" cy="274320"/>
          </a:xfrm>
          <a:prstGeom prst="rect">
            <a:avLst/>
          </a:prstGeom>
          <a:noFill/>
          <a:ln/>
        </p:spPr>
        <p:txBody>
          <a:bodyPr wrap="square" lIns="0" tIns="0" rIns="0" bIns="0" rtlCol="0" anchor="t"/>
          <a:lstStyle/>
          <a:p>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Deterministic sentences assembled from the same numbers the graphs use — reproducible and auditable:</a:t>
            </a:r>
            <a:endParaRPr lang="en-US" sz="1400" dirty="0"/>
          </a:p>
        </p:txBody>
      </p:sp>
      <p:sp>
        <p:nvSpPr>
          <p:cNvPr id="5" name="Text 3"/>
          <p:cNvSpPr/>
          <p:nvPr/>
        </p:nvSpPr>
        <p:spPr>
          <a:xfrm>
            <a:off x="548640" y="2377440"/>
            <a:ext cx="7040880" cy="27432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E6EDF7"/>
                </a:solidFill>
                <a:latin typeface="Calibri" pitchFamily="34" charset="0"/>
                <a:ea typeface="Calibri" pitchFamily="34" charset="-122"/>
                <a:cs typeface="Calibri" pitchFamily="34" charset="-120"/>
              </a:rPr>
              <a:t>p95 load + bandwidth:  “Busy-period load (p95) is X% — about Y on this Z link.”</a:t>
            </a:r>
            <a:endParaRPr lang="en-US" sz="1300" dirty="0"/>
          </a:p>
          <a:p>
            <a:pPr marL="177800" indent="-177800">
              <a:spcAft>
                <a:spcPts val="600"/>
              </a:spcAft>
              <a:buSzPct val="100000"/>
              <a:buChar char="•"/>
            </a:pPr>
            <a:r>
              <a:rPr lang="en-US" sz="1300" dirty="0">
                <a:solidFill>
                  <a:srgbClr val="E6EDF7"/>
                </a:solidFill>
                <a:latin typeface="Calibri" pitchFamily="34" charset="0"/>
                <a:ea typeface="Calibri" pitchFamily="34" charset="-122"/>
                <a:cs typeface="Calibri" pitchFamily="34" charset="-120"/>
              </a:rPr>
              <a:t>bhDays crossings, if any.</a:t>
            </a:r>
            <a:endParaRPr lang="en-US" sz="1300" dirty="0"/>
          </a:p>
          <a:p>
            <a:pPr marL="177800" indent="-177800">
              <a:spcAft>
                <a:spcPts val="600"/>
              </a:spcAft>
              <a:buSzPct val="100000"/>
              <a:buChar char="•"/>
            </a:pPr>
            <a:r>
              <a:rPr lang="en-US" sz="1300" dirty="0">
                <a:solidFill>
                  <a:srgbClr val="E6EDF7"/>
                </a:solidFill>
                <a:latin typeface="Calibri" pitchFamily="34" charset="0"/>
                <a:ea typeface="Calibri" pitchFamily="34" charset="-122"/>
                <a:cs typeface="Calibri" pitchFamily="34" charset="-120"/>
              </a:rPr>
              <a:t>Growth: direction + %/month when |growthMoM| ≥ 3%, else “roughly flat”.</a:t>
            </a:r>
            <a:endParaRPr lang="en-US" sz="1300" dirty="0"/>
          </a:p>
          <a:p>
            <a:pPr marL="177800" indent="-177800">
              <a:spcAft>
                <a:spcPts val="600"/>
              </a:spcAft>
              <a:buSzPct val="100000"/>
              <a:buChar char="•"/>
            </a:pPr>
            <a:r>
              <a:rPr lang="en-US" sz="1300" dirty="0">
                <a:solidFill>
                  <a:srgbClr val="E6EDF7"/>
                </a:solidFill>
                <a:latin typeface="Calibri" pitchFamily="34" charset="0"/>
                <a:ea typeface="Calibri" pitchFamily="34" charset="-122"/>
                <a:cs typeface="Calibri" pitchFamily="34" charset="-120"/>
              </a:rPr>
              <a:t>t90 timing + upgrade window (“reaches 90% in ~N days”).</a:t>
            </a:r>
            <a:endParaRPr lang="en-US" sz="1300" dirty="0"/>
          </a:p>
          <a:p>
            <a:pPr marL="177800" indent="-177800">
              <a:spcAft>
                <a:spcPts val="600"/>
              </a:spcAft>
              <a:buSzPct val="100000"/>
              <a:buChar char="•"/>
            </a:pPr>
            <a:r>
              <a:rPr lang="en-US" sz="1300" dirty="0">
                <a:solidFill>
                  <a:srgbClr val="E6EDF7"/>
                </a:solidFill>
                <a:latin typeface="Calibri" pitchFamily="34" charset="0"/>
                <a:ea typeface="Calibri" pitchFamily="34" charset="-122"/>
                <a:cs typeface="Calibri" pitchFamily="34" charset="-120"/>
              </a:rPr>
              <a:t>Anomaly count · impossible samples excluded · forecast confidence + model note.</a:t>
            </a:r>
            <a:endParaRPr lang="en-US" sz="1300" dirty="0"/>
          </a:p>
        </p:txBody>
      </p:sp>
      <p:sp>
        <p:nvSpPr>
          <p:cNvPr id="6" name="Shape 4"/>
          <p:cNvSpPr/>
          <p:nvPr/>
        </p:nvSpPr>
        <p:spPr>
          <a:xfrm>
            <a:off x="7818120" y="1737360"/>
            <a:ext cx="3840480" cy="4389120"/>
          </a:xfrm>
          <a:prstGeom prst="roundRect">
            <a:avLst>
              <a:gd name="adj" fmla="val 2143"/>
            </a:avLst>
          </a:prstGeom>
          <a:solidFill>
            <a:srgbClr val="1E2740"/>
          </a:solidFill>
          <a:ln w="12700">
            <a:solidFill>
              <a:srgbClr val="38BDF8"/>
            </a:solidFill>
            <a:prstDash val="solid"/>
          </a:ln>
          <a:effectLst>
            <a:outerShdw sx="100000" sy="100000" kx="0" ky="0" algn="bl" rotWithShape="0" blurRad="101600" dist="38100" dir="5400000">
              <a:srgbClr val="000000">
                <a:alpha val="35000"/>
              </a:srgbClr>
            </a:outerShdw>
          </a:effectLst>
        </p:spPr>
      </p:sp>
      <p:sp>
        <p:nvSpPr>
          <p:cNvPr id="7" name="Text 5"/>
          <p:cNvSpPr/>
          <p:nvPr/>
        </p:nvSpPr>
        <p:spPr>
          <a:xfrm>
            <a:off x="8046720" y="1874520"/>
            <a:ext cx="3383280" cy="274320"/>
          </a:xfrm>
          <a:prstGeom prst="rect">
            <a:avLst/>
          </a:prstGeom>
          <a:noFill/>
          <a:ln/>
        </p:spPr>
        <p:txBody>
          <a:bodyPr wrap="square" lIns="0" tIns="0" rIns="0" bIns="0" rtlCol="0" anchor="ctr"/>
          <a:lstStyle/>
          <a:p>
            <a:pPr indent="0" marL="0">
              <a:buNone/>
            </a:pPr>
            <a:r>
              <a:rPr lang="en-US" sz="1000" b="1" spc="150" kern="0" dirty="0">
                <a:solidFill>
                  <a:srgbClr val="38BDF8"/>
                </a:solidFill>
                <a:latin typeface="Calibri" pitchFamily="34" charset="0"/>
                <a:ea typeface="Calibri" pitchFamily="34" charset="-122"/>
                <a:cs typeface="Calibri" pitchFamily="34" charset="-120"/>
              </a:rPr>
              <a:t>SAMPLE OUTPUT</a:t>
            </a:r>
            <a:endParaRPr lang="en-US" sz="1000" dirty="0"/>
          </a:p>
        </p:txBody>
      </p:sp>
      <p:sp>
        <p:nvSpPr>
          <p:cNvPr id="8" name="Text 6"/>
          <p:cNvSpPr/>
          <p:nvPr/>
        </p:nvSpPr>
        <p:spPr>
          <a:xfrm>
            <a:off x="8046720" y="2286000"/>
            <a:ext cx="3383280" cy="3657600"/>
          </a:xfrm>
          <a:prstGeom prst="rect">
            <a:avLst/>
          </a:prstGeom>
          <a:noFill/>
          <a:ln/>
        </p:spPr>
        <p:txBody>
          <a:bodyPr wrap="square" lIns="0" tIns="0" rIns="0" bIns="0" rtlCol="0" anchor="t"/>
          <a:lstStyle/>
          <a:p>
            <a:pPr indent="0" marL="0">
              <a:lnSpc>
                <a:spcPct val="116000"/>
              </a:lnSpc>
              <a:buNone/>
            </a:pPr>
            <a:r>
              <a:rPr lang="en-US" sz="1350" i="1" dirty="0">
                <a:solidFill>
                  <a:srgbClr val="E6EDF7"/>
                </a:solidFill>
                <a:latin typeface="Calibri" pitchFamily="34" charset="0"/>
                <a:ea typeface="Calibri" pitchFamily="34" charset="-122"/>
                <a:cs typeface="Calibri" pitchFamily="34" charset="-120"/>
              </a:rPr>
              <a:t>“Busy-period load (p95) is 71% — about 7.1 Gbps on this 10 Gbps link. It crossed the high/critical line on 6 business days. Traffic is growing ~14%/month. If this continues, it reaches 90% in about 38 days — plan the upgrade in the 12–38 day window. Forecast confidence 82% (recent trend).”</a:t>
            </a:r>
            <a:endParaRPr lang="en-US" sz="1350" dirty="0"/>
          </a:p>
        </p:txBody>
      </p:sp>
      <p:sp>
        <p:nvSpPr>
          <p:cNvPr id="9" name="Text 7"/>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10" name="Text 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SAME FACTS, NO JARGON, FOR MANAGEMENT</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AI summary — plain English</a:t>
            </a:r>
            <a:endParaRPr lang="en-US" sz="2900" dirty="0"/>
          </a:p>
        </p:txBody>
      </p:sp>
      <p:sp>
        <p:nvSpPr>
          <p:cNvPr id="4" name="Text 2"/>
          <p:cNvSpPr/>
          <p:nvPr/>
        </p:nvSpPr>
        <p:spPr>
          <a:xfrm>
            <a:off x="548640" y="1737360"/>
            <a:ext cx="7040880" cy="274320"/>
          </a:xfrm>
          <a:prstGeom prst="rect">
            <a:avLst/>
          </a:prstGeom>
          <a:noFill/>
          <a:ln/>
        </p:spPr>
        <p:txBody>
          <a:bodyPr wrap="square" lIns="0" tIns="0" rIns="0" bIns="0" rtlCol="0" anchor="t"/>
          <a:lstStyle/>
          <a:p>
            <a:pPr indent="0" marL="0">
              <a:lnSpc>
                <a:spcPct val="102000"/>
              </a:lnSpc>
              <a:spcAft>
                <a:spcPts val="500"/>
              </a:spcAft>
              <a:buNone/>
            </a:pPr>
            <a:r>
              <a:rPr lang="en-US" sz="1400" dirty="0">
                <a:solidFill>
                  <a:srgbClr val="E6EDF7"/>
                </a:solidFill>
                <a:latin typeface="Calibri" pitchFamily="34" charset="0"/>
                <a:ea typeface="Calibri" pitchFamily="34" charset="-122"/>
                <a:cs typeface="Calibri" pitchFamily="34" charset="-120"/>
              </a:rPr>
              <a:t>Health phrase is chosen from the verdict level and p95 — no p95/MoM terms leak through:</a:t>
            </a:r>
            <a:endParaRPr lang="en-US" sz="1400" dirty="0"/>
          </a:p>
        </p:txBody>
      </p:sp>
      <p:sp>
        <p:nvSpPr>
          <p:cNvPr id="5" name="Shape 3"/>
          <p:cNvSpPr/>
          <p:nvPr/>
        </p:nvSpPr>
        <p:spPr>
          <a:xfrm>
            <a:off x="548640" y="2377440"/>
            <a:ext cx="1600200" cy="310896"/>
          </a:xfrm>
          <a:prstGeom prst="roundRect">
            <a:avLst>
              <a:gd name="adj" fmla="val 14706"/>
            </a:avLst>
          </a:prstGeom>
          <a:solidFill>
            <a:srgbClr val="1E2740"/>
          </a:solidFill>
          <a:ln w="12700">
            <a:solidFill>
              <a:srgbClr val="F43F5E"/>
            </a:solidFill>
            <a:prstDash val="solid"/>
          </a:ln>
        </p:spPr>
      </p:sp>
      <p:sp>
        <p:nvSpPr>
          <p:cNvPr id="6" name="Text 4"/>
          <p:cNvSpPr/>
          <p:nvPr/>
        </p:nvSpPr>
        <p:spPr>
          <a:xfrm>
            <a:off x="548640" y="2377440"/>
            <a:ext cx="1600200" cy="310896"/>
          </a:xfrm>
          <a:prstGeom prst="rect">
            <a:avLst/>
          </a:prstGeom>
          <a:noFill/>
          <a:ln/>
        </p:spPr>
        <p:txBody>
          <a:bodyPr wrap="square" lIns="0" tIns="0" rIns="0" bIns="0" rtlCol="0" anchor="ctr"/>
          <a:lstStyle/>
          <a:p>
            <a:pPr algn="ctr" indent="0" marL="0">
              <a:buNone/>
            </a:pPr>
            <a:r>
              <a:rPr lang="en-US" sz="1100" b="1" dirty="0">
                <a:solidFill>
                  <a:srgbClr val="F43F5E"/>
                </a:solidFill>
                <a:latin typeface="Courier New" pitchFamily="34" charset="0"/>
                <a:ea typeface="Courier New" pitchFamily="34" charset="-122"/>
                <a:cs typeface="Courier New" pitchFamily="34" charset="-120"/>
              </a:rPr>
              <a:t>critical</a:t>
            </a:r>
            <a:endParaRPr lang="en-US" sz="1100" dirty="0"/>
          </a:p>
        </p:txBody>
      </p:sp>
      <p:sp>
        <p:nvSpPr>
          <p:cNvPr id="7" name="Text 5"/>
          <p:cNvSpPr/>
          <p:nvPr/>
        </p:nvSpPr>
        <p:spPr>
          <a:xfrm>
            <a:off x="2286000" y="2377440"/>
            <a:ext cx="5120640" cy="310896"/>
          </a:xfrm>
          <a:prstGeom prst="rect">
            <a:avLst/>
          </a:prstGeom>
          <a:noFill/>
          <a:ln/>
        </p:spPr>
        <p:txBody>
          <a:bodyPr wrap="square" lIns="0" tIns="0" rIns="0" bIns="0" rtlCol="0" anchor="ctr"/>
          <a:lstStyle/>
          <a:p>
            <a:pPr indent="0" marL="0">
              <a:buNone/>
            </a:pPr>
            <a:r>
              <a:rPr lang="en-US" sz="1300" dirty="0">
                <a:solidFill>
                  <a:srgbClr val="E6EDF7"/>
                </a:solidFill>
                <a:latin typeface="Calibri" pitchFamily="34" charset="0"/>
                <a:ea typeface="Calibri" pitchFamily="34" charset="-122"/>
                <a:cs typeface="Calibri" pitchFamily="34" charset="-120"/>
              </a:rPr>
              <a:t>“running very busy”</a:t>
            </a:r>
            <a:endParaRPr lang="en-US" sz="1300" dirty="0"/>
          </a:p>
        </p:txBody>
      </p:sp>
      <p:sp>
        <p:nvSpPr>
          <p:cNvPr id="8" name="Shape 6"/>
          <p:cNvSpPr/>
          <p:nvPr/>
        </p:nvSpPr>
        <p:spPr>
          <a:xfrm>
            <a:off x="548640" y="2816352"/>
            <a:ext cx="1600200" cy="310896"/>
          </a:xfrm>
          <a:prstGeom prst="roundRect">
            <a:avLst>
              <a:gd name="adj" fmla="val 14706"/>
            </a:avLst>
          </a:prstGeom>
          <a:solidFill>
            <a:srgbClr val="1E2740"/>
          </a:solidFill>
          <a:ln w="12700">
            <a:solidFill>
              <a:srgbClr val="FB923C"/>
            </a:solidFill>
            <a:prstDash val="solid"/>
          </a:ln>
        </p:spPr>
      </p:sp>
      <p:sp>
        <p:nvSpPr>
          <p:cNvPr id="9" name="Text 7"/>
          <p:cNvSpPr/>
          <p:nvPr/>
        </p:nvSpPr>
        <p:spPr>
          <a:xfrm>
            <a:off x="548640" y="2816352"/>
            <a:ext cx="1600200" cy="310896"/>
          </a:xfrm>
          <a:prstGeom prst="rect">
            <a:avLst/>
          </a:prstGeom>
          <a:noFill/>
          <a:ln/>
        </p:spPr>
        <p:txBody>
          <a:bodyPr wrap="square" lIns="0" tIns="0" rIns="0" bIns="0" rtlCol="0" anchor="ctr"/>
          <a:lstStyle/>
          <a:p>
            <a:pPr algn="ctr" indent="0" marL="0">
              <a:buNone/>
            </a:pPr>
            <a:r>
              <a:rPr lang="en-US" sz="1100" b="1" dirty="0">
                <a:solidFill>
                  <a:srgbClr val="FB923C"/>
                </a:solidFill>
                <a:latin typeface="Courier New" pitchFamily="34" charset="0"/>
                <a:ea typeface="Courier New" pitchFamily="34" charset="-122"/>
                <a:cs typeface="Courier New" pitchFamily="34" charset="-120"/>
              </a:rPr>
              <a:t>high</a:t>
            </a:r>
            <a:endParaRPr lang="en-US" sz="1100" dirty="0"/>
          </a:p>
        </p:txBody>
      </p:sp>
      <p:sp>
        <p:nvSpPr>
          <p:cNvPr id="10" name="Text 8"/>
          <p:cNvSpPr/>
          <p:nvPr/>
        </p:nvSpPr>
        <p:spPr>
          <a:xfrm>
            <a:off x="2286000" y="2816352"/>
            <a:ext cx="5120640" cy="310896"/>
          </a:xfrm>
          <a:prstGeom prst="rect">
            <a:avLst/>
          </a:prstGeom>
          <a:noFill/>
          <a:ln/>
        </p:spPr>
        <p:txBody>
          <a:bodyPr wrap="square" lIns="0" tIns="0" rIns="0" bIns="0" rtlCol="0" anchor="ctr"/>
          <a:lstStyle/>
          <a:p>
            <a:pPr indent="0" marL="0">
              <a:buNone/>
            </a:pPr>
            <a:r>
              <a:rPr lang="en-US" sz="1300" dirty="0">
                <a:solidFill>
                  <a:srgbClr val="E6EDF7"/>
                </a:solidFill>
                <a:latin typeface="Calibri" pitchFamily="34" charset="0"/>
                <a:ea typeface="Calibri" pitchFamily="34" charset="-122"/>
                <a:cs typeface="Calibri" pitchFamily="34" charset="-120"/>
              </a:rPr>
              <a:t>“getting busy”</a:t>
            </a:r>
            <a:endParaRPr lang="en-US" sz="1300" dirty="0"/>
          </a:p>
        </p:txBody>
      </p:sp>
      <p:sp>
        <p:nvSpPr>
          <p:cNvPr id="11" name="Shape 9"/>
          <p:cNvSpPr/>
          <p:nvPr/>
        </p:nvSpPr>
        <p:spPr>
          <a:xfrm>
            <a:off x="548640" y="3255264"/>
            <a:ext cx="1600200" cy="310896"/>
          </a:xfrm>
          <a:prstGeom prst="roundRect">
            <a:avLst>
              <a:gd name="adj" fmla="val 14706"/>
            </a:avLst>
          </a:prstGeom>
          <a:solidFill>
            <a:srgbClr val="1E2740"/>
          </a:solidFill>
          <a:ln w="12700">
            <a:solidFill>
              <a:srgbClr val="FBBF24"/>
            </a:solidFill>
            <a:prstDash val="solid"/>
          </a:ln>
        </p:spPr>
      </p:sp>
      <p:sp>
        <p:nvSpPr>
          <p:cNvPr id="12" name="Text 10"/>
          <p:cNvSpPr/>
          <p:nvPr/>
        </p:nvSpPr>
        <p:spPr>
          <a:xfrm>
            <a:off x="548640" y="3255264"/>
            <a:ext cx="1600200" cy="310896"/>
          </a:xfrm>
          <a:prstGeom prst="rect">
            <a:avLst/>
          </a:prstGeom>
          <a:noFill/>
          <a:ln/>
        </p:spPr>
        <p:txBody>
          <a:bodyPr wrap="square" lIns="0" tIns="0" rIns="0" bIns="0" rtlCol="0" anchor="ctr"/>
          <a:lstStyle/>
          <a:p>
            <a:pPr algn="ctr" indent="0" marL="0">
              <a:buNone/>
            </a:pPr>
            <a:r>
              <a:rPr lang="en-US" sz="1100" b="1" dirty="0">
                <a:solidFill>
                  <a:srgbClr val="FBBF24"/>
                </a:solidFill>
                <a:latin typeface="Courier New" pitchFamily="34" charset="0"/>
                <a:ea typeface="Courier New" pitchFamily="34" charset="-122"/>
                <a:cs typeface="Courier New" pitchFamily="34" charset="-120"/>
              </a:rPr>
              <a:t>warning</a:t>
            </a:r>
            <a:endParaRPr lang="en-US" sz="1100" dirty="0"/>
          </a:p>
        </p:txBody>
      </p:sp>
      <p:sp>
        <p:nvSpPr>
          <p:cNvPr id="13" name="Text 11"/>
          <p:cNvSpPr/>
          <p:nvPr/>
        </p:nvSpPr>
        <p:spPr>
          <a:xfrm>
            <a:off x="2286000" y="3255264"/>
            <a:ext cx="5120640" cy="310896"/>
          </a:xfrm>
          <a:prstGeom prst="rect">
            <a:avLst/>
          </a:prstGeom>
          <a:noFill/>
          <a:ln/>
        </p:spPr>
        <p:txBody>
          <a:bodyPr wrap="square" lIns="0" tIns="0" rIns="0" bIns="0" rtlCol="0" anchor="ctr"/>
          <a:lstStyle/>
          <a:p>
            <a:pPr indent="0" marL="0">
              <a:buNone/>
            </a:pPr>
            <a:r>
              <a:rPr lang="en-US" sz="1300" dirty="0">
                <a:solidFill>
                  <a:srgbClr val="E6EDF7"/>
                </a:solidFill>
                <a:latin typeface="Calibri" pitchFamily="34" charset="0"/>
                <a:ea typeface="Calibri" pitchFamily="34" charset="-122"/>
                <a:cs typeface="Calibri" pitchFamily="34" charset="-120"/>
              </a:rPr>
              <a:t>“mostly fine but worth watching”</a:t>
            </a:r>
            <a:endParaRPr lang="en-US" sz="1300" dirty="0"/>
          </a:p>
        </p:txBody>
      </p:sp>
      <p:sp>
        <p:nvSpPr>
          <p:cNvPr id="14" name="Shape 12"/>
          <p:cNvSpPr/>
          <p:nvPr/>
        </p:nvSpPr>
        <p:spPr>
          <a:xfrm>
            <a:off x="548640" y="3694176"/>
            <a:ext cx="1600200" cy="310896"/>
          </a:xfrm>
          <a:prstGeom prst="roundRect">
            <a:avLst>
              <a:gd name="adj" fmla="val 14706"/>
            </a:avLst>
          </a:prstGeom>
          <a:solidFill>
            <a:srgbClr val="1E2740"/>
          </a:solidFill>
          <a:ln w="12700">
            <a:solidFill>
              <a:srgbClr val="6B7A96"/>
            </a:solidFill>
            <a:prstDash val="solid"/>
          </a:ln>
        </p:spPr>
      </p:sp>
      <p:sp>
        <p:nvSpPr>
          <p:cNvPr id="15" name="Text 13"/>
          <p:cNvSpPr/>
          <p:nvPr/>
        </p:nvSpPr>
        <p:spPr>
          <a:xfrm>
            <a:off x="548640" y="3694176"/>
            <a:ext cx="1600200" cy="310896"/>
          </a:xfrm>
          <a:prstGeom prst="rect">
            <a:avLst/>
          </a:prstGeom>
          <a:noFill/>
          <a:ln/>
        </p:spPr>
        <p:txBody>
          <a:bodyPr wrap="square" lIns="0" tIns="0" rIns="0" bIns="0" rtlCol="0" anchor="ctr"/>
          <a:lstStyle/>
          <a:p>
            <a:pPr algn="ctr" indent="0" marL="0">
              <a:buNone/>
            </a:pPr>
            <a:r>
              <a:rPr lang="en-US" sz="1100" b="1" dirty="0">
                <a:solidFill>
                  <a:srgbClr val="6B7A96"/>
                </a:solidFill>
                <a:latin typeface="Courier New" pitchFamily="34" charset="0"/>
                <a:ea typeface="Courier New" pitchFamily="34" charset="-122"/>
                <a:cs typeface="Courier New" pitchFamily="34" charset="-120"/>
              </a:rPr>
              <a:t>p95 &lt; 5%</a:t>
            </a:r>
            <a:endParaRPr lang="en-US" sz="1100" dirty="0"/>
          </a:p>
        </p:txBody>
      </p:sp>
      <p:sp>
        <p:nvSpPr>
          <p:cNvPr id="16" name="Text 14"/>
          <p:cNvSpPr/>
          <p:nvPr/>
        </p:nvSpPr>
        <p:spPr>
          <a:xfrm>
            <a:off x="2286000" y="3694176"/>
            <a:ext cx="5120640" cy="310896"/>
          </a:xfrm>
          <a:prstGeom prst="rect">
            <a:avLst/>
          </a:prstGeom>
          <a:noFill/>
          <a:ln/>
        </p:spPr>
        <p:txBody>
          <a:bodyPr wrap="square" lIns="0" tIns="0" rIns="0" bIns="0" rtlCol="0" anchor="ctr"/>
          <a:lstStyle/>
          <a:p>
            <a:pPr indent="0" marL="0">
              <a:buNone/>
            </a:pPr>
            <a:r>
              <a:rPr lang="en-US" sz="1300" dirty="0">
                <a:solidFill>
                  <a:srgbClr val="E6EDF7"/>
                </a:solidFill>
                <a:latin typeface="Calibri" pitchFamily="34" charset="0"/>
                <a:ea typeface="Calibri" pitchFamily="34" charset="-122"/>
                <a:cs typeface="Calibri" pitchFamily="34" charset="-120"/>
              </a:rPr>
              <a:t>“barely used”</a:t>
            </a:r>
            <a:endParaRPr lang="en-US" sz="1300" dirty="0"/>
          </a:p>
        </p:txBody>
      </p:sp>
      <p:sp>
        <p:nvSpPr>
          <p:cNvPr id="17" name="Shape 15"/>
          <p:cNvSpPr/>
          <p:nvPr/>
        </p:nvSpPr>
        <p:spPr>
          <a:xfrm>
            <a:off x="548640" y="4133088"/>
            <a:ext cx="1600200" cy="310896"/>
          </a:xfrm>
          <a:prstGeom prst="roundRect">
            <a:avLst>
              <a:gd name="adj" fmla="val 14706"/>
            </a:avLst>
          </a:prstGeom>
          <a:solidFill>
            <a:srgbClr val="1E2740"/>
          </a:solidFill>
          <a:ln w="12700">
            <a:solidFill>
              <a:srgbClr val="34D399"/>
            </a:solidFill>
            <a:prstDash val="solid"/>
          </a:ln>
        </p:spPr>
      </p:sp>
      <p:sp>
        <p:nvSpPr>
          <p:cNvPr id="18" name="Text 16"/>
          <p:cNvSpPr/>
          <p:nvPr/>
        </p:nvSpPr>
        <p:spPr>
          <a:xfrm>
            <a:off x="548640" y="4133088"/>
            <a:ext cx="1600200" cy="310896"/>
          </a:xfrm>
          <a:prstGeom prst="rect">
            <a:avLst/>
          </a:prstGeom>
          <a:noFill/>
          <a:ln/>
        </p:spPr>
        <p:txBody>
          <a:bodyPr wrap="square" lIns="0" tIns="0" rIns="0" bIns="0" rtlCol="0" anchor="ctr"/>
          <a:lstStyle/>
          <a:p>
            <a:pPr algn="ctr" indent="0" marL="0">
              <a:buNone/>
            </a:pPr>
            <a:r>
              <a:rPr lang="en-US" sz="1100" b="1" dirty="0">
                <a:solidFill>
                  <a:srgbClr val="34D399"/>
                </a:solidFill>
                <a:latin typeface="Courier New" pitchFamily="34" charset="0"/>
                <a:ea typeface="Courier New" pitchFamily="34" charset="-122"/>
                <a:cs typeface="Courier New" pitchFamily="34" charset="-120"/>
              </a:rPr>
              <a:t>else</a:t>
            </a:r>
            <a:endParaRPr lang="en-US" sz="1100" dirty="0"/>
          </a:p>
        </p:txBody>
      </p:sp>
      <p:sp>
        <p:nvSpPr>
          <p:cNvPr id="19" name="Text 17"/>
          <p:cNvSpPr/>
          <p:nvPr/>
        </p:nvSpPr>
        <p:spPr>
          <a:xfrm>
            <a:off x="2286000" y="4133088"/>
            <a:ext cx="5120640" cy="310896"/>
          </a:xfrm>
          <a:prstGeom prst="rect">
            <a:avLst/>
          </a:prstGeom>
          <a:noFill/>
          <a:ln/>
        </p:spPr>
        <p:txBody>
          <a:bodyPr wrap="square" lIns="0" tIns="0" rIns="0" bIns="0" rtlCol="0" anchor="ctr"/>
          <a:lstStyle/>
          <a:p>
            <a:pPr indent="0" marL="0">
              <a:buNone/>
            </a:pPr>
            <a:r>
              <a:rPr lang="en-US" sz="1300" dirty="0">
                <a:solidFill>
                  <a:srgbClr val="E6EDF7"/>
                </a:solidFill>
                <a:latin typeface="Calibri" pitchFamily="34" charset="0"/>
                <a:ea typeface="Calibri" pitchFamily="34" charset="-122"/>
                <a:cs typeface="Calibri" pitchFamily="34" charset="-120"/>
              </a:rPr>
              <a:t>“healthy”</a:t>
            </a:r>
            <a:endParaRPr lang="en-US" sz="1300" dirty="0"/>
          </a:p>
        </p:txBody>
      </p:sp>
      <p:sp>
        <p:nvSpPr>
          <p:cNvPr id="20" name="Text 18"/>
          <p:cNvSpPr/>
          <p:nvPr/>
        </p:nvSpPr>
        <p:spPr>
          <a:xfrm>
            <a:off x="548640" y="4663440"/>
            <a:ext cx="7040880" cy="274320"/>
          </a:xfrm>
          <a:prstGeom prst="rect">
            <a:avLst/>
          </a:prstGeom>
          <a:noFill/>
          <a:ln/>
        </p:spPr>
        <p:txBody>
          <a:bodyPr wrap="square" lIns="0" tIns="0" rIns="0" bIns="0" rtlCol="0" anchor="t"/>
          <a:lstStyle/>
          <a:p>
            <a:pPr indent="0" marL="0">
              <a:lnSpc>
                <a:spcPct val="102000"/>
              </a:lnSpc>
              <a:spcAft>
                <a:spcPts val="500"/>
              </a:spcAft>
              <a:buNone/>
            </a:pPr>
            <a:r>
              <a:rPr lang="en-US" sz="1400" dirty="0">
                <a:solidFill>
                  <a:srgbClr val="93A1BC"/>
                </a:solidFill>
                <a:latin typeface="Calibri" pitchFamily="34" charset="0"/>
                <a:ea typeface="Calibri" pitchFamily="34" charset="-122"/>
                <a:cs typeface="Calibri" pitchFamily="34" charset="-120"/>
              </a:rPr>
              <a:t>Then: busy %, a months-to-full estimate, and an impact note if the link is business-critical.</a:t>
            </a:r>
            <a:endParaRPr lang="en-US" sz="1400" dirty="0"/>
          </a:p>
        </p:txBody>
      </p:sp>
      <p:sp>
        <p:nvSpPr>
          <p:cNvPr id="21" name="Shape 19"/>
          <p:cNvSpPr/>
          <p:nvPr/>
        </p:nvSpPr>
        <p:spPr>
          <a:xfrm>
            <a:off x="7818120" y="1737360"/>
            <a:ext cx="3840480" cy="4389120"/>
          </a:xfrm>
          <a:prstGeom prst="roundRect">
            <a:avLst>
              <a:gd name="adj" fmla="val 2143"/>
            </a:avLst>
          </a:prstGeom>
          <a:solidFill>
            <a:srgbClr val="1E2740"/>
          </a:solidFill>
          <a:ln w="12700">
            <a:solidFill>
              <a:srgbClr val="34D399"/>
            </a:solidFill>
            <a:prstDash val="solid"/>
          </a:ln>
          <a:effectLst>
            <a:outerShdw sx="100000" sy="100000" kx="0" ky="0" algn="bl" rotWithShape="0" blurRad="101600" dist="38100" dir="5400000">
              <a:srgbClr val="000000">
                <a:alpha val="35000"/>
              </a:srgbClr>
            </a:outerShdw>
          </a:effectLst>
        </p:spPr>
      </p:sp>
      <p:sp>
        <p:nvSpPr>
          <p:cNvPr id="22" name="Text 20"/>
          <p:cNvSpPr/>
          <p:nvPr/>
        </p:nvSpPr>
        <p:spPr>
          <a:xfrm>
            <a:off x="8046720" y="1874520"/>
            <a:ext cx="3383280" cy="274320"/>
          </a:xfrm>
          <a:prstGeom prst="rect">
            <a:avLst/>
          </a:prstGeom>
          <a:noFill/>
          <a:ln/>
        </p:spPr>
        <p:txBody>
          <a:bodyPr wrap="square" lIns="0" tIns="0" rIns="0" bIns="0" rtlCol="0" anchor="ctr"/>
          <a:lstStyle/>
          <a:p>
            <a:pPr indent="0" marL="0">
              <a:buNone/>
            </a:pPr>
            <a:r>
              <a:rPr lang="en-US" sz="1000" b="1" spc="150" kern="0" dirty="0">
                <a:solidFill>
                  <a:srgbClr val="34D399"/>
                </a:solidFill>
                <a:latin typeface="Calibri" pitchFamily="34" charset="0"/>
                <a:ea typeface="Calibri" pitchFamily="34" charset="-122"/>
                <a:cs typeface="Calibri" pitchFamily="34" charset="-120"/>
              </a:rPr>
              <a:t>SAMPLE OUTPUT</a:t>
            </a:r>
            <a:endParaRPr lang="en-US" sz="1000" dirty="0"/>
          </a:p>
        </p:txBody>
      </p:sp>
      <p:sp>
        <p:nvSpPr>
          <p:cNvPr id="23" name="Text 21"/>
          <p:cNvSpPr/>
          <p:nvPr/>
        </p:nvSpPr>
        <p:spPr>
          <a:xfrm>
            <a:off x="8046720" y="2286000"/>
            <a:ext cx="3383280" cy="3657600"/>
          </a:xfrm>
          <a:prstGeom prst="rect">
            <a:avLst/>
          </a:prstGeom>
          <a:noFill/>
          <a:ln/>
        </p:spPr>
        <p:txBody>
          <a:bodyPr wrap="square" lIns="0" tIns="0" rIns="0" bIns="0" rtlCol="0" anchor="t"/>
          <a:lstStyle/>
          <a:p>
            <a:pPr indent="0" marL="0">
              <a:lnSpc>
                <a:spcPct val="116000"/>
              </a:lnSpc>
              <a:buNone/>
            </a:pPr>
            <a:r>
              <a:rPr lang="en-US" sz="1350" i="1" dirty="0">
                <a:solidFill>
                  <a:srgbClr val="E6EDF7"/>
                </a:solidFill>
                <a:latin typeface="Calibri" pitchFamily="34" charset="0"/>
                <a:ea typeface="Calibri" pitchFamily="34" charset="-122"/>
                <a:cs typeface="Calibri" pitchFamily="34" charset="-120"/>
              </a:rPr>
              <a:t>“In plain terms, the NYC trading link Core-01 Ethernet1/2 is running very busy. At its busiest it uses about 71% of the line’s capacity. Traffic is climbing, and at this pace the link would run low on spare room in roughly 1 month. It would be wise to plan an upgrade before then. This is a business-critical link, so any problem here has high impact.”</a:t>
            </a:r>
            <a:endParaRPr lang="en-US" sz="1350" dirty="0"/>
          </a:p>
        </p:txBody>
      </p:sp>
      <p:sp>
        <p:nvSpPr>
          <p:cNvPr id="24" name="Text 22"/>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25" name="Text 2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AND THE MATHS THAT KEEPS THEM HONEST AT SCALE</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The dashboard graphs — what each one draws</a:t>
            </a:r>
            <a:endParaRPr lang="en-US" sz="2900" dirty="0"/>
          </a:p>
        </p:txBody>
      </p:sp>
      <p:sp>
        <p:nvSpPr>
          <p:cNvPr id="4" name="Shape 2"/>
          <p:cNvSpPr/>
          <p:nvPr/>
        </p:nvSpPr>
        <p:spPr>
          <a:xfrm>
            <a:off x="548640" y="1691640"/>
            <a:ext cx="3611880" cy="2084832"/>
          </a:xfrm>
          <a:prstGeom prst="roundRect">
            <a:avLst>
              <a:gd name="adj" fmla="val 3947"/>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68096" y="1892808"/>
            <a:ext cx="329184" cy="329184"/>
          </a:xfrm>
          <a:prstGeom prst="ellipse">
            <a:avLst/>
          </a:prstGeom>
          <a:solidFill>
            <a:srgbClr val="38BDF8"/>
          </a:solidFill>
          <a:ln/>
        </p:spPr>
      </p:sp>
      <p:sp>
        <p:nvSpPr>
          <p:cNvPr id="6" name="Text 4"/>
          <p:cNvSpPr/>
          <p:nvPr/>
        </p:nvSpPr>
        <p:spPr>
          <a:xfrm>
            <a:off x="1207008" y="1874520"/>
            <a:ext cx="2834640" cy="45720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Traffic &amp; Utilization</a:t>
            </a:r>
            <a:endParaRPr lang="en-US" sz="1400" dirty="0"/>
          </a:p>
        </p:txBody>
      </p:sp>
      <p:sp>
        <p:nvSpPr>
          <p:cNvPr id="7" name="Text 5"/>
          <p:cNvSpPr/>
          <p:nvPr/>
        </p:nvSpPr>
        <p:spPr>
          <a:xfrm>
            <a:off x="768096" y="2404872"/>
            <a:ext cx="3172968" cy="1261872"/>
          </a:xfrm>
          <a:prstGeom prst="rect">
            <a:avLst/>
          </a:prstGeom>
          <a:noFill/>
          <a:ln/>
        </p:spPr>
        <p:txBody>
          <a:bodyPr wrap="square" lIns="0" tIns="0" rIns="0" bIns="0" rtlCol="0" anchor="t"/>
          <a:lstStyle/>
          <a:p>
            <a:pPr indent="0" marL="0">
              <a:lnSpc>
                <a:spcPct val="106000"/>
              </a:lnSpc>
              <a:buNone/>
            </a:pPr>
            <a:r>
              <a:rPr lang="en-US" sz="1150" dirty="0">
                <a:solidFill>
                  <a:srgbClr val="93A1BC"/>
                </a:solidFill>
                <a:latin typeface="Calibri" pitchFamily="34" charset="0"/>
                <a:ea typeface="Calibri" pitchFamily="34" charset="-122"/>
                <a:cs typeface="Calibri" pitchFamily="34" charset="-120"/>
              </a:rPr>
              <a:t>Per-sample TX / RX / Peak vs time. Threshold bands, minute-accurate business-hour shading, maintenance shading, anomaly markers.</a:t>
            </a:r>
            <a:endParaRPr lang="en-US" sz="1150" dirty="0"/>
          </a:p>
        </p:txBody>
      </p:sp>
      <p:sp>
        <p:nvSpPr>
          <p:cNvPr id="8" name="Shape 6"/>
          <p:cNvSpPr/>
          <p:nvPr/>
        </p:nvSpPr>
        <p:spPr>
          <a:xfrm>
            <a:off x="4288536" y="1691640"/>
            <a:ext cx="3611880" cy="2084832"/>
          </a:xfrm>
          <a:prstGeom prst="roundRect">
            <a:avLst>
              <a:gd name="adj" fmla="val 3947"/>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9" name="Shape 7"/>
          <p:cNvSpPr/>
          <p:nvPr/>
        </p:nvSpPr>
        <p:spPr>
          <a:xfrm>
            <a:off x="4507992" y="1892808"/>
            <a:ext cx="329184" cy="329184"/>
          </a:xfrm>
          <a:prstGeom prst="ellipse">
            <a:avLst/>
          </a:prstGeom>
          <a:solidFill>
            <a:srgbClr val="818CF8"/>
          </a:solidFill>
          <a:ln/>
        </p:spPr>
      </p:sp>
      <p:sp>
        <p:nvSpPr>
          <p:cNvPr id="10" name="Text 8"/>
          <p:cNvSpPr/>
          <p:nvPr/>
        </p:nvSpPr>
        <p:spPr>
          <a:xfrm>
            <a:off x="4946904" y="1874520"/>
            <a:ext cx="2834640" cy="45720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Min/max envelope</a:t>
            </a:r>
            <a:endParaRPr lang="en-US" sz="1400" dirty="0"/>
          </a:p>
        </p:txBody>
      </p:sp>
      <p:sp>
        <p:nvSpPr>
          <p:cNvPr id="11" name="Text 9"/>
          <p:cNvSpPr/>
          <p:nvPr/>
        </p:nvSpPr>
        <p:spPr>
          <a:xfrm>
            <a:off x="4507992" y="2404872"/>
            <a:ext cx="3172968" cy="1261872"/>
          </a:xfrm>
          <a:prstGeom prst="rect">
            <a:avLst/>
          </a:prstGeom>
          <a:noFill/>
          <a:ln/>
        </p:spPr>
        <p:txBody>
          <a:bodyPr wrap="square" lIns="0" tIns="0" rIns="0" bIns="0" rtlCol="0" anchor="t"/>
          <a:lstStyle/>
          <a:p>
            <a:pPr indent="0" marL="0">
              <a:lnSpc>
                <a:spcPct val="106000"/>
              </a:lnSpc>
              <a:buNone/>
            </a:pPr>
            <a:r>
              <a:rPr lang="en-US" sz="1150" dirty="0">
                <a:solidFill>
                  <a:srgbClr val="93A1BC"/>
                </a:solidFill>
                <a:latin typeface="Calibri" pitchFamily="34" charset="0"/>
                <a:ea typeface="Calibri" pitchFamily="34" charset="-122"/>
                <a:cs typeface="Calibri" pitchFamily="34" charset="-120"/>
              </a:rPr>
              <a:t>downsampleMM keeps the extreme point of each bucket, so spikes survive even when 40k+ points render as ≤1400.</a:t>
            </a:r>
            <a:endParaRPr lang="en-US" sz="1150" dirty="0"/>
          </a:p>
        </p:txBody>
      </p:sp>
      <p:sp>
        <p:nvSpPr>
          <p:cNvPr id="12" name="Shape 10"/>
          <p:cNvSpPr/>
          <p:nvPr/>
        </p:nvSpPr>
        <p:spPr>
          <a:xfrm>
            <a:off x="8028432" y="1691640"/>
            <a:ext cx="3611880" cy="2084832"/>
          </a:xfrm>
          <a:prstGeom prst="roundRect">
            <a:avLst>
              <a:gd name="adj" fmla="val 3947"/>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3" name="Shape 11"/>
          <p:cNvSpPr/>
          <p:nvPr/>
        </p:nvSpPr>
        <p:spPr>
          <a:xfrm>
            <a:off x="8247888" y="1892808"/>
            <a:ext cx="329184" cy="329184"/>
          </a:xfrm>
          <a:prstGeom prst="ellipse">
            <a:avLst/>
          </a:prstGeom>
          <a:solidFill>
            <a:srgbClr val="F472B6"/>
          </a:solidFill>
          <a:ln/>
        </p:spPr>
      </p:sp>
      <p:sp>
        <p:nvSpPr>
          <p:cNvPr id="14" name="Text 12"/>
          <p:cNvSpPr/>
          <p:nvPr/>
        </p:nvSpPr>
        <p:spPr>
          <a:xfrm>
            <a:off x="8686800" y="1874520"/>
            <a:ext cx="2834640" cy="45720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Utilization rhythm</a:t>
            </a:r>
            <a:endParaRPr lang="en-US" sz="1400" dirty="0"/>
          </a:p>
        </p:txBody>
      </p:sp>
      <p:sp>
        <p:nvSpPr>
          <p:cNvPr id="15" name="Text 13"/>
          <p:cNvSpPr/>
          <p:nvPr/>
        </p:nvSpPr>
        <p:spPr>
          <a:xfrm>
            <a:off x="8247888" y="2404872"/>
            <a:ext cx="3172968" cy="1261872"/>
          </a:xfrm>
          <a:prstGeom prst="rect">
            <a:avLst/>
          </a:prstGeom>
          <a:noFill/>
          <a:ln/>
        </p:spPr>
        <p:txBody>
          <a:bodyPr wrap="square" lIns="0" tIns="0" rIns="0" bIns="0" rtlCol="0" anchor="t"/>
          <a:lstStyle/>
          <a:p>
            <a:pPr indent="0" marL="0">
              <a:lnSpc>
                <a:spcPct val="106000"/>
              </a:lnSpc>
              <a:buNone/>
            </a:pPr>
            <a:r>
              <a:rPr lang="en-US" sz="1150" dirty="0">
                <a:solidFill>
                  <a:srgbClr val="93A1BC"/>
                </a:solidFill>
                <a:latin typeface="Calibri" pitchFamily="34" charset="0"/>
                <a:ea typeface="Calibri" pitchFamily="34" charset="-122"/>
                <a:cs typeface="Calibri" pitchFamily="34" charset="-120"/>
              </a:rPr>
              <a:t>dow×hour heat-map = mean utilization per weekday-hour cell; reveals the weekly busy pattern.</a:t>
            </a:r>
            <a:endParaRPr lang="en-US" sz="1150" dirty="0"/>
          </a:p>
        </p:txBody>
      </p:sp>
      <p:sp>
        <p:nvSpPr>
          <p:cNvPr id="16" name="Shape 14"/>
          <p:cNvSpPr/>
          <p:nvPr/>
        </p:nvSpPr>
        <p:spPr>
          <a:xfrm>
            <a:off x="548640" y="3959352"/>
            <a:ext cx="3611880" cy="2084832"/>
          </a:xfrm>
          <a:prstGeom prst="roundRect">
            <a:avLst>
              <a:gd name="adj" fmla="val 3947"/>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17" name="Shape 15"/>
          <p:cNvSpPr/>
          <p:nvPr/>
        </p:nvSpPr>
        <p:spPr>
          <a:xfrm>
            <a:off x="768096" y="4160520"/>
            <a:ext cx="329184" cy="329184"/>
          </a:xfrm>
          <a:prstGeom prst="ellipse">
            <a:avLst/>
          </a:prstGeom>
          <a:solidFill>
            <a:srgbClr val="FBBF24"/>
          </a:solidFill>
          <a:ln/>
        </p:spPr>
      </p:sp>
      <p:sp>
        <p:nvSpPr>
          <p:cNvPr id="18" name="Text 16"/>
          <p:cNvSpPr/>
          <p:nvPr/>
        </p:nvSpPr>
        <p:spPr>
          <a:xfrm>
            <a:off x="1207008" y="4142232"/>
            <a:ext cx="2834640" cy="45720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Business vs off-hours</a:t>
            </a:r>
            <a:endParaRPr lang="en-US" sz="1400" dirty="0"/>
          </a:p>
        </p:txBody>
      </p:sp>
      <p:sp>
        <p:nvSpPr>
          <p:cNvPr id="19" name="Text 17"/>
          <p:cNvSpPr/>
          <p:nvPr/>
        </p:nvSpPr>
        <p:spPr>
          <a:xfrm>
            <a:off x="768096" y="4672584"/>
            <a:ext cx="3172968" cy="1261872"/>
          </a:xfrm>
          <a:prstGeom prst="rect">
            <a:avLst/>
          </a:prstGeom>
          <a:noFill/>
          <a:ln/>
        </p:spPr>
        <p:txBody>
          <a:bodyPr wrap="square" lIns="0" tIns="0" rIns="0" bIns="0" rtlCol="0" anchor="t"/>
          <a:lstStyle/>
          <a:p>
            <a:pPr indent="0" marL="0">
              <a:lnSpc>
                <a:spcPct val="106000"/>
              </a:lnSpc>
              <a:buNone/>
            </a:pPr>
            <a:r>
              <a:rPr lang="en-US" sz="1150" dirty="0">
                <a:solidFill>
                  <a:srgbClr val="93A1BC"/>
                </a:solidFill>
                <a:latin typeface="Calibri" pitchFamily="34" charset="0"/>
                <a:ea typeface="Calibri" pitchFamily="34" charset="-122"/>
                <a:cs typeface="Calibri" pitchFamily="34" charset="-120"/>
              </a:rPr>
              <a:t>Side-by-side p95 / avg / peak + state split, judged against each window’s own bands.</a:t>
            </a:r>
            <a:endParaRPr lang="en-US" sz="1150" dirty="0"/>
          </a:p>
        </p:txBody>
      </p:sp>
      <p:sp>
        <p:nvSpPr>
          <p:cNvPr id="20" name="Shape 18"/>
          <p:cNvSpPr/>
          <p:nvPr/>
        </p:nvSpPr>
        <p:spPr>
          <a:xfrm>
            <a:off x="4288536" y="3959352"/>
            <a:ext cx="3611880" cy="2084832"/>
          </a:xfrm>
          <a:prstGeom prst="roundRect">
            <a:avLst>
              <a:gd name="adj" fmla="val 3947"/>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21" name="Shape 19"/>
          <p:cNvSpPr/>
          <p:nvPr/>
        </p:nvSpPr>
        <p:spPr>
          <a:xfrm>
            <a:off x="4507992" y="4160520"/>
            <a:ext cx="329184" cy="329184"/>
          </a:xfrm>
          <a:prstGeom prst="ellipse">
            <a:avLst/>
          </a:prstGeom>
          <a:solidFill>
            <a:srgbClr val="34D399"/>
          </a:solidFill>
          <a:ln/>
        </p:spPr>
      </p:sp>
      <p:sp>
        <p:nvSpPr>
          <p:cNvPr id="22" name="Text 20"/>
          <p:cNvSpPr/>
          <p:nvPr/>
        </p:nvSpPr>
        <p:spPr>
          <a:xfrm>
            <a:off x="4946904" y="4142232"/>
            <a:ext cx="2834640" cy="45720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Forecast</a:t>
            </a:r>
            <a:endParaRPr lang="en-US" sz="1400" dirty="0"/>
          </a:p>
        </p:txBody>
      </p:sp>
      <p:sp>
        <p:nvSpPr>
          <p:cNvPr id="23" name="Text 21"/>
          <p:cNvSpPr/>
          <p:nvPr/>
        </p:nvSpPr>
        <p:spPr>
          <a:xfrm>
            <a:off x="4507992" y="4672584"/>
            <a:ext cx="3172968" cy="1261872"/>
          </a:xfrm>
          <a:prstGeom prst="rect">
            <a:avLst/>
          </a:prstGeom>
          <a:noFill/>
          <a:ln/>
        </p:spPr>
        <p:txBody>
          <a:bodyPr wrap="square" lIns="0" tIns="0" rIns="0" bIns="0" rtlCol="0" anchor="t"/>
          <a:lstStyle/>
          <a:p>
            <a:pPr indent="0" marL="0">
              <a:lnSpc>
                <a:spcPct val="106000"/>
              </a:lnSpc>
              <a:buNone/>
            </a:pPr>
            <a:r>
              <a:rPr lang="en-US" sz="1150" dirty="0">
                <a:solidFill>
                  <a:srgbClr val="93A1BC"/>
                </a:solidFill>
                <a:latin typeface="Calibri" pitchFamily="34" charset="0"/>
                <a:ea typeface="Calibri" pitchFamily="34" charset="-122"/>
                <a:cs typeface="Calibri" pitchFamily="34" charset="-120"/>
              </a:rPr>
              <a:t>Daily p95 series + the projection line (current + slope·days) with the upgrade window shaded.</a:t>
            </a:r>
            <a:endParaRPr lang="en-US" sz="1150" dirty="0"/>
          </a:p>
        </p:txBody>
      </p:sp>
      <p:sp>
        <p:nvSpPr>
          <p:cNvPr id="24" name="Shape 22"/>
          <p:cNvSpPr/>
          <p:nvPr/>
        </p:nvSpPr>
        <p:spPr>
          <a:xfrm>
            <a:off x="8028432" y="3959352"/>
            <a:ext cx="3611880" cy="2084832"/>
          </a:xfrm>
          <a:prstGeom prst="roundRect">
            <a:avLst>
              <a:gd name="adj" fmla="val 3947"/>
            </a:avLst>
          </a:prstGeom>
          <a:solidFill>
            <a:srgbClr val="151C2C"/>
          </a:solidFill>
          <a:ln w="12700">
            <a:solidFill>
              <a:srgbClr val="2A3550"/>
            </a:solidFill>
            <a:prstDash val="solid"/>
          </a:ln>
          <a:effectLst>
            <a:outerShdw sx="100000" sy="100000" kx="0" ky="0" algn="bl" rotWithShape="0" blurRad="101600" dist="38100" dir="5400000">
              <a:srgbClr val="000000">
                <a:alpha val="35000"/>
              </a:srgbClr>
            </a:outerShdw>
          </a:effectLst>
        </p:spPr>
      </p:sp>
      <p:sp>
        <p:nvSpPr>
          <p:cNvPr id="25" name="Shape 23"/>
          <p:cNvSpPr/>
          <p:nvPr/>
        </p:nvSpPr>
        <p:spPr>
          <a:xfrm>
            <a:off x="8247888" y="4160520"/>
            <a:ext cx="329184" cy="329184"/>
          </a:xfrm>
          <a:prstGeom prst="ellipse">
            <a:avLst/>
          </a:prstGeom>
          <a:solidFill>
            <a:srgbClr val="FB923C"/>
          </a:solidFill>
          <a:ln/>
        </p:spPr>
      </p:sp>
      <p:sp>
        <p:nvSpPr>
          <p:cNvPr id="26" name="Text 24"/>
          <p:cNvSpPr/>
          <p:nvPr/>
        </p:nvSpPr>
        <p:spPr>
          <a:xfrm>
            <a:off x="8686800" y="4142232"/>
            <a:ext cx="2834640" cy="457200"/>
          </a:xfrm>
          <a:prstGeom prst="rect">
            <a:avLst/>
          </a:prstGeom>
          <a:noFill/>
          <a:ln/>
        </p:spPr>
        <p:txBody>
          <a:bodyPr wrap="square" lIns="0" tIns="0" rIns="0" bIns="0" rtlCol="0" anchor="ctr"/>
          <a:lstStyle/>
          <a:p>
            <a:pPr indent="0" marL="0">
              <a:buNone/>
            </a:pPr>
            <a:r>
              <a:rPr lang="en-US" sz="1400" b="1" dirty="0">
                <a:solidFill>
                  <a:srgbClr val="E6EDF7"/>
                </a:solidFill>
                <a:latin typeface="Cambria" pitchFamily="34" charset="0"/>
                <a:ea typeface="Cambria" pitchFamily="34" charset="-122"/>
                <a:cs typeface="Cambria" pitchFamily="34" charset="-120"/>
              </a:rPr>
              <a:t>Digital twin</a:t>
            </a:r>
            <a:endParaRPr lang="en-US" sz="1400" dirty="0"/>
          </a:p>
        </p:txBody>
      </p:sp>
      <p:sp>
        <p:nvSpPr>
          <p:cNvPr id="27" name="Text 25"/>
          <p:cNvSpPr/>
          <p:nvPr/>
        </p:nvSpPr>
        <p:spPr>
          <a:xfrm>
            <a:off x="8247888" y="4672584"/>
            <a:ext cx="3172968" cy="1261872"/>
          </a:xfrm>
          <a:prstGeom prst="rect">
            <a:avLst/>
          </a:prstGeom>
          <a:noFill/>
          <a:ln/>
        </p:spPr>
        <p:txBody>
          <a:bodyPr wrap="square" lIns="0" tIns="0" rIns="0" bIns="0" rtlCol="0" anchor="t"/>
          <a:lstStyle/>
          <a:p>
            <a:pPr indent="0" marL="0">
              <a:lnSpc>
                <a:spcPct val="106000"/>
              </a:lnSpc>
              <a:buNone/>
            </a:pPr>
            <a:r>
              <a:rPr lang="en-US" sz="1150" dirty="0">
                <a:solidFill>
                  <a:srgbClr val="93A1BC"/>
                </a:solidFill>
                <a:latin typeface="Calibri" pitchFamily="34" charset="0"/>
                <a:ea typeface="Calibri" pitchFamily="34" charset="-122"/>
                <a:cs typeface="Calibri" pitchFamily="34" charset="-120"/>
              </a:rPr>
              <a:t>Site / device LEDs coloured by the verdict level; aggregate risk rolls up per device and site.</a:t>
            </a:r>
            <a:endParaRPr lang="en-US" sz="1150" dirty="0"/>
          </a:p>
        </p:txBody>
      </p:sp>
      <p:sp>
        <p:nvSpPr>
          <p:cNvPr id="28" name="Text 26"/>
          <p:cNvSpPr/>
          <p:nvPr/>
        </p:nvSpPr>
        <p:spPr>
          <a:xfrm>
            <a:off x="548640" y="6053328"/>
            <a:ext cx="11064240" cy="365760"/>
          </a:xfrm>
          <a:prstGeom prst="rect">
            <a:avLst/>
          </a:prstGeom>
          <a:noFill/>
          <a:ln/>
        </p:spPr>
        <p:txBody>
          <a:bodyPr wrap="square" lIns="0" tIns="0" rIns="0" bIns="0" rtlCol="0" anchor="ctr"/>
          <a:lstStyle/>
          <a:p>
            <a:pPr indent="0" marL="0">
              <a:buNone/>
            </a:pPr>
            <a:r>
              <a:rPr lang="en-US" sz="1200" b="1" dirty="0">
                <a:solidFill>
                  <a:srgbClr val="38BDF8"/>
                </a:solidFill>
                <a:latin typeface="Courier New" pitchFamily="34" charset="0"/>
                <a:ea typeface="Courier New" pitchFamily="34" charset="-122"/>
                <a:cs typeface="Courier New" pitchFamily="34" charset="-120"/>
              </a:rPr>
              <a:t>downsampleMM:  </a:t>
            </a:r>
            <a:pPr indent="0" marL="0">
              <a:buNone/>
            </a:pPr>
            <a:r>
              <a:rPr lang="en-US" sz="1200" dirty="0">
                <a:solidFill>
                  <a:srgbClr val="93A1BC"/>
                </a:solidFill>
                <a:latin typeface="Calibri" pitchFamily="34" charset="0"/>
                <a:ea typeface="Calibri" pitchFamily="34" charset="-122"/>
                <a:cs typeface="Calibri" pitchFamily="34" charset="-120"/>
              </a:rPr>
              <a:t>bucket = ceil(n / (maxPts/2));  keep the min and the max of each bucket  →  the chart is fast and never loses a spike.</a:t>
            </a:r>
            <a:endParaRPr lang="en-US" sz="1200" dirty="0"/>
          </a:p>
        </p:txBody>
      </p:sp>
      <p:sp>
        <p:nvSpPr>
          <p:cNvPr id="29" name="Text 27"/>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30" name="Text 2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548640" y="310896"/>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EVERY NUMBER ON THE SCREEN, IN ONE PLACE</a:t>
            </a:r>
            <a:endParaRPr lang="en-US" sz="1200" dirty="0"/>
          </a:p>
        </p:txBody>
      </p:sp>
      <p:sp>
        <p:nvSpPr>
          <p:cNvPr id="3" name="Text 1"/>
          <p:cNvSpPr/>
          <p:nvPr/>
        </p:nvSpPr>
        <p:spPr>
          <a:xfrm>
            <a:off x="548640" y="548640"/>
            <a:ext cx="11064240" cy="658368"/>
          </a:xfrm>
          <a:prstGeom prst="rect">
            <a:avLst/>
          </a:prstGeom>
          <a:noFill/>
          <a:ln/>
        </p:spPr>
        <p:txBody>
          <a:bodyPr wrap="square" lIns="0" tIns="0" rIns="0" bIns="0" rtlCol="0" anchor="ctr"/>
          <a:lstStyle/>
          <a:p>
            <a:pPr indent="0" marL="0">
              <a:buNone/>
            </a:pPr>
            <a:r>
              <a:rPr lang="en-US" sz="2900" b="1" dirty="0">
                <a:solidFill>
                  <a:srgbClr val="E6EDF7"/>
                </a:solidFill>
                <a:latin typeface="Cambria" pitchFamily="34" charset="0"/>
                <a:ea typeface="Cambria" pitchFamily="34" charset="-122"/>
                <a:cs typeface="Cambria" pitchFamily="34" charset="-120"/>
              </a:rPr>
              <a:t>One-page formula reference</a:t>
            </a:r>
            <a:endParaRPr lang="en-US" sz="2900" dirty="0"/>
          </a:p>
        </p:txBody>
      </p:sp>
      <p:sp>
        <p:nvSpPr>
          <p:cNvPr id="4" name="Shape 2"/>
          <p:cNvSpPr/>
          <p:nvPr/>
        </p:nvSpPr>
        <p:spPr>
          <a:xfrm>
            <a:off x="548640" y="1737360"/>
            <a:ext cx="5486400" cy="566928"/>
          </a:xfrm>
          <a:prstGeom prst="roundRect">
            <a:avLst>
              <a:gd name="adj" fmla="val 14516"/>
            </a:avLst>
          </a:prstGeom>
          <a:solidFill>
            <a:srgbClr val="151C2C"/>
          </a:solidFill>
          <a:ln w="12700">
            <a:solidFill>
              <a:srgbClr val="2A3550"/>
            </a:solidFill>
            <a:prstDash val="solid"/>
          </a:ln>
        </p:spPr>
      </p:sp>
      <p:sp>
        <p:nvSpPr>
          <p:cNvPr id="5" name="Text 3"/>
          <p:cNvSpPr/>
          <p:nvPr/>
        </p:nvSpPr>
        <p:spPr>
          <a:xfrm>
            <a:off x="713232" y="1737360"/>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util</a:t>
            </a:r>
            <a:endParaRPr lang="en-US" sz="1250" dirty="0"/>
          </a:p>
        </p:txBody>
      </p:sp>
      <p:sp>
        <p:nvSpPr>
          <p:cNvPr id="6" name="Shape 4"/>
          <p:cNvSpPr/>
          <p:nvPr/>
        </p:nvSpPr>
        <p:spPr>
          <a:xfrm>
            <a:off x="2121408" y="1828800"/>
            <a:ext cx="0" cy="384048"/>
          </a:xfrm>
          <a:prstGeom prst="line">
            <a:avLst/>
          </a:prstGeom>
          <a:noFill/>
          <a:ln w="12700">
            <a:solidFill>
              <a:srgbClr val="2A3550"/>
            </a:solidFill>
            <a:prstDash val="solid"/>
          </a:ln>
        </p:spPr>
      </p:sp>
      <p:sp>
        <p:nvSpPr>
          <p:cNvPr id="7" name="Text 5"/>
          <p:cNvSpPr/>
          <p:nvPr/>
        </p:nvSpPr>
        <p:spPr>
          <a:xfrm>
            <a:off x="2286000" y="1737360"/>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max(tx/spTx, rx/spRx)  worse dir</a:t>
            </a:r>
            <a:endParaRPr lang="en-US" sz="1100" dirty="0"/>
          </a:p>
        </p:txBody>
      </p:sp>
      <p:sp>
        <p:nvSpPr>
          <p:cNvPr id="8" name="Shape 6"/>
          <p:cNvSpPr/>
          <p:nvPr/>
        </p:nvSpPr>
        <p:spPr>
          <a:xfrm>
            <a:off x="548640" y="2432304"/>
            <a:ext cx="5486400" cy="566928"/>
          </a:xfrm>
          <a:prstGeom prst="roundRect">
            <a:avLst>
              <a:gd name="adj" fmla="val 14516"/>
            </a:avLst>
          </a:prstGeom>
          <a:solidFill>
            <a:srgbClr val="151C2C"/>
          </a:solidFill>
          <a:ln w="12700">
            <a:solidFill>
              <a:srgbClr val="2A3550"/>
            </a:solidFill>
            <a:prstDash val="solid"/>
          </a:ln>
        </p:spPr>
      </p:sp>
      <p:sp>
        <p:nvSpPr>
          <p:cNvPr id="9" name="Text 7"/>
          <p:cNvSpPr/>
          <p:nvPr/>
        </p:nvSpPr>
        <p:spPr>
          <a:xfrm>
            <a:off x="713232" y="2432304"/>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peak (pu)</a:t>
            </a:r>
            <a:endParaRPr lang="en-US" sz="1250" dirty="0"/>
          </a:p>
        </p:txBody>
      </p:sp>
      <p:sp>
        <p:nvSpPr>
          <p:cNvPr id="10" name="Shape 8"/>
          <p:cNvSpPr/>
          <p:nvPr/>
        </p:nvSpPr>
        <p:spPr>
          <a:xfrm>
            <a:off x="2121408" y="2523744"/>
            <a:ext cx="0" cy="384048"/>
          </a:xfrm>
          <a:prstGeom prst="line">
            <a:avLst/>
          </a:prstGeom>
          <a:noFill/>
          <a:ln w="12700">
            <a:solidFill>
              <a:srgbClr val="2A3550"/>
            </a:solidFill>
            <a:prstDash val="solid"/>
          </a:ln>
        </p:spPr>
      </p:sp>
      <p:sp>
        <p:nvSpPr>
          <p:cNvPr id="11" name="Text 9"/>
          <p:cNvSpPr/>
          <p:nvPr/>
        </p:nvSpPr>
        <p:spPr>
          <a:xfrm>
            <a:off x="2286000" y="2432304"/>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max(ptx/spTx, prx/spRx)</a:t>
            </a:r>
            <a:endParaRPr lang="en-US" sz="1100" dirty="0"/>
          </a:p>
        </p:txBody>
      </p:sp>
      <p:sp>
        <p:nvSpPr>
          <p:cNvPr id="12" name="Shape 10"/>
          <p:cNvSpPr/>
          <p:nvPr/>
        </p:nvSpPr>
        <p:spPr>
          <a:xfrm>
            <a:off x="548640" y="3127248"/>
            <a:ext cx="5486400" cy="566928"/>
          </a:xfrm>
          <a:prstGeom prst="roundRect">
            <a:avLst>
              <a:gd name="adj" fmla="val 14516"/>
            </a:avLst>
          </a:prstGeom>
          <a:solidFill>
            <a:srgbClr val="151C2C"/>
          </a:solidFill>
          <a:ln w="12700">
            <a:solidFill>
              <a:srgbClr val="2A3550"/>
            </a:solidFill>
            <a:prstDash val="solid"/>
          </a:ln>
        </p:spPr>
      </p:sp>
      <p:sp>
        <p:nvSpPr>
          <p:cNvPr id="13" name="Text 11"/>
          <p:cNvSpPr/>
          <p:nvPr/>
        </p:nvSpPr>
        <p:spPr>
          <a:xfrm>
            <a:off x="713232" y="3127248"/>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p95</a:t>
            </a:r>
            <a:endParaRPr lang="en-US" sz="1250" dirty="0"/>
          </a:p>
        </p:txBody>
      </p:sp>
      <p:sp>
        <p:nvSpPr>
          <p:cNvPr id="14" name="Shape 12"/>
          <p:cNvSpPr/>
          <p:nvPr/>
        </p:nvSpPr>
        <p:spPr>
          <a:xfrm>
            <a:off x="2121408" y="3218688"/>
            <a:ext cx="0" cy="384048"/>
          </a:xfrm>
          <a:prstGeom prst="line">
            <a:avLst/>
          </a:prstGeom>
          <a:noFill/>
          <a:ln w="12700">
            <a:solidFill>
              <a:srgbClr val="2A3550"/>
            </a:solidFill>
            <a:prstDash val="solid"/>
          </a:ln>
        </p:spPr>
      </p:sp>
      <p:sp>
        <p:nvSpPr>
          <p:cNvPr id="15" name="Text 13"/>
          <p:cNvSpPr/>
          <p:nvPr/>
        </p:nvSpPr>
        <p:spPr>
          <a:xfrm>
            <a:off x="2286000" y="3127248"/>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percentile(utils, 0.95)</a:t>
            </a:r>
            <a:endParaRPr lang="en-US" sz="1100" dirty="0"/>
          </a:p>
        </p:txBody>
      </p:sp>
      <p:sp>
        <p:nvSpPr>
          <p:cNvPr id="16" name="Shape 14"/>
          <p:cNvSpPr/>
          <p:nvPr/>
        </p:nvSpPr>
        <p:spPr>
          <a:xfrm>
            <a:off x="548640" y="3822192"/>
            <a:ext cx="5486400" cy="566928"/>
          </a:xfrm>
          <a:prstGeom prst="roundRect">
            <a:avLst>
              <a:gd name="adj" fmla="val 14516"/>
            </a:avLst>
          </a:prstGeom>
          <a:solidFill>
            <a:srgbClr val="151C2C"/>
          </a:solidFill>
          <a:ln w="12700">
            <a:solidFill>
              <a:srgbClr val="2A3550"/>
            </a:solidFill>
            <a:prstDash val="solid"/>
          </a:ln>
        </p:spPr>
      </p:sp>
      <p:sp>
        <p:nvSpPr>
          <p:cNvPr id="17" name="Text 15"/>
          <p:cNvSpPr/>
          <p:nvPr/>
        </p:nvSpPr>
        <p:spPr>
          <a:xfrm>
            <a:off x="713232" y="3822192"/>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state</a:t>
            </a:r>
            <a:endParaRPr lang="en-US" sz="1250" dirty="0"/>
          </a:p>
        </p:txBody>
      </p:sp>
      <p:sp>
        <p:nvSpPr>
          <p:cNvPr id="18" name="Shape 16"/>
          <p:cNvSpPr/>
          <p:nvPr/>
        </p:nvSpPr>
        <p:spPr>
          <a:xfrm>
            <a:off x="2121408" y="3913632"/>
            <a:ext cx="0" cy="384048"/>
          </a:xfrm>
          <a:prstGeom prst="line">
            <a:avLst/>
          </a:prstGeom>
          <a:noFill/>
          <a:ln w="12700">
            <a:solidFill>
              <a:srgbClr val="2A3550"/>
            </a:solidFill>
            <a:prstDash val="solid"/>
          </a:ln>
        </p:spPr>
      </p:sp>
      <p:sp>
        <p:nvSpPr>
          <p:cNvPr id="19" name="Text 17"/>
          <p:cNvSpPr/>
          <p:nvPr/>
        </p:nvSpPr>
        <p:spPr>
          <a:xfrm>
            <a:off x="2286000" y="3822192"/>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&gt;=crit crit / &gt;=high high / &gt;=warn warn</a:t>
            </a:r>
            <a:endParaRPr lang="en-US" sz="1100" dirty="0"/>
          </a:p>
        </p:txBody>
      </p:sp>
      <p:sp>
        <p:nvSpPr>
          <p:cNvPr id="20" name="Shape 18"/>
          <p:cNvSpPr/>
          <p:nvPr/>
        </p:nvSpPr>
        <p:spPr>
          <a:xfrm>
            <a:off x="548640" y="4517136"/>
            <a:ext cx="5486400" cy="566928"/>
          </a:xfrm>
          <a:prstGeom prst="roundRect">
            <a:avLst>
              <a:gd name="adj" fmla="val 14516"/>
            </a:avLst>
          </a:prstGeom>
          <a:solidFill>
            <a:srgbClr val="151C2C"/>
          </a:solidFill>
          <a:ln w="12700">
            <a:solidFill>
              <a:srgbClr val="2A3550"/>
            </a:solidFill>
            <a:prstDash val="solid"/>
          </a:ln>
        </p:spPr>
      </p:sp>
      <p:sp>
        <p:nvSpPr>
          <p:cNvPr id="21" name="Text 19"/>
          <p:cNvSpPr/>
          <p:nvPr/>
        </p:nvSpPr>
        <p:spPr>
          <a:xfrm>
            <a:off x="713232" y="4517136"/>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isBH</a:t>
            </a:r>
            <a:endParaRPr lang="en-US" sz="1250" dirty="0"/>
          </a:p>
        </p:txBody>
      </p:sp>
      <p:sp>
        <p:nvSpPr>
          <p:cNvPr id="22" name="Shape 20"/>
          <p:cNvSpPr/>
          <p:nvPr/>
        </p:nvSpPr>
        <p:spPr>
          <a:xfrm>
            <a:off x="2121408" y="4608576"/>
            <a:ext cx="0" cy="384048"/>
          </a:xfrm>
          <a:prstGeom prst="line">
            <a:avLst/>
          </a:prstGeom>
          <a:noFill/>
          <a:ln w="12700">
            <a:solidFill>
              <a:srgbClr val="2A3550"/>
            </a:solidFill>
            <a:prstDash val="solid"/>
          </a:ln>
        </p:spPr>
      </p:sp>
      <p:sp>
        <p:nvSpPr>
          <p:cNvPr id="23" name="Text 21"/>
          <p:cNvSpPr/>
          <p:nvPr/>
        </p:nvSpPr>
        <p:spPr>
          <a:xfrm>
            <a:off x="2286000" y="4517136"/>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day in days AND start&lt;=clock&lt;end (tz)</a:t>
            </a:r>
            <a:endParaRPr lang="en-US" sz="1100" dirty="0"/>
          </a:p>
        </p:txBody>
      </p:sp>
      <p:sp>
        <p:nvSpPr>
          <p:cNvPr id="24" name="Shape 22"/>
          <p:cNvSpPr/>
          <p:nvPr/>
        </p:nvSpPr>
        <p:spPr>
          <a:xfrm>
            <a:off x="548640" y="5212080"/>
            <a:ext cx="5486400" cy="566928"/>
          </a:xfrm>
          <a:prstGeom prst="roundRect">
            <a:avLst>
              <a:gd name="adj" fmla="val 14516"/>
            </a:avLst>
          </a:prstGeom>
          <a:solidFill>
            <a:srgbClr val="151C2C"/>
          </a:solidFill>
          <a:ln w="12700">
            <a:solidFill>
              <a:srgbClr val="2A3550"/>
            </a:solidFill>
            <a:prstDash val="solid"/>
          </a:ln>
        </p:spPr>
      </p:sp>
      <p:sp>
        <p:nvSpPr>
          <p:cNvPr id="25" name="Text 23"/>
          <p:cNvSpPr/>
          <p:nvPr/>
        </p:nvSpPr>
        <p:spPr>
          <a:xfrm>
            <a:off x="713232" y="5212080"/>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bhDays</a:t>
            </a:r>
            <a:endParaRPr lang="en-US" sz="1250" dirty="0"/>
          </a:p>
        </p:txBody>
      </p:sp>
      <p:sp>
        <p:nvSpPr>
          <p:cNvPr id="26" name="Shape 24"/>
          <p:cNvSpPr/>
          <p:nvPr/>
        </p:nvSpPr>
        <p:spPr>
          <a:xfrm>
            <a:off x="2121408" y="5303520"/>
            <a:ext cx="0" cy="384048"/>
          </a:xfrm>
          <a:prstGeom prst="line">
            <a:avLst/>
          </a:prstGeom>
          <a:noFill/>
          <a:ln w="12700">
            <a:solidFill>
              <a:srgbClr val="2A3550"/>
            </a:solidFill>
            <a:prstDash val="solid"/>
          </a:ln>
        </p:spPr>
      </p:sp>
      <p:sp>
        <p:nvSpPr>
          <p:cNvPr id="27" name="Text 25"/>
          <p:cNvSpPr/>
          <p:nvPr/>
        </p:nvSpPr>
        <p:spPr>
          <a:xfrm>
            <a:off x="2286000" y="5212080"/>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 distinct days  util&gt;=high AND isBH</a:t>
            </a:r>
            <a:endParaRPr lang="en-US" sz="1100" dirty="0"/>
          </a:p>
        </p:txBody>
      </p:sp>
      <p:sp>
        <p:nvSpPr>
          <p:cNvPr id="28" name="Shape 26"/>
          <p:cNvSpPr/>
          <p:nvPr/>
        </p:nvSpPr>
        <p:spPr>
          <a:xfrm>
            <a:off x="6355080" y="1737360"/>
            <a:ext cx="5486400" cy="566928"/>
          </a:xfrm>
          <a:prstGeom prst="roundRect">
            <a:avLst>
              <a:gd name="adj" fmla="val 14516"/>
            </a:avLst>
          </a:prstGeom>
          <a:solidFill>
            <a:srgbClr val="151C2C"/>
          </a:solidFill>
          <a:ln w="12700">
            <a:solidFill>
              <a:srgbClr val="2A3550"/>
            </a:solidFill>
            <a:prstDash val="solid"/>
          </a:ln>
        </p:spPr>
      </p:sp>
      <p:sp>
        <p:nvSpPr>
          <p:cNvPr id="29" name="Text 27"/>
          <p:cNvSpPr/>
          <p:nvPr/>
        </p:nvSpPr>
        <p:spPr>
          <a:xfrm>
            <a:off x="6519672" y="1737360"/>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slope</a:t>
            </a:r>
            <a:endParaRPr lang="en-US" sz="1250" dirty="0"/>
          </a:p>
        </p:txBody>
      </p:sp>
      <p:sp>
        <p:nvSpPr>
          <p:cNvPr id="30" name="Shape 28"/>
          <p:cNvSpPr/>
          <p:nvPr/>
        </p:nvSpPr>
        <p:spPr>
          <a:xfrm>
            <a:off x="7927848" y="1828800"/>
            <a:ext cx="0" cy="384048"/>
          </a:xfrm>
          <a:prstGeom prst="line">
            <a:avLst/>
          </a:prstGeom>
          <a:noFill/>
          <a:ln w="12700">
            <a:solidFill>
              <a:srgbClr val="2A3550"/>
            </a:solidFill>
            <a:prstDash val="solid"/>
          </a:ln>
        </p:spPr>
      </p:sp>
      <p:sp>
        <p:nvSpPr>
          <p:cNvPr id="31" name="Text 29"/>
          <p:cNvSpPr/>
          <p:nvPr/>
        </p:nvSpPr>
        <p:spPr>
          <a:xfrm>
            <a:off x="8092440" y="1737360"/>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median pairwise dy/dx (Theil-Sen)</a:t>
            </a:r>
            <a:endParaRPr lang="en-US" sz="1100" dirty="0"/>
          </a:p>
        </p:txBody>
      </p:sp>
      <p:sp>
        <p:nvSpPr>
          <p:cNvPr id="32" name="Shape 30"/>
          <p:cNvSpPr/>
          <p:nvPr/>
        </p:nvSpPr>
        <p:spPr>
          <a:xfrm>
            <a:off x="6355080" y="2432304"/>
            <a:ext cx="5486400" cy="566928"/>
          </a:xfrm>
          <a:prstGeom prst="roundRect">
            <a:avLst>
              <a:gd name="adj" fmla="val 14516"/>
            </a:avLst>
          </a:prstGeom>
          <a:solidFill>
            <a:srgbClr val="151C2C"/>
          </a:solidFill>
          <a:ln w="12700">
            <a:solidFill>
              <a:srgbClr val="2A3550"/>
            </a:solidFill>
            <a:prstDash val="solid"/>
          </a:ln>
        </p:spPr>
      </p:sp>
      <p:sp>
        <p:nvSpPr>
          <p:cNvPr id="33" name="Text 31"/>
          <p:cNvSpPr/>
          <p:nvPr/>
        </p:nvSpPr>
        <p:spPr>
          <a:xfrm>
            <a:off x="6519672" y="2432304"/>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time-&gt;T</a:t>
            </a:r>
            <a:endParaRPr lang="en-US" sz="1250" dirty="0"/>
          </a:p>
        </p:txBody>
      </p:sp>
      <p:sp>
        <p:nvSpPr>
          <p:cNvPr id="34" name="Shape 32"/>
          <p:cNvSpPr/>
          <p:nvPr/>
        </p:nvSpPr>
        <p:spPr>
          <a:xfrm>
            <a:off x="7927848" y="2523744"/>
            <a:ext cx="0" cy="384048"/>
          </a:xfrm>
          <a:prstGeom prst="line">
            <a:avLst/>
          </a:prstGeom>
          <a:noFill/>
          <a:ln w="12700">
            <a:solidFill>
              <a:srgbClr val="2A3550"/>
            </a:solidFill>
            <a:prstDash val="solid"/>
          </a:ln>
        </p:spPr>
      </p:sp>
      <p:sp>
        <p:nvSpPr>
          <p:cNvPr id="35" name="Text 33"/>
          <p:cNvSpPr/>
          <p:nvPr/>
        </p:nvSpPr>
        <p:spPr>
          <a:xfrm>
            <a:off x="8092440" y="2432304"/>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(T - current) / slope   (slope&gt;0)</a:t>
            </a:r>
            <a:endParaRPr lang="en-US" sz="1100" dirty="0"/>
          </a:p>
        </p:txBody>
      </p:sp>
      <p:sp>
        <p:nvSpPr>
          <p:cNvPr id="36" name="Shape 34"/>
          <p:cNvSpPr/>
          <p:nvPr/>
        </p:nvSpPr>
        <p:spPr>
          <a:xfrm>
            <a:off x="6355080" y="3127248"/>
            <a:ext cx="5486400" cy="566928"/>
          </a:xfrm>
          <a:prstGeom prst="roundRect">
            <a:avLst>
              <a:gd name="adj" fmla="val 14516"/>
            </a:avLst>
          </a:prstGeom>
          <a:solidFill>
            <a:srgbClr val="151C2C"/>
          </a:solidFill>
          <a:ln w="12700">
            <a:solidFill>
              <a:srgbClr val="2A3550"/>
            </a:solidFill>
            <a:prstDash val="solid"/>
          </a:ln>
        </p:spPr>
      </p:sp>
      <p:sp>
        <p:nvSpPr>
          <p:cNvPr id="37" name="Text 35"/>
          <p:cNvSpPr/>
          <p:nvPr/>
        </p:nvSpPr>
        <p:spPr>
          <a:xfrm>
            <a:off x="6519672" y="3127248"/>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growthMoM</a:t>
            </a:r>
            <a:endParaRPr lang="en-US" sz="1250" dirty="0"/>
          </a:p>
        </p:txBody>
      </p:sp>
      <p:sp>
        <p:nvSpPr>
          <p:cNvPr id="38" name="Shape 36"/>
          <p:cNvSpPr/>
          <p:nvPr/>
        </p:nvSpPr>
        <p:spPr>
          <a:xfrm>
            <a:off x="7927848" y="3218688"/>
            <a:ext cx="0" cy="384048"/>
          </a:xfrm>
          <a:prstGeom prst="line">
            <a:avLst/>
          </a:prstGeom>
          <a:noFill/>
          <a:ln w="12700">
            <a:solidFill>
              <a:srgbClr val="2A3550"/>
            </a:solidFill>
            <a:prstDash val="solid"/>
          </a:ln>
        </p:spPr>
      </p:sp>
      <p:sp>
        <p:nvSpPr>
          <p:cNvPr id="39" name="Text 37"/>
          <p:cNvSpPr/>
          <p:nvPr/>
        </p:nvSpPr>
        <p:spPr>
          <a:xfrm>
            <a:off x="8092440" y="3127248"/>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(last3rd-first3rd)/max(first,.03)*30/span</a:t>
            </a:r>
            <a:endParaRPr lang="en-US" sz="1100" dirty="0"/>
          </a:p>
        </p:txBody>
      </p:sp>
      <p:sp>
        <p:nvSpPr>
          <p:cNvPr id="40" name="Shape 38"/>
          <p:cNvSpPr/>
          <p:nvPr/>
        </p:nvSpPr>
        <p:spPr>
          <a:xfrm>
            <a:off x="6355080" y="3822192"/>
            <a:ext cx="5486400" cy="566928"/>
          </a:xfrm>
          <a:prstGeom prst="roundRect">
            <a:avLst>
              <a:gd name="adj" fmla="val 14516"/>
            </a:avLst>
          </a:prstGeom>
          <a:solidFill>
            <a:srgbClr val="151C2C"/>
          </a:solidFill>
          <a:ln w="12700">
            <a:solidFill>
              <a:srgbClr val="2A3550"/>
            </a:solidFill>
            <a:prstDash val="solid"/>
          </a:ln>
        </p:spPr>
      </p:sp>
      <p:sp>
        <p:nvSpPr>
          <p:cNvPr id="41" name="Text 39"/>
          <p:cNvSpPr/>
          <p:nvPr/>
        </p:nvSpPr>
        <p:spPr>
          <a:xfrm>
            <a:off x="6519672" y="3822192"/>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risk</a:t>
            </a:r>
            <a:endParaRPr lang="en-US" sz="1250" dirty="0"/>
          </a:p>
        </p:txBody>
      </p:sp>
      <p:sp>
        <p:nvSpPr>
          <p:cNvPr id="42" name="Shape 40"/>
          <p:cNvSpPr/>
          <p:nvPr/>
        </p:nvSpPr>
        <p:spPr>
          <a:xfrm>
            <a:off x="7927848" y="3913632"/>
            <a:ext cx="0" cy="384048"/>
          </a:xfrm>
          <a:prstGeom prst="line">
            <a:avLst/>
          </a:prstGeom>
          <a:noFill/>
          <a:ln w="12700">
            <a:solidFill>
              <a:srgbClr val="2A3550"/>
            </a:solidFill>
            <a:prstDash val="solid"/>
          </a:ln>
        </p:spPr>
      </p:sp>
      <p:sp>
        <p:nvSpPr>
          <p:cNvPr id="43" name="Text 41"/>
          <p:cNvSpPr/>
          <p:nvPr/>
        </p:nvSpPr>
        <p:spPr>
          <a:xfrm>
            <a:off x="8092440" y="3822192"/>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round(clamp(SUMf/SUMw * impactMul,0,1)*100)</a:t>
            </a:r>
            <a:endParaRPr lang="en-US" sz="1100" dirty="0"/>
          </a:p>
        </p:txBody>
      </p:sp>
      <p:sp>
        <p:nvSpPr>
          <p:cNvPr id="44" name="Shape 42"/>
          <p:cNvSpPr/>
          <p:nvPr/>
        </p:nvSpPr>
        <p:spPr>
          <a:xfrm>
            <a:off x="6355080" y="4517136"/>
            <a:ext cx="5486400" cy="566928"/>
          </a:xfrm>
          <a:prstGeom prst="roundRect">
            <a:avLst>
              <a:gd name="adj" fmla="val 14516"/>
            </a:avLst>
          </a:prstGeom>
          <a:solidFill>
            <a:srgbClr val="151C2C"/>
          </a:solidFill>
          <a:ln w="12700">
            <a:solidFill>
              <a:srgbClr val="2A3550"/>
            </a:solidFill>
            <a:prstDash val="solid"/>
          </a:ln>
        </p:spPr>
      </p:sp>
      <p:sp>
        <p:nvSpPr>
          <p:cNvPr id="45" name="Text 43"/>
          <p:cNvSpPr/>
          <p:nvPr/>
        </p:nvSpPr>
        <p:spPr>
          <a:xfrm>
            <a:off x="6519672" y="4517136"/>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spike</a:t>
            </a:r>
            <a:endParaRPr lang="en-US" sz="1250" dirty="0"/>
          </a:p>
        </p:txBody>
      </p:sp>
      <p:sp>
        <p:nvSpPr>
          <p:cNvPr id="46" name="Shape 44"/>
          <p:cNvSpPr/>
          <p:nvPr/>
        </p:nvSpPr>
        <p:spPr>
          <a:xfrm>
            <a:off x="7927848" y="4608576"/>
            <a:ext cx="0" cy="384048"/>
          </a:xfrm>
          <a:prstGeom prst="line">
            <a:avLst/>
          </a:prstGeom>
          <a:noFill/>
          <a:ln w="12700">
            <a:solidFill>
              <a:srgbClr val="2A3550"/>
            </a:solidFill>
            <a:prstDash val="solid"/>
          </a:ln>
        </p:spPr>
      </p:sp>
      <p:sp>
        <p:nvSpPr>
          <p:cNvPr id="47" name="Text 45"/>
          <p:cNvSpPr/>
          <p:nvPr/>
        </p:nvSpPr>
        <p:spPr>
          <a:xfrm>
            <a:off x="8092440" y="4517136"/>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z&gt;3.2 &amp; n&gt;=5 &amp; jump&gt;=8pp &amp; util&gt;15%</a:t>
            </a:r>
            <a:endParaRPr lang="en-US" sz="1100" dirty="0"/>
          </a:p>
        </p:txBody>
      </p:sp>
      <p:sp>
        <p:nvSpPr>
          <p:cNvPr id="48" name="Shape 46"/>
          <p:cNvSpPr/>
          <p:nvPr/>
        </p:nvSpPr>
        <p:spPr>
          <a:xfrm>
            <a:off x="6355080" y="5212080"/>
            <a:ext cx="5486400" cy="566928"/>
          </a:xfrm>
          <a:prstGeom prst="roundRect">
            <a:avLst>
              <a:gd name="adj" fmla="val 14516"/>
            </a:avLst>
          </a:prstGeom>
          <a:solidFill>
            <a:srgbClr val="151C2C"/>
          </a:solidFill>
          <a:ln w="12700">
            <a:solidFill>
              <a:srgbClr val="2A3550"/>
            </a:solidFill>
            <a:prstDash val="solid"/>
          </a:ln>
        </p:spPr>
      </p:sp>
      <p:sp>
        <p:nvSpPr>
          <p:cNvPr id="49" name="Text 47"/>
          <p:cNvSpPr/>
          <p:nvPr/>
        </p:nvSpPr>
        <p:spPr>
          <a:xfrm>
            <a:off x="6519672" y="5212080"/>
            <a:ext cx="1371600" cy="566928"/>
          </a:xfrm>
          <a:prstGeom prst="rect">
            <a:avLst/>
          </a:prstGeom>
          <a:noFill/>
          <a:ln/>
        </p:spPr>
        <p:txBody>
          <a:bodyPr wrap="square" lIns="0" tIns="0" rIns="0" bIns="0" rtlCol="0" anchor="ctr"/>
          <a:lstStyle/>
          <a:p>
            <a:pPr indent="0" marL="0">
              <a:buNone/>
            </a:pPr>
            <a:r>
              <a:rPr lang="en-US" sz="1250" b="1" dirty="0">
                <a:solidFill>
                  <a:srgbClr val="38BDF8"/>
                </a:solidFill>
                <a:latin typeface="Courier New" pitchFamily="34" charset="0"/>
                <a:ea typeface="Courier New" pitchFamily="34" charset="-122"/>
                <a:cs typeface="Courier New" pitchFamily="34" charset="-120"/>
              </a:rPr>
              <a:t>recCap</a:t>
            </a:r>
            <a:endParaRPr lang="en-US" sz="1250" dirty="0"/>
          </a:p>
        </p:txBody>
      </p:sp>
      <p:sp>
        <p:nvSpPr>
          <p:cNvPr id="50" name="Shape 48"/>
          <p:cNvSpPr/>
          <p:nvPr/>
        </p:nvSpPr>
        <p:spPr>
          <a:xfrm>
            <a:off x="7927848" y="5303520"/>
            <a:ext cx="0" cy="384048"/>
          </a:xfrm>
          <a:prstGeom prst="line">
            <a:avLst/>
          </a:prstGeom>
          <a:noFill/>
          <a:ln w="12700">
            <a:solidFill>
              <a:srgbClr val="2A3550"/>
            </a:solidFill>
            <a:prstDash val="solid"/>
          </a:ln>
        </p:spPr>
      </p:sp>
      <p:sp>
        <p:nvSpPr>
          <p:cNvPr id="51" name="Text 49"/>
          <p:cNvSpPr/>
          <p:nvPr/>
        </p:nvSpPr>
        <p:spPr>
          <a:xfrm>
            <a:off x="8092440" y="5212080"/>
            <a:ext cx="3611880" cy="566928"/>
          </a:xfrm>
          <a:prstGeom prst="rect">
            <a:avLst/>
          </a:prstGeom>
          <a:noFill/>
          <a:ln/>
        </p:spPr>
        <p:txBody>
          <a:bodyPr wrap="square" lIns="0" tIns="0" rIns="0" bIns="0" rtlCol="0" anchor="ctr"/>
          <a:lstStyle/>
          <a:p>
            <a:pPr indent="0" marL="0">
              <a:lnSpc>
                <a:spcPct val="100000"/>
              </a:lnSpc>
              <a:buNone/>
            </a:pPr>
            <a:r>
              <a:rPr lang="en-US" sz="1100" dirty="0">
                <a:solidFill>
                  <a:srgbClr val="E6EDF7"/>
                </a:solidFill>
                <a:latin typeface="Courier New" pitchFamily="34" charset="0"/>
                <a:ea typeface="Courier New" pitchFamily="34" charset="-122"/>
                <a:cs typeface="Courier New" pitchFamily="34" charset="-120"/>
              </a:rPr>
              <a:t>peak * speed * N   (ceiling 100/N%)</a:t>
            </a:r>
            <a:endParaRPr lang="en-US" sz="1100" dirty="0"/>
          </a:p>
        </p:txBody>
      </p:sp>
      <p:sp>
        <p:nvSpPr>
          <p:cNvPr id="52" name="Text 50"/>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53" name="Text 51"/>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2103120" y="3108960"/>
            <a:ext cx="6035040" cy="6035040"/>
          </a:xfrm>
          <a:prstGeom prst="ellipse">
            <a:avLst/>
          </a:prstGeom>
          <a:solidFill>
            <a:srgbClr val="151C2C"/>
          </a:solidFill>
          <a:ln/>
        </p:spPr>
      </p:sp>
      <p:sp>
        <p:nvSpPr>
          <p:cNvPr id="3" name="Shape 1"/>
          <p:cNvSpPr/>
          <p:nvPr/>
        </p:nvSpPr>
        <p:spPr>
          <a:xfrm>
            <a:off x="8778240" y="-2194560"/>
            <a:ext cx="5120640" cy="5120640"/>
          </a:xfrm>
          <a:prstGeom prst="ellipse">
            <a:avLst/>
          </a:prstGeom>
          <a:solidFill>
            <a:srgbClr val="1E2740"/>
          </a:solidFill>
          <a:ln/>
        </p:spPr>
      </p:sp>
      <p:sp>
        <p:nvSpPr>
          <p:cNvPr id="4" name="Text 2"/>
          <p:cNvSpPr/>
          <p:nvPr/>
        </p:nvSpPr>
        <p:spPr>
          <a:xfrm>
            <a:off x="640080" y="2286000"/>
            <a:ext cx="10515600" cy="914400"/>
          </a:xfrm>
          <a:prstGeom prst="rect">
            <a:avLst/>
          </a:prstGeom>
          <a:noFill/>
          <a:ln/>
        </p:spPr>
        <p:txBody>
          <a:bodyPr wrap="square" lIns="0" tIns="0" rIns="0" bIns="0" rtlCol="0" anchor="ctr"/>
          <a:lstStyle/>
          <a:p>
            <a:pPr indent="0" marL="0">
              <a:buNone/>
            </a:pPr>
            <a:r>
              <a:rPr lang="en-US" sz="4000" b="1" dirty="0">
                <a:solidFill>
                  <a:srgbClr val="E6EDF7"/>
                </a:solidFill>
                <a:latin typeface="Cambria" pitchFamily="34" charset="0"/>
                <a:ea typeface="Cambria" pitchFamily="34" charset="-122"/>
                <a:cs typeface="Cambria" pitchFamily="34" charset="-120"/>
              </a:rPr>
              <a:t>Every pixel is explainable</a:t>
            </a:r>
            <a:endParaRPr lang="en-US" sz="4000" dirty="0"/>
          </a:p>
        </p:txBody>
      </p:sp>
      <p:sp>
        <p:nvSpPr>
          <p:cNvPr id="5" name="Text 3"/>
          <p:cNvSpPr/>
          <p:nvPr/>
        </p:nvSpPr>
        <p:spPr>
          <a:xfrm>
            <a:off x="658368" y="3383280"/>
            <a:ext cx="9144000" cy="914400"/>
          </a:xfrm>
          <a:prstGeom prst="rect">
            <a:avLst/>
          </a:prstGeom>
          <a:noFill/>
          <a:ln/>
        </p:spPr>
        <p:txBody>
          <a:bodyPr wrap="square" lIns="0" tIns="0" rIns="0" bIns="0" rtlCol="0" anchor="ctr"/>
          <a:lstStyle/>
          <a:p>
            <a:pPr indent="0" marL="0">
              <a:lnSpc>
                <a:spcPct val="112000"/>
              </a:lnSpc>
              <a:buNone/>
            </a:pPr>
            <a:r>
              <a:rPr lang="en-US" sz="1600" dirty="0">
                <a:solidFill>
                  <a:srgbClr val="93A1BC"/>
                </a:solidFill>
                <a:latin typeface="Calibri" pitchFamily="34" charset="0"/>
                <a:ea typeface="Calibri" pitchFamily="34" charset="-122"/>
                <a:cs typeface="Calibri" pitchFamily="34" charset="-120"/>
              </a:rPr>
              <a:t>No black box: each graph, verdict and summary traces back to one normalized,</a:t>
            </a:r>
            <a:endParaRPr lang="en-US" sz="1600" dirty="0"/>
          </a:p>
          <a:p>
            <a:pPr indent="0" marL="0">
              <a:lnSpc>
                <a:spcPct val="112000"/>
              </a:lnSpc>
              <a:buNone/>
            </a:pPr>
            <a:r>
              <a:rPr lang="en-US" sz="1600" dirty="0">
                <a:solidFill>
                  <a:srgbClr val="93A1BC"/>
                </a:solidFill>
                <a:latin typeface="Calibri" pitchFamily="34" charset="0"/>
                <a:ea typeface="Calibri" pitchFamily="34" charset="-122"/>
                <a:cs typeface="Calibri" pitchFamily="34" charset="-120"/>
              </a:rPr>
              <a:t>business-hours-aware utilization series and the formulas in this deck.</a:t>
            </a:r>
            <a:endParaRPr lang="en-US" sz="1600" dirty="0"/>
          </a:p>
        </p:txBody>
      </p:sp>
      <p:sp>
        <p:nvSpPr>
          <p:cNvPr id="6" name="Shape 4"/>
          <p:cNvSpPr/>
          <p:nvPr/>
        </p:nvSpPr>
        <p:spPr>
          <a:xfrm>
            <a:off x="658368" y="4480560"/>
            <a:ext cx="1234440" cy="274320"/>
          </a:xfrm>
          <a:prstGeom prst="roundRect">
            <a:avLst>
              <a:gd name="adj" fmla="val 20000"/>
            </a:avLst>
          </a:prstGeom>
          <a:solidFill>
            <a:srgbClr val="1E2740"/>
          </a:solidFill>
          <a:ln w="12700">
            <a:solidFill>
              <a:srgbClr val="38BDF8"/>
            </a:solidFill>
            <a:prstDash val="solid"/>
          </a:ln>
        </p:spPr>
      </p:sp>
      <p:sp>
        <p:nvSpPr>
          <p:cNvPr id="7" name="Text 5"/>
          <p:cNvSpPr/>
          <p:nvPr/>
        </p:nvSpPr>
        <p:spPr>
          <a:xfrm>
            <a:off x="658368" y="4480560"/>
            <a:ext cx="1234440"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worse-of-TX/RX</a:t>
            </a:r>
            <a:endParaRPr lang="en-US" sz="1050" dirty="0"/>
          </a:p>
        </p:txBody>
      </p:sp>
      <p:sp>
        <p:nvSpPr>
          <p:cNvPr id="8" name="Shape 6"/>
          <p:cNvSpPr/>
          <p:nvPr/>
        </p:nvSpPr>
        <p:spPr>
          <a:xfrm>
            <a:off x="2039112" y="4480560"/>
            <a:ext cx="845820" cy="274320"/>
          </a:xfrm>
          <a:prstGeom prst="roundRect">
            <a:avLst>
              <a:gd name="adj" fmla="val 20000"/>
            </a:avLst>
          </a:prstGeom>
          <a:solidFill>
            <a:srgbClr val="1E2740"/>
          </a:solidFill>
          <a:ln w="12700">
            <a:solidFill>
              <a:srgbClr val="38BDF8"/>
            </a:solidFill>
            <a:prstDash val="solid"/>
          </a:ln>
        </p:spPr>
      </p:sp>
      <p:sp>
        <p:nvSpPr>
          <p:cNvPr id="9" name="Text 7"/>
          <p:cNvSpPr/>
          <p:nvPr/>
        </p:nvSpPr>
        <p:spPr>
          <a:xfrm>
            <a:off x="2039112" y="4480560"/>
            <a:ext cx="845820"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daily p95</a:t>
            </a:r>
            <a:endParaRPr lang="en-US" sz="1050" dirty="0"/>
          </a:p>
        </p:txBody>
      </p:sp>
      <p:sp>
        <p:nvSpPr>
          <p:cNvPr id="10" name="Shape 8"/>
          <p:cNvSpPr/>
          <p:nvPr/>
        </p:nvSpPr>
        <p:spPr>
          <a:xfrm>
            <a:off x="3031236" y="4480560"/>
            <a:ext cx="845820" cy="274320"/>
          </a:xfrm>
          <a:prstGeom prst="roundRect">
            <a:avLst>
              <a:gd name="adj" fmla="val 20000"/>
            </a:avLst>
          </a:prstGeom>
          <a:solidFill>
            <a:srgbClr val="1E2740"/>
          </a:solidFill>
          <a:ln w="12700">
            <a:solidFill>
              <a:srgbClr val="38BDF8"/>
            </a:solidFill>
            <a:prstDash val="solid"/>
          </a:ln>
        </p:spPr>
      </p:sp>
      <p:sp>
        <p:nvSpPr>
          <p:cNvPr id="11" name="Text 9"/>
          <p:cNvSpPr/>
          <p:nvPr/>
        </p:nvSpPr>
        <p:spPr>
          <a:xfrm>
            <a:off x="3031236" y="4480560"/>
            <a:ext cx="845820"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Theil–Sen</a:t>
            </a:r>
            <a:endParaRPr lang="en-US" sz="1050" dirty="0"/>
          </a:p>
        </p:txBody>
      </p:sp>
      <p:sp>
        <p:nvSpPr>
          <p:cNvPr id="12" name="Shape 10"/>
          <p:cNvSpPr/>
          <p:nvPr/>
        </p:nvSpPr>
        <p:spPr>
          <a:xfrm>
            <a:off x="4023360" y="4480560"/>
            <a:ext cx="1156716" cy="274320"/>
          </a:xfrm>
          <a:prstGeom prst="roundRect">
            <a:avLst>
              <a:gd name="adj" fmla="val 20000"/>
            </a:avLst>
          </a:prstGeom>
          <a:solidFill>
            <a:srgbClr val="1E2740"/>
          </a:solidFill>
          <a:ln w="12700">
            <a:solidFill>
              <a:srgbClr val="38BDF8"/>
            </a:solidFill>
            <a:prstDash val="solid"/>
          </a:ln>
        </p:spPr>
      </p:sp>
      <p:sp>
        <p:nvSpPr>
          <p:cNvPr id="13" name="Text 11"/>
          <p:cNvSpPr/>
          <p:nvPr/>
        </p:nvSpPr>
        <p:spPr>
          <a:xfrm>
            <a:off x="4023360" y="4480560"/>
            <a:ext cx="1156716"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weighted risk</a:t>
            </a:r>
            <a:endParaRPr lang="en-US" sz="1050" dirty="0"/>
          </a:p>
        </p:txBody>
      </p:sp>
      <p:sp>
        <p:nvSpPr>
          <p:cNvPr id="14" name="Shape 12"/>
          <p:cNvSpPr/>
          <p:nvPr/>
        </p:nvSpPr>
        <p:spPr>
          <a:xfrm>
            <a:off x="5326380" y="4480560"/>
            <a:ext cx="1467612" cy="274320"/>
          </a:xfrm>
          <a:prstGeom prst="roundRect">
            <a:avLst>
              <a:gd name="adj" fmla="val 20000"/>
            </a:avLst>
          </a:prstGeom>
          <a:solidFill>
            <a:srgbClr val="1E2740"/>
          </a:solidFill>
          <a:ln w="12700">
            <a:solidFill>
              <a:srgbClr val="38BDF8"/>
            </a:solidFill>
            <a:prstDash val="solid"/>
          </a:ln>
        </p:spPr>
      </p:sp>
      <p:sp>
        <p:nvSpPr>
          <p:cNvPr id="15" name="Text 13"/>
          <p:cNvSpPr/>
          <p:nvPr/>
        </p:nvSpPr>
        <p:spPr>
          <a:xfrm>
            <a:off x="5326380" y="4480560"/>
            <a:ext cx="1467612"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dow×hour baseline</a:t>
            </a:r>
            <a:endParaRPr lang="en-US" sz="1050" dirty="0"/>
          </a:p>
        </p:txBody>
      </p:sp>
      <p:sp>
        <p:nvSpPr>
          <p:cNvPr id="16" name="Shape 14"/>
          <p:cNvSpPr/>
          <p:nvPr/>
        </p:nvSpPr>
        <p:spPr>
          <a:xfrm>
            <a:off x="6940296" y="4480560"/>
            <a:ext cx="1234440" cy="274320"/>
          </a:xfrm>
          <a:prstGeom prst="roundRect">
            <a:avLst>
              <a:gd name="adj" fmla="val 20000"/>
            </a:avLst>
          </a:prstGeom>
          <a:solidFill>
            <a:srgbClr val="1E2740"/>
          </a:solidFill>
          <a:ln w="12700">
            <a:solidFill>
              <a:srgbClr val="38BDF8"/>
            </a:solidFill>
            <a:prstDash val="solid"/>
          </a:ln>
        </p:spPr>
      </p:sp>
      <p:sp>
        <p:nvSpPr>
          <p:cNvPr id="17" name="Text 15"/>
          <p:cNvSpPr/>
          <p:nvPr/>
        </p:nvSpPr>
        <p:spPr>
          <a:xfrm>
            <a:off x="6940296" y="4480560"/>
            <a:ext cx="1234440" cy="274320"/>
          </a:xfrm>
          <a:prstGeom prst="rect">
            <a:avLst/>
          </a:prstGeom>
          <a:noFill/>
          <a:ln/>
        </p:spPr>
        <p:txBody>
          <a:bodyPr wrap="square" lIns="0" tIns="0" rIns="0" bIns="0" rtlCol="0" anchor="ctr"/>
          <a:lstStyle/>
          <a:p>
            <a:pPr algn="ctr" indent="0" marL="0">
              <a:buNone/>
            </a:pPr>
            <a:r>
              <a:rPr lang="en-US" sz="1050" b="1" dirty="0">
                <a:solidFill>
                  <a:srgbClr val="38BDF8"/>
                </a:solidFill>
                <a:latin typeface="Calibri" pitchFamily="34" charset="0"/>
                <a:ea typeface="Calibri" pitchFamily="34" charset="-122"/>
                <a:cs typeface="Calibri" pitchFamily="34" charset="-120"/>
              </a:rPr>
              <a:t>verdict ladder</a:t>
            </a:r>
            <a:endParaRPr lang="en-US" sz="1050" dirty="0"/>
          </a:p>
        </p:txBody>
      </p:sp>
      <p:sp>
        <p:nvSpPr>
          <p:cNvPr id="18" name="Text 16"/>
          <p:cNvSpPr/>
          <p:nvPr/>
        </p:nvSpPr>
        <p:spPr>
          <a:xfrm>
            <a:off x="658368" y="5120640"/>
            <a:ext cx="10058400" cy="274320"/>
          </a:xfrm>
          <a:prstGeom prst="rect">
            <a:avLst/>
          </a:prstGeom>
          <a:noFill/>
          <a:ln/>
        </p:spPr>
        <p:txBody>
          <a:bodyPr wrap="square" lIns="0" tIns="0" rIns="0" bIns="0" rtlCol="0" anchor="ctr"/>
          <a:lstStyle/>
          <a:p>
            <a:pPr indent="0" marL="0">
              <a:buNone/>
            </a:pPr>
            <a:r>
              <a:rPr lang="en-US" sz="1200" dirty="0">
                <a:solidFill>
                  <a:srgbClr val="6B7A96"/>
                </a:solidFill>
                <a:latin typeface="Courier New" pitchFamily="34" charset="0"/>
                <a:ea typeface="Courier New" pitchFamily="34" charset="-122"/>
                <a:cs typeface="Courier New" pitchFamily="34" charset="-120"/>
              </a:rPr>
              <a:t>NetPulse · v27 · offline single-file analytics</a:t>
            </a:r>
            <a:endParaRPr lang="en-US" sz="1200" dirty="0"/>
          </a:p>
        </p:txBody>
      </p:sp>
      <p:sp>
        <p:nvSpPr>
          <p:cNvPr id="19" name="Text 17"/>
          <p:cNvSpPr/>
          <p:nvPr/>
        </p:nvSpPr>
        <p:spPr>
          <a:xfrm>
            <a:off x="548640" y="6455664"/>
            <a:ext cx="8229600" cy="274320"/>
          </a:xfrm>
          <a:prstGeom prst="rect">
            <a:avLst/>
          </a:prstGeom>
          <a:noFill/>
          <a:ln/>
        </p:spPr>
        <p:txBody>
          <a:bodyPr wrap="square" lIns="0" tIns="0" rIns="0" bIns="0" rtlCol="0" anchor="ctr"/>
          <a:lstStyle/>
          <a:p>
            <a:pPr indent="0" marL="0">
              <a:buNone/>
            </a:pPr>
            <a:r>
              <a:rPr lang="en-US" sz="900" b="1" dirty="0">
                <a:solidFill>
                  <a:srgbClr val="38BDF8"/>
                </a:solidFill>
                <a:latin typeface="Calibri" pitchFamily="34" charset="0"/>
                <a:ea typeface="Calibri" pitchFamily="34" charset="-122"/>
                <a:cs typeface="Calibri" pitchFamily="34" charset="-120"/>
              </a:rPr>
              <a:t>NetPulse</a:t>
            </a:r>
            <a:pPr indent="0" marL="0">
              <a:buNone/>
            </a:pPr>
            <a:r>
              <a:rPr lang="en-US" sz="900" dirty="0">
                <a:solidFill>
                  <a:srgbClr val="6B7A96"/>
                </a:solidFill>
                <a:latin typeface="Calibri" pitchFamily="34" charset="0"/>
                <a:ea typeface="Calibri" pitchFamily="34" charset="-122"/>
                <a:cs typeface="Calibri" pitchFamily="34" charset="-120"/>
              </a:rPr>
              <a:t>  ·  Dashboard logic &amp; formulas  ·  v27</a:t>
            </a:r>
            <a:endParaRPr lang="en-US" sz="900" dirty="0"/>
          </a:p>
        </p:txBody>
      </p:sp>
      <p:sp>
        <p:nvSpPr>
          <p:cNvPr id="20" name="Text 1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6B7A9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2026-07-23T01:57:13Z</dcterms:created>
  <dcterms:modified xsi:type="dcterms:W3CDTF">2026-07-23T01:57:13Z</dcterms:modified>
</cp:coreProperties>
</file>